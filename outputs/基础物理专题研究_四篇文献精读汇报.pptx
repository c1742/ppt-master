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3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_tf1.xml" ContentType="application/vnd.openxmlformats-officedocument.presentationml.notesSlide+xml"/>
  <Override PartName="/ppt/tags/tag1_tf1.xml" ContentType="application/vnd.openxmlformats-officedocument.presentationml.tags+xml"/>
  <Override PartName="/ppt/notesSlides/notesSlide4_tf1.xml" ContentType="application/vnd.openxmlformats-officedocument.presentationml.notesSlide+xml"/>
  <Override PartName="/ppt/tags/tag4_tf1.xml" ContentType="application/vnd.openxmlformats-officedocument.presentationml.tags+xml"/>
  <Override PartName="/ppt/notesSlides/notesSlide4_tf2.xml" ContentType="application/vnd.openxmlformats-officedocument.presentationml.notesSlide+xml"/>
  <Override PartName="/ppt/tags/tag4_tf2.xml" ContentType="application/vnd.openxmlformats-officedocument.presentationml.tags+xml"/>
  <Override PartName="/ppt/notesSlides/notesSlide4_tf3.xml" ContentType="application/vnd.openxmlformats-officedocument.presentationml.notesSlide+xml"/>
  <Override PartName="/ppt/tags/tag4_tf3.xml" ContentType="application/vnd.openxmlformats-officedocument.presentationml.tags+xml"/>
  <Override PartName="/ppt/notesSlides/notesSlide4_tf4.xml" ContentType="application/vnd.openxmlformats-officedocument.presentationml.notesSlide+xml"/>
  <Override PartName="/ppt/tags/tag4_tf4.xml" ContentType="application/vnd.openxmlformats-officedocument.presentationml.tags+xml"/>
  <Override PartName="/ppt/notesSlides/notesSlide4_tf5.xml" ContentType="application/vnd.openxmlformats-officedocument.presentationml.notesSlide+xml"/>
  <Override PartName="/ppt/tags/tag4_tf5.xml" ContentType="application/vnd.openxmlformats-officedocument.presentationml.tags+xml"/>
  <Override PartName="/ppt/notesSlides/notesSlide4_tf6.xml" ContentType="application/vnd.openxmlformats-officedocument.presentationml.notesSlide+xml"/>
  <Override PartName="/ppt/tags/tag4_tf6.xml" ContentType="application/vnd.openxmlformats-officedocument.presentationml.tags+xml"/>
  <Override PartName="/ppt/notesSlides/notesSlide4_tf7.xml" ContentType="application/vnd.openxmlformats-officedocument.presentationml.notesSlide+xml"/>
  <Override PartName="/ppt/tags/tag4_tf7.xml" ContentType="application/vnd.openxmlformats-officedocument.presentationml.tags+xml"/>
  <Override PartName="/ppt/notesSlides/notesSlide4_tf8.xml" ContentType="application/vnd.openxmlformats-officedocument.presentationml.notesSlide+xml"/>
  <Override PartName="/ppt/tags/tag4_tf8.xml" ContentType="application/vnd.openxmlformats-officedocument.presentationml.tags+xml"/>
  <Override PartName="/ppt/notesSlides/notesSlide4_tf9.xml" ContentType="application/vnd.openxmlformats-officedocument.presentationml.notesSlide+xml"/>
  <Override PartName="/ppt/tags/tag4_tf9.xml" ContentType="application/vnd.openxmlformats-officedocument.presentationml.tags+xml"/>
  <Override PartName="/ppt/notesSlides/notesSlide4_tf10.xml" ContentType="application/vnd.openxmlformats-officedocument.presentationml.notesSlide+xml"/>
  <Override PartName="/ppt/tags/tag4_tf10.xml" ContentType="application/vnd.openxmlformats-officedocument.presentationml.tags+xml"/>
  <Override PartName="/ppt/notesSlides/notesSlide4_tf11.xml" ContentType="application/vnd.openxmlformats-officedocument.presentationml.notesSlide+xml"/>
  <Override PartName="/ppt/tags/tag4_tf11.xml" ContentType="application/vnd.openxmlformats-officedocument.presentationml.tags+xml"/>
  <Override PartName="/ppt/notesSlides/notesSlide4_tf12.xml" ContentType="application/vnd.openxmlformats-officedocument.presentationml.notesSlide+xml"/>
  <Override PartName="/ppt/tags/tag4_tf12.xml" ContentType="application/vnd.openxmlformats-officedocument.presentationml.tags+xml"/>
  <Override PartName="/ppt/notesSlides/notesSlide4_tf13.xml" ContentType="application/vnd.openxmlformats-officedocument.presentationml.notesSlide+xml"/>
  <Override PartName="/ppt/tags/tag4_tf13.xml" ContentType="application/vnd.openxmlformats-officedocument.presentationml.tags+xml"/>
  <Override PartName="/ppt/notesSlides/notesSlide4_tf14.xml" ContentType="application/vnd.openxmlformats-officedocument.presentationml.notesSlide+xml"/>
  <Override PartName="/ppt/tags/tag4_tf14.xml" ContentType="application/vnd.openxmlformats-officedocument.presentationml.tags+xml"/>
  <Override PartName="/ppt/notesSlides/notesSlide4_tf15.xml" ContentType="application/vnd.openxmlformats-officedocument.presentationml.notesSlide+xml"/>
  <Override PartName="/ppt/tags/tag4_tf15.xml" ContentType="application/vnd.openxmlformats-officedocument.presentationml.tags+xml"/>
  <Override PartName="/ppt/notesSlides/notesSlide4_tf16.xml" ContentType="application/vnd.openxmlformats-officedocument.presentationml.notesSlide+xml"/>
  <Override PartName="/ppt/tags/tag4_tf16.xml" ContentType="application/vnd.openxmlformats-officedocument.presentationml.tags+xml"/>
  <Override PartName="/ppt/notesSlides/notesSlide4_tf17.xml" ContentType="application/vnd.openxmlformats-officedocument.presentationml.notesSlide+xml"/>
  <Override PartName="/ppt/tags/tag4_tf17.xml" ContentType="application/vnd.openxmlformats-officedocument.presentationml.tags+xml"/>
  <Override PartName="/ppt/notesSlides/notesSlide4_tf18.xml" ContentType="application/vnd.openxmlformats-officedocument.presentationml.notesSlide+xml"/>
  <Override PartName="/ppt/tags/tag4_tf18.xml" ContentType="application/vnd.openxmlformats-officedocument.presentationml.tags+xml"/>
  <Override PartName="/ppt/notesSlides/notesSlide4_tf19.xml" ContentType="application/vnd.openxmlformats-officedocument.presentationml.notesSlide+xml"/>
  <Override PartName="/ppt/tags/tag4_tf19.xml" ContentType="application/vnd.openxmlformats-officedocument.presentationml.tags+xml"/>
  <Override PartName="/ppt/notesSlides/notesSlide4_tf20.xml" ContentType="application/vnd.openxmlformats-officedocument.presentationml.notesSlide+xml"/>
  <Override PartName="/ppt/tags/tag4_tf20.xml" ContentType="application/vnd.openxmlformats-officedocument.presentationml.tags+xml"/>
  <Override PartName="/ppt/notesSlides/notesSlide4_tf21.xml" ContentType="application/vnd.openxmlformats-officedocument.presentationml.notesSlide+xml"/>
  <Override PartName="/ppt/tags/tag4_tf21.xml" ContentType="application/vnd.openxmlformats-officedocument.presentationml.tags+xml"/>
  <Override PartName="/ppt/notesSlides/notesSlide4_tf22.xml" ContentType="application/vnd.openxmlformats-officedocument.presentationml.notesSlide+xml"/>
  <Override PartName="/ppt/tags/tag4_tf22.xml" ContentType="application/vnd.openxmlformats-officedocument.presentationml.tags+xml"/>
  <Override PartName="/ppt/notesSlides/notesSlide4_tf23.xml" ContentType="application/vnd.openxmlformats-officedocument.presentationml.notesSlide+xml"/>
  <Override PartName="/ppt/tags/tag4_tf23.xml" ContentType="application/vnd.openxmlformats-officedocument.presentationml.tags+xml"/>
  <Override PartName="/ppt/notesSlides/notesSlide4_tf24.xml" ContentType="application/vnd.openxmlformats-officedocument.presentationml.notesSlide+xml"/>
  <Override PartName="/ppt/tags/tag4_tf24.xml" ContentType="application/vnd.openxmlformats-officedocument.presentationml.tags+xml"/>
  <Override PartName="/ppt/notesSlides/notesSlide4_tf25.xml" ContentType="application/vnd.openxmlformats-officedocument.presentationml.notesSlide+xml"/>
  <Override PartName="/ppt/tags/tag4_tf25.xml" ContentType="application/vnd.openxmlformats-officedocument.presentationml.tags+xml"/>
  <Override PartName="/ppt/notesSlides/notesSlide4_tf26.xml" ContentType="application/vnd.openxmlformats-officedocument.presentationml.notesSlide+xml"/>
  <Override PartName="/ppt/tags/tag4_tf26.xml" ContentType="application/vnd.openxmlformats-officedocument.presentationml.tags+xml"/>
  <Override PartName="/ppt/notesSlides/notesSlide4_tf27.xml" ContentType="application/vnd.openxmlformats-officedocument.presentationml.notesSlide+xml"/>
  <Override PartName="/ppt/tags/tag4_tf27.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48" r:id="rId1"/>
  </p:sldMasterIdLst>
  <p:notesMasterIdLst>
    <p:notesMasterId r:id="rId4"/>
  </p:notesMasterIdLst>
  <p:sldIdLst>
    <p:sldId id="256" r:id="rId39"/>
    <p:sldId id="257" r:id="rId40"/>
    <p:sldId id="258" r:id="rId41"/>
    <p:sldId id="259" r:id="rId42"/>
    <p:sldId id="260" r:id="rId43"/>
    <p:sldId id="261" r:id="rId44"/>
    <p:sldId id="262" r:id="rId45"/>
    <p:sldId id="263" r:id="rId46"/>
    <p:sldId id="264" r:id="rId47"/>
    <p:sldId id="265" r:id="rId48"/>
    <p:sldId id="266" r:id="rId49"/>
    <p:sldId id="267" r:id="rId50"/>
    <p:sldId id="268" r:id="rId51"/>
    <p:sldId id="269" r:id="rId52"/>
    <p:sldId id="270" r:id="rId53"/>
    <p:sldId id="271" r:id="rId54"/>
    <p:sldId id="272" r:id="rId55"/>
    <p:sldId id="273" r:id="rId56"/>
    <p:sldId id="274" r:id="rId57"/>
    <p:sldId id="275" r:id="rId58"/>
    <p:sldId id="276" r:id="rId59"/>
    <p:sldId id="277" r:id="rId60"/>
    <p:sldId id="278" r:id="rId61"/>
    <p:sldId id="279" r:id="rId62"/>
    <p:sldId id="280" r:id="rId63"/>
    <p:sldId id="281" r:id="rId64"/>
    <p:sldId id="282" r:id="rId65"/>
    <p:sldId id="283" r:id="rId66"/>
  </p:sldIdLst>
  <p:sldSz cx="12191365" cy="6858000"/>
  <p:notesSz cx="6858000" cy="12191365"/>
  <p:custDataLst>
    <p:tags r:id="rId38"/>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Relationship Id="rId4" Type="http://schemas.openxmlformats.org/officeDocument/2006/relationships/notesMaster" Target="notesMasters/notesMaster1.xml" /><Relationship Id="rId38" Type="http://schemas.openxmlformats.org/officeDocument/2006/relationships/tags" Target="tags/tag32.xml" /><Relationship Id="rId37" Type="http://schemas.openxmlformats.org/officeDocument/2006/relationships/tableStyles" Target="tableStyles.xml" /><Relationship Id="rId36" Type="http://schemas.openxmlformats.org/officeDocument/2006/relationships/viewProps" Target="viewProps.xml" /><Relationship Id="rId35" Type="http://schemas.openxmlformats.org/officeDocument/2006/relationships/presProps" Target="presProps.xml" /><Relationship Id="rId2" Type="http://schemas.openxmlformats.org/officeDocument/2006/relationships/theme" Target="theme/theme1.xml" /><Relationship Id="rId1" Type="http://schemas.openxmlformats.org/officeDocument/2006/relationships/slideMaster" Target="slideMasters/slideMaster1.xml" /><Relationship Id="rId39" Type="http://schemas.openxmlformats.org/officeDocument/2006/relationships/slide" Target="slides/slide1.xml" /><Relationship Id="rId40" Type="http://schemas.openxmlformats.org/officeDocument/2006/relationships/slide" Target="slides/slide2.xml" /><Relationship Id="rId41" Type="http://schemas.openxmlformats.org/officeDocument/2006/relationships/slide" Target="slides/slide3.xml" /><Relationship Id="rId42" Type="http://schemas.openxmlformats.org/officeDocument/2006/relationships/slide" Target="slides/slide4.xml" /><Relationship Id="rId43" Type="http://schemas.openxmlformats.org/officeDocument/2006/relationships/slide" Target="slides/slide5.xml" /><Relationship Id="rId44" Type="http://schemas.openxmlformats.org/officeDocument/2006/relationships/slide" Target="slides/slide6.xml" /><Relationship Id="rId45" Type="http://schemas.openxmlformats.org/officeDocument/2006/relationships/slide" Target="slides/slide7.xml" /><Relationship Id="rId46" Type="http://schemas.openxmlformats.org/officeDocument/2006/relationships/slide" Target="slides/slide8.xml" /><Relationship Id="rId47" Type="http://schemas.openxmlformats.org/officeDocument/2006/relationships/slide" Target="slides/slide9.xml" /><Relationship Id="rId48" Type="http://schemas.openxmlformats.org/officeDocument/2006/relationships/slide" Target="slides/slide10.xml" /><Relationship Id="rId49" Type="http://schemas.openxmlformats.org/officeDocument/2006/relationships/slide" Target="slides/slide11.xml" /><Relationship Id="rId50" Type="http://schemas.openxmlformats.org/officeDocument/2006/relationships/slide" Target="slides/slide12.xml" /><Relationship Id="rId51" Type="http://schemas.openxmlformats.org/officeDocument/2006/relationships/slide" Target="slides/slide13.xml" /><Relationship Id="rId52" Type="http://schemas.openxmlformats.org/officeDocument/2006/relationships/slide" Target="slides/slide14.xml" /><Relationship Id="rId53" Type="http://schemas.openxmlformats.org/officeDocument/2006/relationships/slide" Target="slides/slide15.xml" /><Relationship Id="rId54" Type="http://schemas.openxmlformats.org/officeDocument/2006/relationships/slide" Target="slides/slide16.xml" /><Relationship Id="rId55" Type="http://schemas.openxmlformats.org/officeDocument/2006/relationships/slide" Target="slides/slide17.xml" /><Relationship Id="rId56" Type="http://schemas.openxmlformats.org/officeDocument/2006/relationships/slide" Target="slides/slide18.xml" /><Relationship Id="rId57" Type="http://schemas.openxmlformats.org/officeDocument/2006/relationships/slide" Target="slides/slide19.xml" /><Relationship Id="rId58" Type="http://schemas.openxmlformats.org/officeDocument/2006/relationships/slide" Target="slides/slide20.xml" /><Relationship Id="rId59" Type="http://schemas.openxmlformats.org/officeDocument/2006/relationships/slide" Target="slides/slide21.xml" /><Relationship Id="rId60" Type="http://schemas.openxmlformats.org/officeDocument/2006/relationships/slide" Target="slides/slide22.xml" /><Relationship Id="rId61" Type="http://schemas.openxmlformats.org/officeDocument/2006/relationships/slide" Target="slides/slide23.xml" /><Relationship Id="rId62" Type="http://schemas.openxmlformats.org/officeDocument/2006/relationships/slide" Target="slides/slide24.xml" /><Relationship Id="rId63" Type="http://schemas.openxmlformats.org/officeDocument/2006/relationships/slide" Target="slides/slide25.xml" /><Relationship Id="rId64" Type="http://schemas.openxmlformats.org/officeDocument/2006/relationships/slide" Target="slides/slide26.xml" /><Relationship Id="rId65" Type="http://schemas.openxmlformats.org/officeDocument/2006/relationships/slide" Target="slides/slide27.xml" /><Relationship Id="rId66" Type="http://schemas.openxmlformats.org/officeDocument/2006/relationships/slide" Target="slides/slide2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_tf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4_tf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_tf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_tf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4_tf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4_tf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4_tf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4_tf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4_tf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4_tf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4_tf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4_tf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4_tf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4_tf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4_tf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4_tf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4_tf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4_tf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4_tf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4_tf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4_tf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4_tf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4_tf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4_tf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4_tf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4_tf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4_tf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4_tf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_tf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本次汇报围绕高中电磁感应教学，依次精读两篇中文教学研究和两篇英文实证研究，最后进行证据比较与批判性综合评述。重点关注教学任务怎样支持概念与推理发展，以及不同研究设计允许我们作出什么判断。</a:t>
            </a:r>
          </a:p>
        </p:txBody>
      </p:sp>
    </p:spTree>
  </p:cSld>
  <p:clrMapOvr>
    <a:masterClrMapping/>
  </p:clrMapOvr>
</p:notes>
</file>

<file path=ppt/notesSlides/notesSlide4_tf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篇研究共同涉及电磁感应中的概念联结，但研究对象和证据任务不同。这里将问题分为识别现象、描述磁通量变化、判断方向、解释机制几个层次，作为阅读的分析框架，而不是宣称四篇论文提出了同一框架。高中常见的切割磁感线表述有适用情境，遇到静止回路中的变化磁场时仍需回到磁通量变化。方向判断也必须指出原磁通量如何变化，不能把阻碍变化误解为感应磁场永远与原磁场相反。</a:t>
            </a:r>
          </a:p>
        </p:txBody>
      </p:sp>
    </p:spTree>
  </p:cSld>
  <p:clrMapOvr>
    <a:masterClrMapping/>
  </p:clrMapOvr>
</p:notes>
</file>

<file path=ppt/notesSlides/notesSlide4_tf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两篇中文文献先连续讲完，再进入英文文献。孙可与陈刚的论文发表于物理教学第45卷第4期20至24页，罗成等发表于同一期25至28页。英文第一篇发表于2014年的Physical Review Special Topics—Physics Education Research，第二篇发表于2017年的Physical Review Physics Education Research。所谓教学设计、干预评估和质性诊断，是本报告对研究证据类型的区分，不能仅凭文献题名中的有效或实践就推断已完成学习效果检验。</a:t>
            </a:r>
          </a:p>
        </p:txBody>
      </p:sp>
    </p:spTree>
  </p:cSld>
  <p:clrMapOvr>
    <a:masterClrMapping/>
  </p:clrMapOvr>
</p:notes>
</file>

<file path=ppt/notesSlides/notesSlide4_tf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论文完整题名是基于“来拒去留”实验的楞次定律有效教学探析——学习心理学视角。作者认为，教具由电流方向转向更直观的线圈运动，降低了实验信息加工的复杂性，但教具本身并不能保证学生理解楞次定律。研究不是对某个学生样本进行效果统计，而是以学习心理学分析两种既有实验改进方案，进一步提出教学方案。任务分析中的定内容明确最终规律与子结论，析途径区分实验归纳与理论分析，清序列明确每个环节应提供的有效信息。</a:t>
            </a:r>
          </a:p>
        </p:txBody>
      </p:sp>
    </p:spTree>
  </p:cSld>
  <p:clrMapOvr>
    <a:masterClrMapping/>
  </p:clrMapOvr>
</p:notes>
</file>

<file path=ppt/notesSlides/notesSlide4_tf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向前推理用于从已观察到的小车运动寻找受力和磁场解释；穷举法用于规划N极、S极各自靠近和远离线圈的四种操作。随后按靠近和远离分类，比较变化的磁极与不变的磁通量增减关系，得到两个子结论。这里的增反、减同仅概括原文条形磁铁与闭合线圈的轴向情境，不能代替一般情况下的定向磁通量分析。作者明确指出实验器材已经由教师给出，学生无需重新设计实验，因而这一环节主要训练方案执行和信息归纳，不宜把它描述成完整的开放探究。</a:t>
            </a:r>
          </a:p>
        </p:txBody>
      </p:sp>
    </p:spTree>
  </p:cSld>
  <p:clrMapOvr>
    <a:masterClrMapping/>
  </p:clrMapOvr>
</p:notes>
</file>

<file path=ppt/notesSlides/notesSlide4_tf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表6是论文给出的实验关系表，截图保留了操作、线圈运动、力的形式、磁场方向关系和磁通量变化五个表头。这些信息支持在该装置中归纳楞次定律的方向关系，说明为什么更换N极和S极仍能得到共同结论。力和小车运动不是磁通量变化的同义表达；从现象到感应磁场，再到电流方向，仍需明确推理步骤。原文用另一装置验证规律的可用性，但表格没有学生样本、错误分布或学习前后变化，不能当成教学效果数据。</a:t>
            </a:r>
          </a:p>
        </p:txBody>
      </p:sp>
    </p:spTree>
  </p:cSld>
  <p:clrMapOvr>
    <a:masterClrMapping/>
  </p:clrMapOvr>
</p:notes>
</file>

<file path=ppt/notesSlides/notesSlide4_tf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原文的教学过程片段把教师提问与预期学生回答逐步展开，但没有报告取样方式、课堂记录采集或分析程序，因此不把这些对话当作已经采集的学生访谈。作者也提醒，改进实验没有充分突出感应电流方向这一学习目标，学生可能只记住来拒去留。本报告建议把电流方向与磁通量变化的理由作为学习产出，并用不同于原装置的题目检验迁移。后续研究应记录真实学生解释及错误类型，通过前后测和延迟测区分即时跟随与稳定理解。</a:t>
            </a:r>
          </a:p>
        </p:txBody>
      </p:sp>
    </p:spTree>
  </p:cSld>
  <p:clrMapOvr>
    <a:masterClrMapping/>
  </p:clrMapOvr>
</p:notes>
</file>

<file path=ppt/notesSlides/notesSlide4_tf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论文完整题名是基于孟克—奥斯本“融合模式”的教学设计与实践——以“电磁感应现象及应用”教学设计为例。融合模式将历史问题、认识观念和科学概念一起学习，适用于科学史上曾被研究的自然现象。作者以磁生电的发现为线索，把第四环节改为学生参与的动手实验，便于在课堂条件下执行。参与度提升、科学精神发展和核心素养发展是该设计的目标或作者主张，论文没有提供相应量表的前后变化来检验这些目标。</a:t>
            </a:r>
          </a:p>
        </p:txBody>
      </p:sp>
    </p:spTree>
  </p:cSld>
  <p:clrMapOvr>
    <a:masterClrMapping/>
  </p:clrMapOvr>
</p:notes>
</file>

<file path=ppt/notesSlides/notesSlide4_tf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表1是课前对全班24名学生所作的学情测试。磁通量题报告15人准确、5人表述不清，未交代其余4人的分类；关于电流磁效应和感应条件的回答也不能未经说明相加为互斥分组。生活应用题允许学生列举实例，18位写出若干实例，另有5位列举错误对象，原文没有清楚说明两组是否重叠。因此保留人数口径，不补造成完整频率分布。最有教学意义的发现是12人把切割磁感线视作唯一条件，据此安排不切割也能感应的反例具有明确针对性。</a:t>
            </a:r>
          </a:p>
        </p:txBody>
      </p:sp>
    </p:spTree>
  </p:cSld>
  <p:clrMapOvr>
    <a:masterClrMapping/>
  </p:clrMapOvr>
</p:notes>
</file>

<file path=ppt/notesSlides/notesSlide4_tf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六个环节依次是演示现象、引出观念、学习历史、动手实验、实践检验和总结评价。论文中的法拉第未果实验服务于稳恒磁场未必产生感应电流这一认识转变，历史材料不是与概念学习无关的点缀。动手实验先比较磁场变化和面积变化，再通过线圈转动引入投影面积，最后用磁通量统一描述。动态磁通量不变演示器用于检验物理条件；在非均匀磁场中应理解为通过回路的磁通量整体保持不变，不能把任意某点的磁感应强度直接乘以整个面积。圆盘发电机的完整机制超出简单固定线圈公式，应在高中课堂结合运动电荷受力和外力做功说明。</a:t>
            </a:r>
          </a:p>
        </p:txBody>
      </p:sp>
    </p:spTree>
  </p:cSld>
  <p:clrMapOvr>
    <a:masterClrMapping/>
  </p:clrMapOvr>
</p:notes>
</file>

<file path=ppt/notesSlides/notesSlide4_tf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论文提供了较丰富的课堂环节与装置说明，也有以学生A、B等形式呈现的回答，但没有交代课堂录音、转写、编码或样本分析程序，不能据此评估回答的代表性。实践检验环节的电流计不偏转证明的是装置中磁通量不变时没有感应电流这一物理关系。作者将融合模式与科学本质、科学精神和核心素养联系起来，理论上合理，却尚缺独立学习结果测量。本报告建议保留历史情境与反例任务，同时收集学生对新实验的预测、解释和理由，以考查是否真正超越切割磁感线的单一规则。</a:t>
            </a:r>
          </a:p>
        </p:txBody>
      </p:sp>
    </p:spTree>
  </p:cSld>
  <p:clrMapOvr>
    <a:masterClrMapping/>
  </p:clrMapOvr>
</p:notes>
</file>

<file path=ppt/notesSlides/notesSlide4_tf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作者是Kristina Zuza、José-Manuel Almudí、Ane Leniz和Jenaro Guisasola，论文发表于Physical Review Special Topics—Physics Education Research第10卷010122。研究在大学一年级工程专业的微积分物理课程中展开，GPS是guided problem solving，不应直接等同于中学无指导探究。设计依据既有学习困难与学习需求分析，通过三个大问题及其任务帮助学生区分经验层次和解释层次。场模型与力模型是同一电磁过程的不同分析路径；对运动导体，不能把参考系内的动生电动势一概说成由时变磁场的感生电场造成。</a:t>
            </a:r>
          </a:p>
        </p:txBody>
      </p:sp>
    </p:spTree>
  </p:cSld>
  <p:clrMapOvr>
    <a:masterClrMapping/>
  </p:clrMapOvr>
</p:notes>
</file>

<file path=ppt/notesSlides/notesSlide4_tf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作者先在2010年试行并修订任务，本文主要数据来自2011和2012年的最终序列。两届干预组共148人，历史比较组来自2008和2009年，共147人。论文提到学生随机分配至一年级班级，但这不是把学生同期随机分配到GPS与传统课程；教学条件与年份相伴变化。BEMA用于检查已有电磁学知识，报告ANOVA未发现显著差异，却未给出这里可核验的详细统计量，而且无显著差异不等于两组完全等同。学生通过课程选拔进入大学，样本不能视为高中学生的代表。</a:t>
            </a:r>
          </a:p>
        </p:txBody>
      </p:sp>
    </p:spTree>
  </p:cSld>
  <p:clrMapOvr>
    <a:masterClrMapping/>
  </p:clrMapOvr>
</p:notes>
</file>

<file path=ppt/notesSlides/notesSlide4_tf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A.1是正确使用磁通量变化和法拉第定律解释，A.2是正确使用洛伦兹力解释。B.1把磁场或电流的存在直接当作感应原因，B.2误判积分面积，B.3缺乏一致论证，B.4未说明感应电场性质或电荷受力，C为不答。平均重测一致性κ为0.88，研究者间一致性κ为0.85，说明分类具有一定可重复性，但一致性并不等同于测量了全部概念理解。访谈者是从2012年学生中招募的志愿者，按考试表现组合，不能当作随机代表样本；讨论过程也可能帮助学生形成新答案。</a:t>
            </a:r>
          </a:p>
        </p:txBody>
      </p:sp>
    </p:spTree>
  </p:cSld>
  <p:clrMapOvr>
    <a:masterClrMapping/>
  </p:clrMapOvr>
</p:notes>
</file>

<file path=ppt/notesSlides/notesSlide4_tf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截图中的E-11-12是2011和2012年干预组，C-08-09是历史比较组，Pre和Post分别为前后测，A.1带星号表示正确答案。Q1与常规教材中开关引发感应的题目相似，干预组和历史组的后测正确率差异没有被作者判为显著。Q2进一步要求说明静止线圈中电场的性质，差异更大。论文把Q2的某个很小的数标成χ²，同时写p远小于0.0001；Q1的χ²与p组合也有疑点，本报告保留作者的显著性结论作为作者报告，不据此补算或补造统计值。表中百分数是论文报告值，不能反推精确作答人数。</a:t>
            </a:r>
          </a:p>
        </p:txBody>
      </p:sp>
    </p:spTree>
  </p:cSld>
  <p:clrMapOvr>
    <a:masterClrMapping/>
  </p:clrMapOvr>
</p:notes>
</file>

<file path=ppt/notesSlides/notesSlide4_tf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的正确率按原表A.1与A.2相加，属于对已报告百分数的透明整理，不是新增统计。Q3为51.5加21.5等于73%，Q4为85加5等于90%，Q5为8.5加24.5等于33%，对应历史组分别是53%、75.5%和15%。圆盘发电机仍有30%的干预组回答混淆整个圆盘面积与适当分析的面积，前测这一类别为11.5%，但前测不答达到53%，因此不能简单把类别升高解释为干预造成退步。原文Hake增益分别为0.54、0.55、0.69、0.88和0.32，它是归一化增益，不能称为Cohen效果量。论文的χ²及p值组合疑似排印或标注问题，未经原始计数与作者澄清，不重建检验。</a:t>
            </a:r>
          </a:p>
        </p:txBody>
      </p:sp>
    </p:spTree>
  </p:cSld>
  <p:clrMapOvr>
    <a:masterClrMapping/>
  </p:clrMapOvr>
</p:notes>
</file>

<file path=ppt/notesSlides/notesSlide4_tf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作者讨论的三项可能机制是把实验现象与解释模型连接、讨论后由教师澄清、以及用科学论证指导问题解决，研究没有分别操控这些成分。因此可以说整个序列伴随某些解释题表现改善，不能断言GPS中的某一个因素具有独立因果效果。访谈中小组协商和研究者追问之后达成一致，也不能等同于学生独立作答已掌握。高中转化应保留预测、比较、理由和教师支架，用均匀场与固定闭合回路的有限变化表述替代积分推导；2017年论文也明确指出该大学序列不能原样用于不使用微积分的高中生。</a:t>
            </a:r>
          </a:p>
        </p:txBody>
      </p:sp>
    </p:spTree>
  </p:cSld>
  <p:clrMapOvr>
    <a:masterClrMapping/>
  </p:clrMapOvr>
</p:notes>
</file>

<file path=ppt/notesSlides/notesSlide4_tf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作者是Katarina Jelicic、Maja Planinic和Gorazd Planinsic，发表在Physical Review Physics Education Research第13卷010112。与2014年干预评估不同，这篇研究要了解高中生解释是怎样生成的。知识片段框架将力使物体运动、平衡、抵消等看作情境相关的认知资源，本身并不是永远正确或永远错误。作者区别物理系统、科学概念模型、学生的内部模型和研究者对学生模型的描述，这提醒我们不要把编码标签当成直接读出了学生头脑中的稳定结构。</a:t>
            </a:r>
          </a:p>
        </p:txBody>
      </p:sp>
    </p:spTree>
  </p:cSld>
  <p:clrMapOvr>
    <a:masterClrMapping/>
  </p:clrMapOvr>
</p:notes>
</file>

<file path=ppt/notesSlides/notesSlide4_tf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三所学校属于普通城市高中，通过研究者的教师网络选取参与者，每校选取成绩从3到5的学生，共四名女生和五名男生。样本包含不同成绩，但没有包含成绩最低的学生，也不是按人口总体随机取样。实验依次为奥斯特实验、线圈磁场、通电导线受力、磁铁与线圈感应、双线圈感应和悬挂铝环的楞次定律实验；实验前还练习了出声思考。图4允许学生改变磁铁插入的方向和速度，并比较不同匝数线圈，适合观察推理是否随情境改变。访谈没有学习干预组或比较组，也不估计教学效果。</a:t>
            </a:r>
          </a:p>
        </p:txBody>
      </p:sp>
    </p:spTree>
  </p:cSld>
  <p:clrMapOvr>
    <a:masterClrMapping/>
  </p:clrMapOvr>
</p:notes>
</file>

<file path=ppt/notesSlides/notesSlide4_tf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研究先从相似表述形成代码，再合并和建立类别，并用知识片段框架解释这些类别。两名研究者独立通读整个数据集，少量模糊解释请第三位研究者参与，分歧通过讨论解决；原文没有提供量化编码一致性系数。表II区分difficulty frequency与student frequency，例如B类12次来自6名学生，不能写成12名学生，更不能把6除以9外推为高中生普遍发生率。截图仅节选表II的A至D，保留两个频次表头；原表其余类别和后续解释均在全文核验范围内。</a:t>
            </a:r>
          </a:p>
        </p:txBody>
      </p:sp>
    </p:spTree>
  </p:cSld>
  <p:clrMapOvr>
    <a:masterClrMapping/>
  </p:clrMapOvr>
</p:notes>
</file>

<file path=ppt/notesSlides/notesSlide4_tf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种模型从两磁场重叠出发，把线圈在无电流时就具有自身磁场作为隐含前提。第二种模型较明确地提出电流的生成机制，但这个机制错误地让磁极直接吸引或排斥静止电荷，并把磁铁取走后电荷回到原位解释为反向电流。第三种模型把磁极之间的相互作用当作电流来源，常缺少从磁通量变化到感应电流的解释。作者使用可能、似乎等措辞推测p-prims的激活，不能把理论解释写成已经直接测得的认知过程；同一学生也可能在不同实验中改变解释。</a:t>
            </a:r>
          </a:p>
        </p:txBody>
      </p:sp>
    </p:spTree>
  </p:cSld>
  <p:clrMapOvr>
    <a:masterClrMapping/>
  </p:clrMapOvr>
</p:notes>
</file>

<file path=ppt/notesSlides/notesSlide4_tf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无人提到磁通量这一物理量，不等于每个学生完全没有相关直觉；原文描述了有学生关注磁场穿过线圈及变化程度，显示概念发展的起点。作者认为部分学生把知识当成从书本或教师接收的事实，找不到记忆答案便停止推理，但也承认任务复杂、经验不足和访谈情境可能影响表现。研究是探索性质性分析，不能估计模型的总体比例，也不能证明某种教学策略的效果。可把这些模型用作课堂追问的线索，要求学生保留最初解释、遇到反例后修订，并说明修订理由；这一做法属于本报告建议，仍需后续评估。</a:t>
            </a:r>
          </a:p>
        </p:txBody>
      </p:sp>
    </p:spTree>
  </p:cSld>
  <p:clrMapOvr>
    <a:masterClrMapping/>
  </p:clrMapOvr>
</p:notes>
</file>

<file path=ppt/notesSlides/notesSlide4_tf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篇文献形成互补，但证据层级和研究任务不能互相替代。学习心理学分析提供的是教学逻辑的合理性，融合模式提供历史与实验整合的课堂案例，GPS论文对整体序列提供一定学习表现证据，认知资源论文则为理解学生为何作出错误解释提供诊断依据。中文设计研究没有被英文样本直接验证，英文研究也不能反过来为中文模式赋予因果证据。本报告比较的价值在于用不同研究回答不同的问题，再将策略与其实际证据对应起来。</a:t>
            </a:r>
          </a:p>
        </p:txBody>
      </p:sp>
    </p:spTree>
  </p:cSld>
  <p:clrMapOvr>
    <a:masterClrMapping/>
  </p:clrMapOvr>
</p:notes>
</file>

<file path=ppt/notesSlides/notesSlide4_tf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理论依据与效果证据是两个维度。设计可以逻辑清楚、针对具体困难，却仍需证明学生是否真的获得理解；而存在前后改善也不意味着每个组成环节都有效。GPS研究结果依题目而异，Q1并未显示显著的历史组差异，Q5仍较难，不能用统一的有效率概括。2017年访谈提示教学不仅要纠正磁极、电荷、磁通量等概念，还应关注学生是否在新任务中保持解释一致。这里没有声称四篇共同验证了一套新的模式，而是把各策略与各自可用证据对应。</a:t>
            </a:r>
          </a:p>
        </p:txBody>
      </p:sp>
    </p:spTree>
  </p:cSld>
  <p:clrMapOvr>
    <a:masterClrMapping/>
  </p:clrMapOvr>
</p:notes>
</file>

<file path=ppt/notesSlides/notesSlide4_tf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些建议属于本报告对四篇研究的教学转化，尚没有直接的组合模式效果证据。课前题可把可见运动与磁通量变化分离，例如磁铁静止在线圈中、线圈在均匀场内保持面积和取向作整体平移，从而检验运动即感应的简化判断。分析均匀磁场中的平面回路时，可用Φ等于BS乘以法线与磁场夹角的余弦，平均感应电动势为负N倍磁通量变化除以时间；磁通量与变化率不能混同。楞次定律先处理变化再处理方向，电流还取决于回路是否闭合和电路条件。评价同时收集理由与迁移表现，可减少只凭正确选项推断理解的风险。</a:t>
            </a:r>
          </a:p>
        </p:txBody>
      </p:sp>
    </p:spTree>
  </p:cSld>
  <p:clrMapOvr>
    <a:masterClrMapping/>
  </p:clrMapOvr>
</p:notes>
</file>

<file path=ppt/notesSlides/notesSlide4_tf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中文设计研究最需要补上真实实施资料和与目标对应的结果测量；GPS历史比较可用同期可比班级、清楚的实施记录和更透明的统计报告补强；9人访谈可扩展情境和样本，检验模型是否跨任务和跨时间稳定。同期比较仍需说明抽样与分配方式，不能仅因前测无显著差异就宣称排除混杂。编码可报告独立分析过程、分歧处理及一致性指标，效果评估则应提供效应量和不确定性，但本报告不会替原文补造这些值。最终应考查学生在新情境中的解释质量，而不仅是实验操作是否成功。</a:t>
            </a:r>
          </a:p>
        </p:txBody>
      </p:sp>
    </p:spTree>
  </p:cSld>
  <p:clrMapOvr>
    <a:masterClrMapping/>
  </p:clrMapOvr>
</p:notes>
</file>

<file path=ppt/notesSlides/notesSlide4_tf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篇研究让我们从不同层面重新审视电磁感应教学：教具需要清楚的推理任务，历史情境需要服务概念建构，问题解决需要解释模型，学生模型则需要在多种任务中接受检验。结论的可靠程度取决于研究实际采集了什么证据，因此必须区分实验规律正确与学生学得更好。对研究生而言，重要的工作是把理论和课堂环节的联系说清楚，再将学习目标转化为可检验的学生产出。</a:t>
            </a:r>
          </a:p>
        </p:txBody>
      </p:sp>
    </p:spTree>
  </p:cSld>
  <p:clrMapOvr>
    <a:masterClrMapping/>
  </p:clrMapOvr>
</p:notes>
</file>

<file path=ppt/notesSlides/notesSlide4_tf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本报告的研究事实和截图来源均为这四篇上传原文。英文第一篇的原图表按CC BY 3.0署名，第二篇按CC BY 4.0署名；使用时保留作者、题名、期刊信息和DOI。页内所写本报告评价、教学转化和后续建议属于综合分析，不作为原文已验证的研究结论。</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1_tf1.xml" />  <Relationship Id="rId3" Type="http://schemas.openxmlformats.org/officeDocument/2006/relationships/notesSlide" Target="../notesSlides/notesSlide1_tf1.xml"/>
</Relationships>
</file>

<file path=ppt/slides/_rels/slide2.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xml" />  <Relationship Id="rId3" Type="http://schemas.openxmlformats.org/officeDocument/2006/relationships/notesSlide" Target="../notesSlides/notesSlide4_tf1.xml"/>
</Relationships>
</file>

<file path=ppt/slides/_rels/slide3.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xml" />  <Relationship Id="rId3" Type="http://schemas.openxmlformats.org/officeDocument/2006/relationships/notesSlide" Target="../notesSlides/notesSlide4_tf2.xml"/>
</Relationships>
</file>

<file path=ppt/slides/_rels/slide4.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3.xml" />  <Relationship Id="rId3" Type="http://schemas.openxmlformats.org/officeDocument/2006/relationships/notesSlide" Target="../notesSlides/notesSlide4_tf3.xml"/>
</Relationships>
</file>

<file path=ppt/slides/_rels/slide5.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4.xml" />  <Relationship Id="rId3" Type="http://schemas.openxmlformats.org/officeDocument/2006/relationships/notesSlide" Target="../notesSlides/notesSlide4_tf4.xml"/>
</Relationships>
</file>

<file path=ppt/slides/_rels/slide6.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5.xml" /><Relationship Id="rId4" Type="http://schemas.openxmlformats.org/officeDocument/2006/relationships/image" Target="../media/image_4c236139150f1a34.png" />  <Relationship Id="rId5" Type="http://schemas.openxmlformats.org/officeDocument/2006/relationships/notesSlide" Target="../notesSlides/notesSlide4_tf5.xml"/>
</Relationships>
</file>

<file path=ppt/slides/_rels/slide7.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6.xml" />  <Relationship Id="rId3" Type="http://schemas.openxmlformats.org/officeDocument/2006/relationships/notesSlide" Target="../notesSlides/notesSlide4_tf6.xml"/>
</Relationships>
</file>

<file path=ppt/slides/_rels/slide8.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7.xml" />  <Relationship Id="rId3" Type="http://schemas.openxmlformats.org/officeDocument/2006/relationships/notesSlide" Target="../notesSlides/notesSlide4_tf7.xml"/>
</Relationships>
</file>

<file path=ppt/slides/_rels/slide9.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8.xml" /><Relationship Id="rId4" Type="http://schemas.openxmlformats.org/officeDocument/2006/relationships/image" Target="../media/image_ed62811365dc82a5.png" />  <Relationship Id="rId5" Type="http://schemas.openxmlformats.org/officeDocument/2006/relationships/notesSlide" Target="../notesSlides/notesSlide4_tf8.xml"/>
</Relationships>
</file>

<file path=ppt/slides/_rels/slide10.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9.xml" />  <Relationship Id="rId3" Type="http://schemas.openxmlformats.org/officeDocument/2006/relationships/notesSlide" Target="../notesSlides/notesSlide4_tf9.xml"/>
</Relationships>
</file>

<file path=ppt/slides/_rels/slide11.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0.xml" />  <Relationship Id="rId3" Type="http://schemas.openxmlformats.org/officeDocument/2006/relationships/notesSlide" Target="../notesSlides/notesSlide4_tf10.xml"/>
</Relationships>
</file>

<file path=ppt/slides/_rels/slide12.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1.xml" />  <Relationship Id="rId3" Type="http://schemas.openxmlformats.org/officeDocument/2006/relationships/notesSlide" Target="../notesSlides/notesSlide4_tf11.xml"/>
</Relationships>
</file>

<file path=ppt/slides/_rels/slide13.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2.xml" />  <Relationship Id="rId3" Type="http://schemas.openxmlformats.org/officeDocument/2006/relationships/notesSlide" Target="../notesSlides/notesSlide4_tf12.xml"/>
</Relationships>
</file>

<file path=ppt/slides/_rels/slide14.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3.xml" />  <Relationship Id="rId3" Type="http://schemas.openxmlformats.org/officeDocument/2006/relationships/notesSlide" Target="../notesSlides/notesSlide4_tf13.xml"/>
</Relationships>
</file>

<file path=ppt/slides/_rels/slide15.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4.xml" /><Relationship Id="rId4" Type="http://schemas.openxmlformats.org/officeDocument/2006/relationships/image" Target="../media/image_2ea9632638ef414c.png" />  <Relationship Id="rId5" Type="http://schemas.openxmlformats.org/officeDocument/2006/relationships/notesSlide" Target="../notesSlides/notesSlide4_tf14.xml"/>
</Relationships>
</file>

<file path=ppt/slides/_rels/slide16.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5.xml" /><Relationship Id="rId4" Type="http://schemas.openxmlformats.org/officeDocument/2006/relationships/image" Target="../media/image_990e6219f89b1262.png" />  <Relationship Id="rId5" Type="http://schemas.openxmlformats.org/officeDocument/2006/relationships/notesSlide" Target="../notesSlides/notesSlide4_tf15.xml"/>
</Relationships>
</file>

<file path=ppt/slides/_rels/slide17.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6.xml" />  <Relationship Id="rId3" Type="http://schemas.openxmlformats.org/officeDocument/2006/relationships/notesSlide" Target="../notesSlides/notesSlide4_tf16.xml"/>
</Relationships>
</file>

<file path=ppt/slides/_rels/slide18.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7.xml" />  <Relationship Id="rId3" Type="http://schemas.openxmlformats.org/officeDocument/2006/relationships/notesSlide" Target="../notesSlides/notesSlide4_tf17.xml"/>
</Relationships>
</file>

<file path=ppt/slides/_rels/slide19.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8.xml" /><Relationship Id="rId4" Type="http://schemas.openxmlformats.org/officeDocument/2006/relationships/image" Target="../media/image_51747ef7b72a61ca.png" />  <Relationship Id="rId5" Type="http://schemas.openxmlformats.org/officeDocument/2006/relationships/notesSlide" Target="../notesSlides/notesSlide4_tf18.xml"/>
</Relationships>
</file>

<file path=ppt/slides/_rels/slide20.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19.xml" /><Relationship Id="rId4" Type="http://schemas.openxmlformats.org/officeDocument/2006/relationships/image" Target="../media/image_b7adf85adc4dafda.png" />  <Relationship Id="rId5" Type="http://schemas.openxmlformats.org/officeDocument/2006/relationships/notesSlide" Target="../notesSlides/notesSlide4_tf19.xml"/>
</Relationships>
</file>

<file path=ppt/slides/_rels/slide21.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0.xml" />  <Relationship Id="rId3" Type="http://schemas.openxmlformats.org/officeDocument/2006/relationships/notesSlide" Target="../notesSlides/notesSlide4_tf20.xml"/>
</Relationships>
</file>

<file path=ppt/slides/_rels/slide22.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1.xml" />  <Relationship Id="rId3" Type="http://schemas.openxmlformats.org/officeDocument/2006/relationships/notesSlide" Target="../notesSlides/notesSlide4_tf21.xml"/>
</Relationships>
</file>

<file path=ppt/slides/_rels/slide23.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2.xml" />  <Relationship Id="rId3" Type="http://schemas.openxmlformats.org/officeDocument/2006/relationships/notesSlide" Target="../notesSlides/notesSlide4_tf22.xml"/>
</Relationships>
</file>

<file path=ppt/slides/_rels/slide24.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3.xml" />  <Relationship Id="rId3" Type="http://schemas.openxmlformats.org/officeDocument/2006/relationships/notesSlide" Target="../notesSlides/notesSlide4_tf23.xml"/>
</Relationships>
</file>

<file path=ppt/slides/_rels/slide25.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4.xml" />  <Relationship Id="rId3" Type="http://schemas.openxmlformats.org/officeDocument/2006/relationships/notesSlide" Target="../notesSlides/notesSlide4_tf24.xml"/>
</Relationships>
</file>

<file path=ppt/slides/_rels/slide26.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5.xml" />  <Relationship Id="rId3" Type="http://schemas.openxmlformats.org/officeDocument/2006/relationships/notesSlide" Target="../notesSlides/notesSlide4_tf25.xml"/>
</Relationships>
</file>

<file path=ppt/slides/_rels/slide27.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6.xml" />  <Relationship Id="rId3" Type="http://schemas.openxmlformats.org/officeDocument/2006/relationships/notesSlide" Target="../notesSlides/notesSlide4_tf26.xml"/>
</Relationships>
</file>

<file path=ppt/slides/_rels/slide28.xml.rels><?xml version='1.0' encoding='utf-8'?>
<Relationships xmlns="http://schemas.openxmlformats.org/package/2006/relationships"><Relationship Id="rId2" Type="http://schemas.openxmlformats.org/officeDocument/2006/relationships/slideLayout" Target="../slideLayouts/slideLayout1.xml" /><Relationship Id="rId1" Type="http://schemas.openxmlformats.org/officeDocument/2006/relationships/tags" Target="../tags/tag4_tf27.xml" />  <Relationship Id="rId3" Type="http://schemas.openxmlformats.org/officeDocument/2006/relationships/notesSlide" Target="../notesSlides/notesSlide4_tf27.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grpSp>
        <p:nvGrpSpPr>
          <p:cNvPr id="8" name="Text 0"/>
          <p:cNvGrpSpPr/>
          <p:nvPr/>
        </p:nvGrpSpPr>
        <p:grpSpPr>
          <a:xfrm>
            <a:off x="640080" y="1234440"/>
            <a:ext cx="10911554" cy="1737360"/>
            <a:chOff x="640080" y="1234440"/>
            <a:chExt cx="10911554" cy="1737360"/>
          </a:xfrm>
        </p:grpSpPr>
        <p:sp>
          <p:nvSpPr>
            <p:cNvPr id="5" name="Freeform 5"/>
            <p:cNvSpPr/>
            <p:nvPr/>
          </p:nvSpPr>
          <p:spPr>
            <a:xfrm>
              <a:off x="640080" y="1234440"/>
              <a:ext cx="10911554" cy="1737360"/>
            </a:xfrm>
            <a:custGeom>
              <a:avLst/>
              <a:gdLst/>
              <a:ahLst/>
              <a:cxnLst/>
              <a:rect l="l" t="t" r="r" b="b"/>
              <a:pathLst>
                <a:path w="10911554" h="1737360">
                  <a:moveTo>
                    <a:pt x="0" y="0"/>
                  </a:moveTo>
                  <a:lnTo>
                    <a:pt x="10911554" y="0"/>
                  </a:lnTo>
                  <a:lnTo>
                    <a:pt x="10911554" y="1737360"/>
                  </a:lnTo>
                  <a:lnTo>
                    <a:pt x="0" y="1737360"/>
                  </a:lnTo>
                  <a:close/>
                </a:path>
              </a:pathLst>
            </a:custGeom>
            <a:noFill/>
            <a:ln>
              <a:noFill/>
            </a:ln>
          </p:spPr>
        </p:sp>
        <p:sp>
          <p:nvSpPr>
            <p:cNvPr id="6" name="TextBox 6"/>
            <p:cNvSpPr txBox="1"/>
            <p:nvPr/>
          </p:nvSpPr>
          <p:spPr>
            <a:xfrm>
              <a:off x="4373689" y="1463675"/>
              <a:ext cx="3444240" cy="586740"/>
            </a:xfrm>
            <a:prstGeom prst="rect">
              <a:avLst/>
            </a:prstGeom>
            <a:noFill/>
            <a:ln>
              <a:noFill/>
            </a:ln>
          </p:spPr>
          <p:txBody>
            <a:bodyPr wrap="none" lIns="0" tIns="0" rIns="0" bIns="0" anchor="t" anchorCtr="0">
              <a:spAutoFit/>
            </a:bodyPr>
            <a:lstStyle/>
            <a:p>
              <a:pPr algn="ctr"/>
              <a:r>
                <a:rPr lang="zh-CN" sz="3000" b="1" dirty="0">
                  <a:solidFill>
                    <a:srgbClr val="1F4E96"/>
                  </a:solidFill>
                  <a:latin typeface="Times New Roman"/>
                  <a:ea typeface="SimSun"/>
                  <a:cs typeface="Times New Roman"/>
                </a:rPr>
                <a:t>基础物理专题研究</a:t>
              </a:r>
            </a:p>
          </p:txBody>
        </p:sp>
        <p:sp>
          <p:nvSpPr>
            <p:cNvPr id="7" name="TextBox 7"/>
            <p:cNvSpPr txBox="1"/>
            <p:nvPr/>
          </p:nvSpPr>
          <p:spPr>
            <a:xfrm>
              <a:off x="3733609" y="2063750"/>
              <a:ext cx="4724400" cy="586740"/>
            </a:xfrm>
            <a:prstGeom prst="rect">
              <a:avLst/>
            </a:prstGeom>
            <a:noFill/>
            <a:ln>
              <a:noFill/>
            </a:ln>
          </p:spPr>
          <p:txBody>
            <a:bodyPr wrap="none" lIns="0" tIns="0" rIns="0" bIns="0" anchor="t" anchorCtr="0">
              <a:spAutoFit/>
            </a:bodyPr>
            <a:lstStyle/>
            <a:p>
              <a:pPr algn="ctr"/>
              <a:r>
                <a:rPr lang="zh-CN" sz="3000" b="1" dirty="0">
                  <a:solidFill>
                    <a:srgbClr val="1F4E96"/>
                  </a:solidFill>
                  <a:latin typeface="Times New Roman"/>
                  <a:ea typeface="SimSun"/>
                  <a:cs typeface="Times New Roman"/>
                </a:rPr>
                <a:t>四篇文献精读与综合评述</a:t>
              </a:r>
            </a:p>
          </p:txBody>
        </p:sp>
      </p:grpSp>
      <p:grpSp>
        <p:nvGrpSpPr>
          <p:cNvPr id="11" name="Text 1"/>
          <p:cNvGrpSpPr/>
          <p:nvPr/>
        </p:nvGrpSpPr>
        <p:grpSpPr>
          <a:xfrm>
            <a:off x="640080" y="3063240"/>
            <a:ext cx="10911554" cy="640080"/>
            <a:chOff x="640080" y="3063240"/>
            <a:chExt cx="10911554" cy="640080"/>
          </a:xfrm>
        </p:grpSpPr>
        <p:sp>
          <p:nvSpPr>
            <p:cNvPr id="9" name="Freeform 9"/>
            <p:cNvSpPr/>
            <p:nvPr/>
          </p:nvSpPr>
          <p:spPr>
            <a:xfrm>
              <a:off x="640080" y="3063240"/>
              <a:ext cx="10911554" cy="640080"/>
            </a:xfrm>
            <a:custGeom>
              <a:avLst/>
              <a:gdLst/>
              <a:ahLst/>
              <a:cxnLst/>
              <a:rect l="l" t="t" r="r" b="b"/>
              <a:pathLst>
                <a:path w="10911554" h="640080">
                  <a:moveTo>
                    <a:pt x="0" y="0"/>
                  </a:moveTo>
                  <a:lnTo>
                    <a:pt x="10911554" y="0"/>
                  </a:lnTo>
                  <a:lnTo>
                    <a:pt x="10911554" y="640080"/>
                  </a:lnTo>
                  <a:lnTo>
                    <a:pt x="0" y="640080"/>
                  </a:lnTo>
                  <a:close/>
                </a:path>
              </a:pathLst>
            </a:custGeom>
            <a:noFill/>
            <a:ln>
              <a:noFill/>
            </a:ln>
          </p:spPr>
        </p:sp>
        <p:sp>
          <p:nvSpPr>
            <p:cNvPr id="10" name="TextBox 10"/>
            <p:cNvSpPr txBox="1"/>
            <p:nvPr/>
          </p:nvSpPr>
          <p:spPr>
            <a:xfrm>
              <a:off x="2497139" y="3143250"/>
              <a:ext cx="7197341" cy="547623"/>
            </a:xfrm>
            <a:prstGeom prst="rect">
              <a:avLst/>
            </a:prstGeom>
            <a:noFill/>
            <a:ln>
              <a:noFill/>
            </a:ln>
          </p:spPr>
          <p:txBody>
            <a:bodyPr wrap="none" lIns="0" tIns="0" rIns="0" bIns="0" anchor="t" anchorCtr="0">
              <a:spAutoFit/>
            </a:bodyPr>
            <a:lstStyle/>
            <a:p>
              <a:pPr algn="ctr"/>
              <a:r>
                <a:rPr lang="zh-CN" sz="2800" b="1" dirty="0">
                  <a:solidFill>
                    <a:srgbClr val="1F4E96"/>
                  </a:solidFill>
                  <a:latin typeface="Times New Roman"/>
                  <a:ea typeface="SimSun"/>
                  <a:cs typeface="Times New Roman"/>
                </a:rPr>
                <a:t>——高中电磁感应的概念理解与推理教学</a:t>
              </a:r>
            </a:p>
          </p:txBody>
        </p:sp>
      </p:grpSp>
      <p:grpSp>
        <p:nvGrpSpPr>
          <p:cNvPr id="16" name="Text 2"/>
          <p:cNvGrpSpPr/>
          <p:nvPr/>
        </p:nvGrpSpPr>
        <p:grpSpPr>
          <a:xfrm>
            <a:off x="640080" y="4023360"/>
            <a:ext cx="10911554" cy="1573657"/>
            <a:chOff x="640080" y="4023360"/>
            <a:chExt cx="10911554" cy="1573657"/>
          </a:xfrm>
        </p:grpSpPr>
        <p:sp>
          <p:nvSpPr>
            <p:cNvPr id="12" name="Freeform 12"/>
            <p:cNvSpPr/>
            <p:nvPr/>
          </p:nvSpPr>
          <p:spPr>
            <a:xfrm>
              <a:off x="640080" y="4023360"/>
              <a:ext cx="10911554" cy="1463040"/>
            </a:xfrm>
            <a:custGeom>
              <a:avLst/>
              <a:gdLst/>
              <a:ahLst/>
              <a:cxnLst/>
              <a:rect l="l" t="t" r="r" b="b"/>
              <a:pathLst>
                <a:path w="10911554" h="1463040">
                  <a:moveTo>
                    <a:pt x="0" y="0"/>
                  </a:moveTo>
                  <a:lnTo>
                    <a:pt x="10911554" y="0"/>
                  </a:lnTo>
                  <a:lnTo>
                    <a:pt x="10911554" y="1463040"/>
                  </a:lnTo>
                  <a:lnTo>
                    <a:pt x="0" y="1463040"/>
                  </a:lnTo>
                  <a:close/>
                </a:path>
              </a:pathLst>
            </a:custGeom>
            <a:noFill/>
            <a:ln>
              <a:noFill/>
            </a:ln>
          </p:spPr>
        </p:sp>
        <p:sp>
          <p:nvSpPr>
            <p:cNvPr id="13" name="TextBox 13"/>
            <p:cNvSpPr txBox="1"/>
            <p:nvPr/>
          </p:nvSpPr>
          <p:spPr>
            <a:xfrm>
              <a:off x="3181922" y="4111625"/>
              <a:ext cx="5827776" cy="469392"/>
            </a:xfrm>
            <a:prstGeom prst="rect">
              <a:avLst/>
            </a:prstGeom>
            <a:noFill/>
            <a:ln>
              <a:noFill/>
            </a:ln>
          </p:spPr>
          <p:txBody>
            <a:bodyPr wrap="none" lIns="0" tIns="0" rIns="0" bIns="0" anchor="t" anchorCtr="0">
              <a:spAutoFit/>
            </a:bodyPr>
            <a:lstStyle/>
            <a:p>
              <a:pPr algn="ctr"/>
              <a:r>
                <a:rPr lang="zh-CN" sz="2400" dirty="0">
                  <a:solidFill>
                    <a:srgbClr val="000000"/>
                  </a:solidFill>
                  <a:latin typeface="Times New Roman"/>
                  <a:ea typeface="SimSun"/>
                  <a:cs typeface="Times New Roman"/>
                </a:rPr>
                <a:t>汇报者：学科教学（物理）专业研究生</a:t>
              </a:r>
            </a:p>
          </p:txBody>
        </p:sp>
        <p:sp>
          <p:nvSpPr>
            <p:cNvPr id="14" name="TextBox 14"/>
            <p:cNvSpPr txBox="1"/>
            <p:nvPr/>
          </p:nvSpPr>
          <p:spPr>
            <a:xfrm>
              <a:off x="3011234" y="4632325"/>
              <a:ext cx="6169152" cy="469392"/>
            </a:xfrm>
            <a:prstGeom prst="rect">
              <a:avLst/>
            </a:prstGeom>
            <a:noFill/>
            <a:ln>
              <a:noFill/>
            </a:ln>
          </p:spPr>
          <p:txBody>
            <a:bodyPr wrap="none" lIns="0" tIns="0" rIns="0" bIns="0" anchor="t" anchorCtr="0">
              <a:spAutoFit/>
            </a:bodyPr>
            <a:lstStyle/>
            <a:p>
              <a:pPr algn="ctr"/>
              <a:r>
                <a:rPr lang="zh-CN" sz="2400" dirty="0">
                  <a:solidFill>
                    <a:srgbClr val="000000"/>
                  </a:solidFill>
                  <a:latin typeface="Times New Roman"/>
                  <a:ea typeface="SimSun"/>
                  <a:cs typeface="Times New Roman"/>
                </a:rPr>
                <a:t>中文文献：孙可、陈刚；罗成等（2023）</a:t>
              </a:r>
            </a:p>
          </p:txBody>
        </p:sp>
        <p:sp>
          <p:nvSpPr>
            <p:cNvPr id="15" name="TextBox 15"/>
            <p:cNvSpPr txBox="1"/>
            <p:nvPr/>
          </p:nvSpPr>
          <p:spPr>
            <a:xfrm>
              <a:off x="2543951" y="5127625"/>
              <a:ext cx="7103717" cy="469392"/>
            </a:xfrm>
            <a:prstGeom prst="rect">
              <a:avLst/>
            </a:prstGeom>
            <a:noFill/>
            <a:ln>
              <a:noFill/>
            </a:ln>
          </p:spPr>
          <p:txBody>
            <a:bodyPr wrap="none" lIns="0" tIns="0" rIns="0" bIns="0" anchor="t" anchorCtr="0">
              <a:spAutoFit/>
            </a:bodyPr>
            <a:lstStyle/>
            <a:p>
              <a:pPr algn="ctr"/>
              <a:r>
                <a:rPr lang="zh-CN" sz="2400" dirty="0">
                  <a:solidFill>
                    <a:srgbClr val="000000"/>
                  </a:solidFill>
                  <a:latin typeface="Times New Roman"/>
                  <a:ea typeface="SimSun"/>
                  <a:cs typeface="Times New Roman"/>
                </a:rPr>
                <a:t>英文文献：Zuza等（2014）；Jelicic等（2017）</a:t>
              </a:r>
            </a:p>
          </p:txBody>
        </p:sp>
      </p:grpSp>
    </p:spTree>
    <p:custDataLst>
      <p:tags r:id="rId1"/>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电磁感应教学：从实验现象到解释与推理</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学生需联结磁场、磁通量、感应电动势与电流，单会代入公式不足</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以说明理解。</a:t>
              </a:r>
            </a:p>
          </p:txBody>
        </p:sp>
        <p:sp>
          <p:nvSpPr>
            <p:cNvPr id="8" name="TextBox 8"/>
            <p:cNvSpPr txBox="1"/>
            <p:nvPr/>
          </p:nvSpPr>
          <p:spPr>
            <a:xfrm>
              <a:off x="627888" y="2413000"/>
              <a:ext cx="10471133"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“切割磁感线”能解释部分情境，但不能替代磁通量变化的统一判据。</a:t>
              </a:r>
            </a:p>
          </p:txBody>
        </p:sp>
        <p:sp>
          <p:nvSpPr>
            <p:cNvPr id="9" name="TextBox 9"/>
            <p:cNvSpPr txBox="1"/>
            <p:nvPr/>
          </p:nvSpPr>
          <p:spPr>
            <a:xfrm>
              <a:off x="627888" y="2921000"/>
              <a:ext cx="1016812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楞次定律不仅是方向口诀，还要求说明被阻碍的变化及推理依据。</a:t>
              </a:r>
            </a:p>
          </p:txBody>
        </p:sp>
        <p:sp>
          <p:nvSpPr>
            <p:cNvPr id="10" name="TextBox 10"/>
            <p:cNvSpPr txBox="1"/>
            <p:nvPr/>
          </p:nvSpPr>
          <p:spPr>
            <a:xfrm>
              <a:off x="627888" y="34417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精读关注：教学环节、学生解释与测量证据，是否形成相互支持的</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链条。</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a:t>
            </a:r>
          </a:p>
        </p:txBody>
      </p:sp>
      <p:grpSp>
        <p:nvGrpSpPr>
          <p:cNvPr id="14" name="source-citation"/>
          <p:cNvGrpSpPr/>
          <p:nvPr/>
        </p:nvGrpSpPr>
        <p:grpSpPr>
          <a:xfrm>
            <a:off x="632967" y="6175375"/>
            <a:ext cx="3200403" cy="273861"/>
            <a:chOff x="632967" y="6175375"/>
            <a:chExt cx="3200403" cy="273861"/>
          </a:xfrm>
        </p:grpSpPr>
        <p:sp>
          <p:nvSpPr>
            <p:cNvPr id="13" name="TextBox 13"/>
            <p:cNvSpPr txBox="1"/>
            <p:nvPr/>
          </p:nvSpPr>
          <p:spPr>
            <a:xfrm>
              <a:off x="632967" y="6175375"/>
              <a:ext cx="320040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依据：四篇原文的背景与问题讨论。</a:t>
              </a:r>
            </a:p>
          </p:txBody>
        </p:sp>
      </p:grpSp>
    </p:spTree>
    <p:custDataLst>
      <p:tags r:id="rId1"/>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四篇文献概览：教学设计与实证研究</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孙可、陈刚（2023）：学习心理学与任务分析；重构楞次定律结论</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的获得过程。</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罗成、朱行建、文金宝（2023）：孟克—奥斯本融合模式；以科学</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史组织感应教学。</a:t>
              </a:r>
            </a:p>
          </p:txBody>
        </p:sp>
        <p:sp>
          <p:nvSpPr>
            <p:cNvPr id="9" name="TextBox 9"/>
            <p:cNvSpPr txBox="1"/>
            <p:nvPr/>
          </p:nvSpPr>
          <p:spPr>
            <a:xfrm>
              <a:off x="627888" y="3355975"/>
              <a:ext cx="9106936"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Zuza等（2014）：大学引导式问题解决；以前后测、历史组比较及</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访谈评估序列。</a:t>
              </a:r>
            </a:p>
          </p:txBody>
        </p:sp>
        <p:sp>
          <p:nvSpPr>
            <p:cNvPr id="10" name="TextBox 10"/>
            <p:cNvSpPr txBox="1"/>
            <p:nvPr/>
          </p:nvSpPr>
          <p:spPr>
            <a:xfrm>
              <a:off x="627888" y="4337050"/>
              <a:ext cx="8971483"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Jelicic等（2017）：高中生实验访谈；分析认知资源与临时形成的</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解释模型。</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3</a:t>
            </a:r>
          </a:p>
        </p:txBody>
      </p:sp>
      <p:grpSp>
        <p:nvGrpSpPr>
          <p:cNvPr id="14" name="source-citation"/>
          <p:cNvGrpSpPr/>
          <p:nvPr/>
        </p:nvGrpSpPr>
        <p:grpSpPr>
          <a:xfrm>
            <a:off x="632967" y="6175375"/>
            <a:ext cx="5191763" cy="273861"/>
            <a:chOff x="632967" y="6175375"/>
            <a:chExt cx="5191763" cy="273861"/>
          </a:xfrm>
        </p:grpSpPr>
        <p:sp>
          <p:nvSpPr>
            <p:cNvPr id="13" name="TextBox 13"/>
            <p:cNvSpPr txBox="1"/>
            <p:nvPr/>
          </p:nvSpPr>
          <p:spPr>
            <a:xfrm>
              <a:off x="632967" y="6175375"/>
              <a:ext cx="519176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文献顺序：中文两篇（2023），英文两篇（2014、2017）。</a:t>
              </a:r>
            </a:p>
          </p:txBody>
        </p:sp>
      </p:grpSp>
    </p:spTree>
    <p:custDataLst>
      <p:tags r:id="rId1"/>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孙可、陈刚：楞次定律教学的逻辑问题</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核心问题：创新教具简化了观察，却未必呈现学生获得规律所需的</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信息加工。</a:t>
              </a:r>
            </a:p>
          </p:txBody>
        </p:sp>
        <p:sp>
          <p:nvSpPr>
            <p:cNvPr id="8" name="TextBox 8"/>
            <p:cNvSpPr txBox="1"/>
            <p:nvPr/>
          </p:nvSpPr>
          <p:spPr>
            <a:xfrm>
              <a:off x="627888" y="2413000"/>
              <a:ext cx="9826752"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研究材料：小车—磁铁与楞次环两种改进方案，重点分析前者。</a:t>
              </a:r>
            </a:p>
          </p:txBody>
        </p:sp>
        <p:sp>
          <p:nvSpPr>
            <p:cNvPr id="9" name="TextBox 9"/>
            <p:cNvSpPr txBox="1"/>
            <p:nvPr/>
          </p:nvSpPr>
          <p:spPr>
            <a:xfrm>
              <a:off x="627888" y="2946400"/>
              <a:ext cx="1016812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理论基础：教学任务分析——写图式、定内容、析途径、清序列。</a:t>
              </a:r>
            </a:p>
          </p:txBody>
        </p:sp>
        <p:sp>
          <p:nvSpPr>
            <p:cNvPr id="10" name="TextBox 10"/>
            <p:cNvSpPr txBox="1"/>
            <p:nvPr/>
          </p:nvSpPr>
          <p:spPr>
            <a:xfrm>
              <a:off x="627888" y="3479800"/>
              <a:ext cx="10812509"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目标：把“阻碍变化”分解为两个子结论，再恢复感应电流方向的判断。</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4</a:t>
            </a:r>
          </a:p>
        </p:txBody>
      </p:sp>
      <p:grpSp>
        <p:nvGrpSpPr>
          <p:cNvPr id="14" name="source-citation"/>
          <p:cNvGrpSpPr/>
          <p:nvPr/>
        </p:nvGrpSpPr>
        <p:grpSpPr>
          <a:xfrm>
            <a:off x="632967" y="6175375"/>
            <a:ext cx="2951483" cy="273861"/>
            <a:chOff x="632967" y="6175375"/>
            <a:chExt cx="2951483" cy="273861"/>
          </a:xfrm>
        </p:grpSpPr>
        <p:sp>
          <p:nvSpPr>
            <p:cNvPr id="13" name="TextBox 13"/>
            <p:cNvSpPr txBox="1"/>
            <p:nvPr/>
          </p:nvSpPr>
          <p:spPr>
            <a:xfrm>
              <a:off x="632967" y="6175375"/>
              <a:ext cx="295148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孙可、陈刚（2023），pp.20–21。</a:t>
              </a:r>
            </a:p>
          </p:txBody>
        </p:sp>
      </p:grpSp>
    </p:spTree>
    <p:custDataLst>
      <p:tags r:id="rId1"/>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孙可、陈刚：任务分析如何转化为环节</a:t>
            </a:r>
          </a:p>
        </p:txBody>
      </p:sp>
      <p:grpSp>
        <p:nvGrpSpPr>
          <p:cNvPr id="12"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06525"/>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提出问题与猜测：由小车运动追问受力、感应磁场及感应电流方向。</a:t>
              </a:r>
            </a:p>
          </p:txBody>
        </p:sp>
        <p:sp>
          <p:nvSpPr>
            <p:cNvPr id="8" name="TextBox 8"/>
            <p:cNvSpPr txBox="1"/>
            <p:nvPr/>
          </p:nvSpPr>
          <p:spPr>
            <a:xfrm>
              <a:off x="627888" y="1965325"/>
              <a:ext cx="10225299"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规划方案：用穷举法组合N/S极与靠近/远离，覆盖四种实验情境。</a:t>
              </a:r>
            </a:p>
          </p:txBody>
        </p:sp>
        <p:sp>
          <p:nvSpPr>
            <p:cNvPr id="9" name="TextBox 9"/>
            <p:cNvSpPr txBox="1"/>
            <p:nvPr/>
          </p:nvSpPr>
          <p:spPr>
            <a:xfrm>
              <a:off x="627888" y="2473325"/>
              <a:ext cx="1016812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执行与整理：记录运动、相互作用、感应磁场关系和磁通量变化。</a:t>
              </a:r>
            </a:p>
          </p:txBody>
        </p:sp>
        <p:sp>
          <p:nvSpPr>
            <p:cNvPr id="10" name="TextBox 10"/>
            <p:cNvSpPr txBox="1"/>
            <p:nvPr/>
          </p:nvSpPr>
          <p:spPr>
            <a:xfrm>
              <a:off x="627888" y="3032125"/>
              <a:ext cx="9788381"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求同归纳：先分组得到“增反、减同”，再概括阻碍磁通量变化。</a:t>
              </a:r>
            </a:p>
          </p:txBody>
        </p:sp>
        <p:sp>
          <p:nvSpPr>
            <p:cNvPr id="11" name="TextBox 11"/>
            <p:cNvSpPr txBox="1"/>
            <p:nvPr/>
          </p:nvSpPr>
          <p:spPr>
            <a:xfrm>
              <a:off x="627888" y="35274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验证：更换楞次环检验实验规律；教师已提供器材，不等于学生自</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主设计。</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5</a:t>
            </a:r>
          </a:p>
        </p:txBody>
      </p:sp>
      <p:grpSp>
        <p:nvGrpSpPr>
          <p:cNvPr id="15" name="source-citation"/>
          <p:cNvGrpSpPr/>
          <p:nvPr/>
        </p:nvGrpSpPr>
        <p:grpSpPr>
          <a:xfrm>
            <a:off x="632967" y="6175375"/>
            <a:ext cx="4146299" cy="273861"/>
            <a:chOff x="632967" y="6175375"/>
            <a:chExt cx="4146299" cy="273861"/>
          </a:xfrm>
        </p:grpSpPr>
        <p:sp>
          <p:nvSpPr>
            <p:cNvPr id="14" name="TextBox 14"/>
            <p:cNvSpPr txBox="1"/>
            <p:nvPr/>
          </p:nvSpPr>
          <p:spPr>
            <a:xfrm>
              <a:off x="632967" y="6175375"/>
              <a:ext cx="4146299"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孙可、陈刚（2023），pp.21–23，表2–7、图4。</a:t>
              </a:r>
            </a:p>
          </p:txBody>
        </p:sp>
      </p:grpSp>
    </p:spTree>
    <p:custDataLst>
      <p:tags r:id="rId1"/>
    </p:custData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孙可、陈刚：表6支持怎样的物理归纳</a:t>
            </a:r>
          </a:p>
        </p:txBody>
      </p:sp>
      <p:grpSp>
        <p:nvGrpSpPr>
          <p:cNvPr id="11" name="Text 1"/>
          <p:cNvGrpSpPr/>
          <p:nvPr/>
        </p:nvGrpSpPr>
        <p:grpSpPr>
          <a:xfrm>
            <a:off x="640080" y="1371600"/>
            <a:ext cx="10911554" cy="4754880"/>
            <a:chOff x="640080" y="1371600"/>
            <a:chExt cx="10911554"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640080" y="2110317"/>
              <a:ext cx="5810250" cy="3227917"/>
            </a:xfrm>
            <a:prstGeom prst="rect">
              <a:avLst/>
            </a:prstGeom>
          </p:spPr>
        </p:pic>
        <p:sp>
          <p:nvSpPr>
            <p:cNvPr id="8" name="TextBox 8"/>
            <p:cNvSpPr txBox="1"/>
            <p:nvPr/>
          </p:nvSpPr>
          <p:spPr>
            <a:xfrm>
              <a:off x="6846315" y="1416050"/>
              <a:ext cx="3762251"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四组操作同时比较磁极、运</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动与磁通量增减；不能只看</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小车运动。</a:t>
              </a:r>
            </a:p>
          </p:txBody>
        </p:sp>
        <p:sp>
          <p:nvSpPr>
            <p:cNvPr id="9" name="TextBox 9"/>
            <p:cNvSpPr txBox="1"/>
            <p:nvPr/>
          </p:nvSpPr>
          <p:spPr>
            <a:xfrm>
              <a:off x="6846315" y="2755932"/>
              <a:ext cx="376225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靠近：感应磁场与原磁场反</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向；远离：二者同向。</a:t>
              </a:r>
            </a:p>
          </p:txBody>
        </p:sp>
        <p:sp>
          <p:nvSpPr>
            <p:cNvPr id="10" name="TextBox 10"/>
            <p:cNvSpPr txBox="1"/>
            <p:nvPr/>
          </p:nvSpPr>
          <p:spPr>
            <a:xfrm>
              <a:off x="6846315" y="3676714"/>
              <a:ext cx="3762251"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相斥、相吸是现象线索；需</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经磁极与安培定则回到电流</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方向。</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6</a:t>
            </a:r>
          </a:p>
        </p:txBody>
      </p:sp>
      <p:grpSp>
        <p:nvGrpSpPr>
          <p:cNvPr id="14" name="source-citation"/>
          <p:cNvGrpSpPr/>
          <p:nvPr/>
        </p:nvGrpSpPr>
        <p:grpSpPr>
          <a:xfrm>
            <a:off x="632967" y="6175375"/>
            <a:ext cx="3648459" cy="273861"/>
            <a:chOff x="632967" y="6175375"/>
            <a:chExt cx="3648459" cy="273861"/>
          </a:xfrm>
        </p:grpSpPr>
        <p:sp>
          <p:nvSpPr>
            <p:cNvPr id="13" name="TextBox 13"/>
            <p:cNvSpPr txBox="1"/>
            <p:nvPr/>
          </p:nvSpPr>
          <p:spPr>
            <a:xfrm>
              <a:off x="632967" y="6175375"/>
              <a:ext cx="3648459"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截图：孙可、陈刚（2023），p.22，表6。</a:t>
              </a:r>
            </a:p>
          </p:txBody>
        </p:sp>
      </p:grpSp>
    </p:spTree>
    <p:custDataLst>
      <p:tags r:id="rId1"/>
    </p:custData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孙可、陈刚：教学价值与证据边界</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贡献：把直观教具与推理任务联结，强调分类、比较和子结论的建</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构。</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原文未报告：学生样本、实施测量、前后测与对照；师生问答按教</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学方案理解。</a:t>
              </a:r>
            </a:p>
          </p:txBody>
        </p:sp>
        <p:sp>
          <p:nvSpPr>
            <p:cNvPr id="9" name="TextBox 9"/>
            <p:cNvSpPr txBox="1"/>
            <p:nvPr/>
          </p:nvSpPr>
          <p:spPr>
            <a:xfrm>
              <a:off x="627888" y="3368675"/>
              <a:ext cx="880262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楞次环验证的是实验规律，不是学生概念理解是否提升。</a:t>
              </a:r>
            </a:p>
          </p:txBody>
        </p:sp>
        <p:sp>
          <p:nvSpPr>
            <p:cNvPr id="10" name="TextBox 10"/>
            <p:cNvSpPr txBox="1"/>
            <p:nvPr/>
          </p:nvSpPr>
          <p:spPr>
            <a:xfrm>
              <a:off x="627888" y="3889375"/>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高中转化：要求学生写出“变化—感应磁场—电流方向”的理由，并增</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加迁移题。</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7</a:t>
            </a:r>
          </a:p>
        </p:txBody>
      </p:sp>
      <p:grpSp>
        <p:nvGrpSpPr>
          <p:cNvPr id="14" name="source-citation"/>
          <p:cNvGrpSpPr/>
          <p:nvPr/>
        </p:nvGrpSpPr>
        <p:grpSpPr>
          <a:xfrm>
            <a:off x="632967" y="6175375"/>
            <a:ext cx="5938523" cy="273861"/>
            <a:chOff x="632967" y="6175375"/>
            <a:chExt cx="5938523" cy="273861"/>
          </a:xfrm>
        </p:grpSpPr>
        <p:sp>
          <p:nvSpPr>
            <p:cNvPr id="13" name="TextBox 13"/>
            <p:cNvSpPr txBox="1"/>
            <p:nvPr/>
          </p:nvSpPr>
          <p:spPr>
            <a:xfrm>
              <a:off x="632967" y="6175375"/>
              <a:ext cx="593852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依据：孙可、陈刚（2023），pp.23–24；评价与建议为本报告分析。</a:t>
              </a:r>
            </a:p>
          </p:txBody>
        </p:sp>
      </p:grpSp>
    </p:spTree>
    <p:custDataLst>
      <p:tags r:id="rId1"/>
    </p:custData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罗成等：融合模式的理论与研究问题</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06525"/>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核心问题：科学史怎样融入感应概念学习，而不是附加科学家故事？</a:t>
              </a:r>
            </a:p>
          </p:txBody>
        </p:sp>
        <p:sp>
          <p:nvSpPr>
            <p:cNvPr id="8" name="TextBox 8"/>
            <p:cNvSpPr txBox="1"/>
            <p:nvPr/>
          </p:nvSpPr>
          <p:spPr>
            <a:xfrm>
              <a:off x="627888" y="1939925"/>
              <a:ext cx="9485376"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理论基础：建构论视域下融合科学史、科学哲学与科学概念。</a:t>
              </a:r>
            </a:p>
          </p:txBody>
        </p:sp>
        <p:sp>
          <p:nvSpPr>
            <p:cNvPr id="9" name="TextBox 9"/>
            <p:cNvSpPr txBox="1"/>
            <p:nvPr/>
          </p:nvSpPr>
          <p:spPr>
            <a:xfrm>
              <a:off x="627888" y="2460625"/>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研究设计：高中“电磁感应现象及应用”教学案例；课标分解、学情分</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析与环节设计。</a:t>
              </a:r>
            </a:p>
          </p:txBody>
        </p:sp>
        <p:sp>
          <p:nvSpPr>
            <p:cNvPr id="10" name="TextBox 10"/>
            <p:cNvSpPr txBox="1"/>
            <p:nvPr/>
          </p:nvSpPr>
          <p:spPr>
            <a:xfrm>
              <a:off x="627888" y="3441700"/>
              <a:ext cx="9343705"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模式改造：把“设计实验”改为“动手实验”，提高参与度；属于设计意</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图。</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8</a:t>
            </a:r>
          </a:p>
        </p:txBody>
      </p:sp>
      <p:grpSp>
        <p:nvGrpSpPr>
          <p:cNvPr id="14" name="source-citation"/>
          <p:cNvGrpSpPr/>
          <p:nvPr/>
        </p:nvGrpSpPr>
        <p:grpSpPr>
          <a:xfrm>
            <a:off x="632967" y="6175375"/>
            <a:ext cx="3250187" cy="273861"/>
            <a:chOff x="632967" y="6175375"/>
            <a:chExt cx="3250187" cy="273861"/>
          </a:xfrm>
        </p:grpSpPr>
        <p:sp>
          <p:nvSpPr>
            <p:cNvPr id="13" name="TextBox 13"/>
            <p:cNvSpPr txBox="1"/>
            <p:nvPr/>
          </p:nvSpPr>
          <p:spPr>
            <a:xfrm>
              <a:off x="632967" y="6175375"/>
              <a:ext cx="3250187"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罗成等（2023），p.25，图1、§1–2。</a:t>
              </a:r>
            </a:p>
          </p:txBody>
        </p:sp>
      </p:grpSp>
    </p:spTree>
    <p:custDataLst>
      <p:tags r:id="rId1"/>
    </p:custData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罗成等：24人前测揭示哪些学习起点</a:t>
            </a:r>
          </a:p>
        </p:txBody>
      </p:sp>
      <p:grpSp>
        <p:nvGrpSpPr>
          <p:cNvPr id="11" name="Text 1"/>
          <p:cNvGrpSpPr/>
          <p:nvPr/>
        </p:nvGrpSpPr>
        <p:grpSpPr>
          <a:xfrm>
            <a:off x="640080" y="1371600"/>
            <a:ext cx="10911554" cy="4754880"/>
            <a:chOff x="640080" y="1371600"/>
            <a:chExt cx="10911554"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640080" y="1922740"/>
              <a:ext cx="5810250" cy="3603071"/>
            </a:xfrm>
            <a:prstGeom prst="rect">
              <a:avLst/>
            </a:prstGeom>
          </p:spPr>
        </p:pic>
        <p:sp>
          <p:nvSpPr>
            <p:cNvPr id="8" name="TextBox 8"/>
            <p:cNvSpPr txBox="1"/>
            <p:nvPr/>
          </p:nvSpPr>
          <p:spPr>
            <a:xfrm>
              <a:off x="6846315" y="1416050"/>
              <a:ext cx="3804255"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全班24人；15人能准确说明</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磁通量，12人认为只有“切割</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”才能感应。</a:t>
              </a:r>
            </a:p>
          </p:txBody>
        </p:sp>
        <p:sp>
          <p:nvSpPr>
            <p:cNvPr id="9" name="TextBox 9"/>
            <p:cNvSpPr txBox="1"/>
            <p:nvPr/>
          </p:nvSpPr>
          <p:spPr>
            <a:xfrm>
              <a:off x="6846315" y="2755932"/>
              <a:ext cx="396672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6人答出磁通量改变；生活应</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用中混入电磁铁、指南针等。</a:t>
              </a:r>
            </a:p>
          </p:txBody>
        </p:sp>
        <p:sp>
          <p:nvSpPr>
            <p:cNvPr id="10" name="TextBox 10"/>
            <p:cNvSpPr txBox="1"/>
            <p:nvPr/>
          </p:nvSpPr>
          <p:spPr>
            <a:xfrm>
              <a:off x="6846315" y="3676714"/>
              <a:ext cx="3762251"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前测据此定位：概念条件过</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窄、应用识别混淆；不能当</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作教学后的效果。</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9</a:t>
            </a:r>
          </a:p>
        </p:txBody>
      </p:sp>
      <p:grpSp>
        <p:nvGrpSpPr>
          <p:cNvPr id="14" name="source-citation"/>
          <p:cNvGrpSpPr/>
          <p:nvPr/>
        </p:nvGrpSpPr>
        <p:grpSpPr>
          <a:xfrm>
            <a:off x="632967" y="6175375"/>
            <a:ext cx="4843275" cy="273861"/>
            <a:chOff x="632967" y="6175375"/>
            <a:chExt cx="4843275" cy="273861"/>
          </a:xfrm>
        </p:grpSpPr>
        <p:sp>
          <p:nvSpPr>
            <p:cNvPr id="13" name="TextBox 13"/>
            <p:cNvSpPr txBox="1"/>
            <p:nvPr/>
          </p:nvSpPr>
          <p:spPr>
            <a:xfrm>
              <a:off x="632967" y="6175375"/>
              <a:ext cx="4843275"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截图：罗成等（2023），p.26，表1；前测样本为24人。</a:t>
              </a:r>
            </a:p>
          </p:txBody>
        </p:sp>
      </p:grpSp>
    </p:spTree>
    <p:custDataLst>
      <p:tags r:id="rId1"/>
    </p:custData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罗成等：六个环节怎样组织概念建构</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208435"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演示现象—引出观念：“隔空生电”引发问题，用电流磁效应提出“磁</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生电”猜想。</a:t>
              </a:r>
            </a:p>
          </p:txBody>
        </p:sp>
        <p:sp>
          <p:nvSpPr>
            <p:cNvPr id="8" name="TextBox 8"/>
            <p:cNvSpPr txBox="1"/>
            <p:nvPr/>
          </p:nvSpPr>
          <p:spPr>
            <a:xfrm>
              <a:off x="627888" y="2374900"/>
              <a:ext cx="9361140"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学习历史—动手实验：未果实验凸显“稳恒/暂态”差别，再比较B、面</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积与取向。</a:t>
              </a:r>
            </a:p>
          </p:txBody>
        </p:sp>
        <p:sp>
          <p:nvSpPr>
            <p:cNvPr id="9" name="TextBox 9"/>
            <p:cNvSpPr txBox="1"/>
            <p:nvPr/>
          </p:nvSpPr>
          <p:spPr>
            <a:xfrm>
              <a:off x="627888" y="3355975"/>
              <a:ext cx="9310726"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实践检验：让B与投影面积同时改变而磁通量保持不变，检验统一判</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据。</a:t>
              </a:r>
            </a:p>
          </p:txBody>
        </p:sp>
        <p:sp>
          <p:nvSpPr>
            <p:cNvPr id="10" name="TextBox 10"/>
            <p:cNvSpPr txBox="1"/>
            <p:nvPr/>
          </p:nvSpPr>
          <p:spPr>
            <a:xfrm>
              <a:off x="627888" y="4349750"/>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总结评价：解释课前魔术与圆盘发电机，把现象解释联结能量转化。</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10</a:t>
            </a:r>
          </a:p>
        </p:txBody>
      </p:sp>
      <p:grpSp>
        <p:nvGrpSpPr>
          <p:cNvPr id="14" name="source-citation"/>
          <p:cNvGrpSpPr/>
          <p:nvPr/>
        </p:nvGrpSpPr>
        <p:grpSpPr>
          <a:xfrm>
            <a:off x="632967" y="6175375"/>
            <a:ext cx="3449323" cy="273861"/>
            <a:chOff x="632967" y="6175375"/>
            <a:chExt cx="3449323" cy="273861"/>
          </a:xfrm>
        </p:grpSpPr>
        <p:sp>
          <p:nvSpPr>
            <p:cNvPr id="13" name="TextBox 13"/>
            <p:cNvSpPr txBox="1"/>
            <p:nvPr/>
          </p:nvSpPr>
          <p:spPr>
            <a:xfrm>
              <a:off x="632967" y="6175375"/>
              <a:ext cx="344932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罗成等（2023），pp.25–28，§3.1–3.6。</a:t>
              </a:r>
            </a:p>
          </p:txBody>
        </p:sp>
      </p:grpSp>
    </p:spTree>
    <p:custDataLst>
      <p:tags r:id="rId1"/>
    </p:custData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罗成等：实施材料与学习效果需区分</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可见材料：前测表、教学问题、实验装置和师生回答片段；未给出</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系统后测。</a:t>
              </a:r>
            </a:p>
          </p:txBody>
        </p:sp>
        <p:sp>
          <p:nvSpPr>
            <p:cNvPr id="8" name="TextBox 8"/>
            <p:cNvSpPr txBox="1"/>
            <p:nvPr/>
          </p:nvSpPr>
          <p:spPr>
            <a:xfrm>
              <a:off x="627888" y="2387600"/>
              <a:ext cx="1016812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不变磁通量实验支持感应条件，不能证明融合模式优于常规教学。</a:t>
              </a:r>
            </a:p>
          </p:txBody>
        </p:sp>
        <p:sp>
          <p:nvSpPr>
            <p:cNvPr id="9" name="TextBox 9"/>
            <p:cNvSpPr txBox="1"/>
            <p:nvPr/>
          </p:nvSpPr>
          <p:spPr>
            <a:xfrm>
              <a:off x="627888" y="29083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科学本质、探究能力和核心素养提升，是作者主张；对应测量原文</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未报告。</a:t>
              </a:r>
            </a:p>
          </p:txBody>
        </p:sp>
        <p:sp>
          <p:nvSpPr>
            <p:cNvPr id="10" name="TextBox 10"/>
            <p:cNvSpPr txBox="1"/>
            <p:nvPr/>
          </p:nvSpPr>
          <p:spPr>
            <a:xfrm>
              <a:off x="627888" y="3927475"/>
              <a:ext cx="10812509"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高中转化：以反例追问“切割”判据，再让学生用统一条件解释新情境。</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11</a:t>
            </a:r>
          </a:p>
        </p:txBody>
      </p:sp>
      <p:grpSp>
        <p:nvGrpSpPr>
          <p:cNvPr id="14" name="source-citation"/>
          <p:cNvGrpSpPr/>
          <p:nvPr/>
        </p:nvGrpSpPr>
        <p:grpSpPr>
          <a:xfrm>
            <a:off x="632967" y="6175375"/>
            <a:ext cx="5540251" cy="273861"/>
            <a:chOff x="632967" y="6175375"/>
            <a:chExt cx="5540251" cy="273861"/>
          </a:xfrm>
        </p:grpSpPr>
        <p:sp>
          <p:nvSpPr>
            <p:cNvPr id="13" name="TextBox 13"/>
            <p:cNvSpPr txBox="1"/>
            <p:nvPr/>
          </p:nvSpPr>
          <p:spPr>
            <a:xfrm>
              <a:off x="632967" y="6175375"/>
              <a:ext cx="554025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依据：罗成等（2023），pp.26–28；评价与建议为本报告分析。</a:t>
              </a:r>
            </a:p>
          </p:txBody>
        </p:sp>
      </p:grpSp>
    </p:spTree>
    <p:custDataLst>
      <p:tags r:id="rId1"/>
    </p:custData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Zuza等：引导式问题解决的设计目标</a:t>
            </a:r>
          </a:p>
        </p:txBody>
      </p:sp>
      <p:grpSp>
        <p:nvGrpSpPr>
          <p:cNvPr id="11" name="Text 1"/>
          <p:cNvGrpSpPr/>
          <p:nvPr/>
        </p:nvGrpSpPr>
        <p:grpSpPr>
          <a:xfrm>
            <a:off x="627888" y="1371600"/>
            <a:ext cx="10928621" cy="4754880"/>
            <a:chOff x="627888" y="1371600"/>
            <a:chExt cx="10928621"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7937663"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研究：Addressing students’ difficulties with Faraday’s law: A</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guided problem solving approach（2014）。</a:t>
              </a:r>
            </a:p>
          </p:txBody>
        </p:sp>
        <p:sp>
          <p:nvSpPr>
            <p:cNvPr id="8" name="TextBox 8"/>
            <p:cNvSpPr txBox="1"/>
            <p:nvPr/>
          </p:nvSpPr>
          <p:spPr>
            <a:xfrm>
              <a:off x="627888" y="2413000"/>
              <a:ext cx="10928621"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GPS结合问题式学习与显性问题解决指导，强调小组论证和教师追问。</a:t>
              </a:r>
            </a:p>
          </p:txBody>
        </p:sp>
        <p:sp>
          <p:nvSpPr>
            <p:cNvPr id="9" name="TextBox 9"/>
            <p:cNvSpPr txBox="1"/>
            <p:nvPr/>
          </p:nvSpPr>
          <p:spPr>
            <a:xfrm>
              <a:off x="627888" y="2921000"/>
              <a:ext cx="9485376"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目标：联结仪表读数与磁通量、感应电场、受力等解释层次。</a:t>
              </a:r>
            </a:p>
          </p:txBody>
        </p:sp>
        <p:sp>
          <p:nvSpPr>
            <p:cNvPr id="10" name="TextBox 10"/>
            <p:cNvSpPr txBox="1"/>
            <p:nvPr/>
          </p:nvSpPr>
          <p:spPr>
            <a:xfrm>
              <a:off x="627888" y="3454400"/>
              <a:ext cx="1016812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三个问题：何时发生感应？如何定量？如何联系场模型与力模型？</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12</a:t>
            </a:r>
          </a:p>
        </p:txBody>
      </p:sp>
      <p:grpSp>
        <p:nvGrpSpPr>
          <p:cNvPr id="14" name="source-citation"/>
          <p:cNvGrpSpPr/>
          <p:nvPr/>
        </p:nvGrpSpPr>
        <p:grpSpPr>
          <a:xfrm>
            <a:off x="632967" y="6175375"/>
            <a:ext cx="3422898" cy="273861"/>
            <a:chOff x="632967" y="6175375"/>
            <a:chExt cx="3422898" cy="273861"/>
          </a:xfrm>
        </p:grpSpPr>
        <p:sp>
          <p:nvSpPr>
            <p:cNvPr id="13" name="TextBox 13"/>
            <p:cNvSpPr txBox="1"/>
            <p:nvPr/>
          </p:nvSpPr>
          <p:spPr>
            <a:xfrm>
              <a:off x="632967" y="6175375"/>
              <a:ext cx="3422898"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Zuza et al.（2014），pp.3–4，Table I。</a:t>
              </a:r>
            </a:p>
          </p:txBody>
        </p:sp>
      </p:grpSp>
    </p:spTree>
    <p:custDataLst>
      <p:tags r:id="rId1"/>
    </p:custData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Zuza等：样本、实施与历史组比较</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31925"/>
              <a:ext cx="10338816"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巴斯克大学工程专业一年级；2011年75人、2012年73人，共148人。</a:t>
              </a:r>
            </a:p>
          </p:txBody>
        </p:sp>
        <p:sp>
          <p:nvSpPr>
            <p:cNvPr id="8" name="TextBox 8"/>
            <p:cNvSpPr txBox="1"/>
            <p:nvPr/>
          </p:nvSpPr>
          <p:spPr>
            <a:xfrm>
              <a:off x="627888" y="1965325"/>
              <a:ext cx="10680192"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比较组：2008—2009年传统课程学生147人；不是同期随机干预分组。</a:t>
              </a:r>
            </a:p>
          </p:txBody>
        </p:sp>
        <p:sp>
          <p:nvSpPr>
            <p:cNvPr id="9" name="TextBox 9"/>
            <p:cNvSpPr txBox="1"/>
            <p:nvPr/>
          </p:nvSpPr>
          <p:spPr>
            <a:xfrm>
              <a:off x="627888" y="2460625"/>
              <a:ext cx="92598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同一感应章节两周7小时；3—4人合作、角色分工、小组解释与教师</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总结。</a:t>
              </a:r>
            </a:p>
          </p:txBody>
        </p:sp>
        <p:sp>
          <p:nvSpPr>
            <p:cNvPr id="10" name="TextBox 10"/>
            <p:cNvSpPr txBox="1"/>
            <p:nvPr/>
          </p:nvSpPr>
          <p:spPr>
            <a:xfrm>
              <a:off x="627888" y="3441700"/>
              <a:ext cx="9073652"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BEMA入学测验未发现组间显著差异；不能据此排除历届差异与其</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他混杂。</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13</a:t>
            </a:r>
          </a:p>
        </p:txBody>
      </p:sp>
      <p:grpSp>
        <p:nvGrpSpPr>
          <p:cNvPr id="14" name="source-citation"/>
          <p:cNvGrpSpPr/>
          <p:nvPr/>
        </p:nvGrpSpPr>
        <p:grpSpPr>
          <a:xfrm>
            <a:off x="632967" y="6175375"/>
            <a:ext cx="2613723" cy="273861"/>
            <a:chOff x="632967" y="6175375"/>
            <a:chExt cx="2613723" cy="273861"/>
          </a:xfrm>
        </p:grpSpPr>
        <p:sp>
          <p:nvSpPr>
            <p:cNvPr id="13" name="TextBox 13"/>
            <p:cNvSpPr txBox="1"/>
            <p:nvPr/>
          </p:nvSpPr>
          <p:spPr>
            <a:xfrm>
              <a:off x="632967" y="6175375"/>
              <a:ext cx="261372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Zuza et al.（2014），pp.3–5。</a:t>
              </a:r>
            </a:p>
          </p:txBody>
        </p:sp>
      </p:grpSp>
    </p:spTree>
    <p:custDataLst>
      <p:tags r:id="rId1"/>
    </p:custData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Zuza等：测量任务与答案编码</a:t>
            </a:r>
          </a:p>
        </p:txBody>
      </p:sp>
      <p:grpSp>
        <p:nvGrpSpPr>
          <p:cNvPr id="12"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06525"/>
              <a:ext cx="880262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五道解释题：开关、磁铁、转动线圈、移出磁场与圆盘。</a:t>
              </a:r>
            </a:p>
          </p:txBody>
        </p:sp>
        <p:sp>
          <p:nvSpPr>
            <p:cNvPr id="8" name="TextBox 8"/>
            <p:cNvSpPr txBox="1"/>
            <p:nvPr/>
          </p:nvSpPr>
          <p:spPr>
            <a:xfrm>
              <a:off x="627888" y="1939925"/>
              <a:ext cx="846124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前后测情境相似；后测按考试条件施测，并计入成绩。</a:t>
              </a:r>
            </a:p>
          </p:txBody>
        </p:sp>
        <p:sp>
          <p:nvSpPr>
            <p:cNvPr id="9" name="TextBox 9"/>
            <p:cNvSpPr txBox="1"/>
            <p:nvPr/>
          </p:nvSpPr>
          <p:spPr>
            <a:xfrm>
              <a:off x="627888" y="2498725"/>
              <a:ext cx="8897458"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编码：正确场/力解释，对比错误机制、面积误用或不答。</a:t>
              </a:r>
            </a:p>
          </p:txBody>
        </p:sp>
        <p:sp>
          <p:nvSpPr>
            <p:cNvPr id="10" name="TextBox 10"/>
            <p:cNvSpPr txBox="1"/>
            <p:nvPr/>
          </p:nvSpPr>
          <p:spPr>
            <a:xfrm>
              <a:off x="627888" y="3032125"/>
              <a:ext cx="9392522"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可靠性：重测κ=0.88、研究者间κ=0.85；有教师审查与试测。</a:t>
              </a:r>
            </a:p>
          </p:txBody>
        </p:sp>
        <p:sp>
          <p:nvSpPr>
            <p:cNvPr id="11" name="TextBox 11"/>
            <p:cNvSpPr txBox="1"/>
            <p:nvPr/>
          </p:nvSpPr>
          <p:spPr>
            <a:xfrm>
              <a:off x="627888" y="3565525"/>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访谈：2012年15名志愿者，5组三人；课后约1个月，每组约40分钟。</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14</a:t>
            </a:r>
          </a:p>
        </p:txBody>
      </p:sp>
      <p:grpSp>
        <p:nvGrpSpPr>
          <p:cNvPr id="15" name="source-citation"/>
          <p:cNvGrpSpPr/>
          <p:nvPr/>
        </p:nvGrpSpPr>
        <p:grpSpPr>
          <a:xfrm>
            <a:off x="632967" y="6175375"/>
            <a:ext cx="5118381" cy="273861"/>
            <a:chOff x="632967" y="6175375"/>
            <a:chExt cx="5118381" cy="273861"/>
          </a:xfrm>
        </p:grpSpPr>
        <p:sp>
          <p:nvSpPr>
            <p:cNvPr id="14" name="TextBox 14"/>
            <p:cNvSpPr txBox="1"/>
            <p:nvPr/>
          </p:nvSpPr>
          <p:spPr>
            <a:xfrm>
              <a:off x="632967" y="6175375"/>
              <a:ext cx="511838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Zuza et al.（2014），pp.5–6、14，Table II、Appendix B。</a:t>
              </a:r>
            </a:p>
          </p:txBody>
        </p:sp>
      </p:grpSp>
    </p:spTree>
    <p:custDataLst>
      <p:tags r:id="rId1"/>
    </p:custData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Zuza等：Q1与Q2的后测结果不同</a:t>
            </a:r>
          </a:p>
        </p:txBody>
      </p:sp>
      <p:grpSp>
        <p:nvGrpSpPr>
          <p:cNvPr id="11" name="Text 1"/>
          <p:cNvGrpSpPr/>
          <p:nvPr/>
        </p:nvGrpSpPr>
        <p:grpSpPr>
          <a:xfrm>
            <a:off x="640080" y="1371600"/>
            <a:ext cx="10911554" cy="4754880"/>
            <a:chOff x="640080" y="1371600"/>
            <a:chExt cx="10911554"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640080" y="1635394"/>
              <a:ext cx="5810250" cy="4177763"/>
            </a:xfrm>
            <a:prstGeom prst="rect">
              <a:avLst/>
            </a:prstGeom>
          </p:spPr>
        </p:pic>
        <p:sp>
          <p:nvSpPr>
            <p:cNvPr id="8" name="TextBox 8"/>
            <p:cNvSpPr txBox="1"/>
            <p:nvPr/>
          </p:nvSpPr>
          <p:spPr>
            <a:xfrm>
              <a:off x="6846315" y="1416050"/>
              <a:ext cx="3577059"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Q1正确率：干预组6%→</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57%，历史组后测49%；原</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文报告组间不显著。</a:t>
              </a:r>
            </a:p>
          </p:txBody>
        </p:sp>
        <p:sp>
          <p:nvSpPr>
            <p:cNvPr id="9" name="TextBox 9"/>
            <p:cNvSpPr txBox="1"/>
            <p:nvPr/>
          </p:nvSpPr>
          <p:spPr>
            <a:xfrm>
              <a:off x="6846315" y="2755932"/>
              <a:ext cx="3577059"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Q2正确率：干预组4%→</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57%，历史组18%；机制解</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释差异更明显。</a:t>
              </a:r>
            </a:p>
          </p:txBody>
        </p:sp>
        <p:sp>
          <p:nvSpPr>
            <p:cNvPr id="10" name="TextBox 10"/>
            <p:cNvSpPr txBox="1"/>
            <p:nvPr/>
          </p:nvSpPr>
          <p:spPr>
            <a:xfrm>
              <a:off x="6846315" y="4095814"/>
              <a:ext cx="3656861"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Q2机制缺失B.4：干预后测</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10%，历史组40%；结果支</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持重点追问“为什么”。</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15</a:t>
            </a:r>
          </a:p>
        </p:txBody>
      </p:sp>
      <p:grpSp>
        <p:nvGrpSpPr>
          <p:cNvPr id="14" name="source-citation"/>
          <p:cNvGrpSpPr/>
          <p:nvPr/>
        </p:nvGrpSpPr>
        <p:grpSpPr>
          <a:xfrm>
            <a:off x="632967" y="6175375"/>
            <a:ext cx="4572154" cy="273861"/>
            <a:chOff x="632967" y="6175375"/>
            <a:chExt cx="4572154" cy="273861"/>
          </a:xfrm>
        </p:grpSpPr>
        <p:sp>
          <p:nvSpPr>
            <p:cNvPr id="13" name="TextBox 13"/>
            <p:cNvSpPr txBox="1"/>
            <p:nvPr/>
          </p:nvSpPr>
          <p:spPr>
            <a:xfrm>
              <a:off x="632967" y="6175375"/>
              <a:ext cx="4572154"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Zuza et al.（2014），p.7，Table III；CC BY 3.0。</a:t>
              </a:r>
            </a:p>
          </p:txBody>
        </p:sp>
      </p:grpSp>
    </p:spTree>
    <p:custDataLst>
      <p:tags r:id="rId1"/>
    </p:custData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Zuza等：运动情境的改善与残留困难</a:t>
            </a:r>
          </a:p>
        </p:txBody>
      </p:sp>
      <p:grpSp>
        <p:nvGrpSpPr>
          <p:cNvPr id="11" name="Text 1"/>
          <p:cNvGrpSpPr/>
          <p:nvPr/>
        </p:nvGrpSpPr>
        <p:grpSpPr>
          <a:xfrm>
            <a:off x="629919" y="1238250"/>
            <a:ext cx="10921715" cy="4952178"/>
            <a:chOff x="629919" y="1238250"/>
            <a:chExt cx="10921715" cy="4952178"/>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1402080" y="1238250"/>
              <a:ext cx="9144000" cy="3754456"/>
            </a:xfrm>
            <a:prstGeom prst="rect">
              <a:avLst/>
            </a:prstGeom>
          </p:spPr>
        </p:pic>
        <p:sp>
          <p:nvSpPr>
            <p:cNvPr id="8" name="TextBox 8"/>
            <p:cNvSpPr txBox="1"/>
            <p:nvPr/>
          </p:nvSpPr>
          <p:spPr>
            <a:xfrm>
              <a:off x="629919" y="5062556"/>
              <a:ext cx="9872580" cy="391209"/>
            </a:xfrm>
            <a:prstGeom prst="rect">
              <a:avLst/>
            </a:prstGeom>
            <a:noFill/>
            <a:ln>
              <a:noFill/>
            </a:ln>
          </p:spPr>
          <p:txBody>
            <a:bodyPr wrap="none" lIns="0" tIns="0" rIns="0" bIns="0" anchor="t" anchorCtr="0">
              <a:spAutoFit/>
            </a:bodyPr>
            <a:lstStyle/>
            <a:p>
              <a:pPr algn="l" marL="203200" indent="-203200">
                <a:buClr>
                  <a:srgbClr val="000000"/>
                </a:buClr>
                <a:buSzTx/>
                <a:buFontTx/>
                <a:buChar char="●"/>
              </a:pPr>
              <a:r>
                <a:rPr lang="zh-CN" sz="2000" dirty="0">
                  <a:solidFill>
                    <a:srgbClr val="000000"/>
                  </a:solidFill>
                  <a:latin typeface="Times New Roman"/>
                  <a:ea typeface="SimSun"/>
                  <a:cs typeface="Times New Roman"/>
                </a:rPr>
                <a:t>正确率（干预/历史）：Q3 73%/53%，Q4 90%/75.5%，Q5 33%/15%。</a:t>
              </a:r>
            </a:p>
          </p:txBody>
        </p:sp>
        <p:sp>
          <p:nvSpPr>
            <p:cNvPr id="9" name="TextBox 9"/>
            <p:cNvSpPr txBox="1"/>
            <p:nvPr/>
          </p:nvSpPr>
          <p:spPr>
            <a:xfrm>
              <a:off x="629919" y="5430887"/>
              <a:ext cx="6572291" cy="391209"/>
            </a:xfrm>
            <a:prstGeom prst="rect">
              <a:avLst/>
            </a:prstGeom>
            <a:noFill/>
            <a:ln>
              <a:noFill/>
            </a:ln>
          </p:spPr>
          <p:txBody>
            <a:bodyPr wrap="none" lIns="0" tIns="0" rIns="0" bIns="0" anchor="t" anchorCtr="0">
              <a:spAutoFit/>
            </a:bodyPr>
            <a:lstStyle/>
            <a:p>
              <a:pPr algn="l" marL="203200" indent="-203200">
                <a:buClr>
                  <a:srgbClr val="000000"/>
                </a:buClr>
                <a:buSzTx/>
                <a:buFontTx/>
                <a:buChar char="●"/>
              </a:pPr>
              <a:r>
                <a:rPr lang="zh-CN" sz="2000" dirty="0">
                  <a:solidFill>
                    <a:srgbClr val="000000"/>
                  </a:solidFill>
                  <a:latin typeface="Times New Roman"/>
                  <a:ea typeface="SimSun"/>
                  <a:cs typeface="Times New Roman"/>
                </a:rPr>
                <a:t>Q5面积误用仍为30%；空白减少不等于解释完整。</a:t>
              </a:r>
            </a:p>
          </p:txBody>
        </p:sp>
        <p:sp>
          <p:nvSpPr>
            <p:cNvPr id="10" name="TextBox 10"/>
            <p:cNvSpPr txBox="1"/>
            <p:nvPr/>
          </p:nvSpPr>
          <p:spPr>
            <a:xfrm>
              <a:off x="629919" y="5799219"/>
              <a:ext cx="7314227" cy="391209"/>
            </a:xfrm>
            <a:prstGeom prst="rect">
              <a:avLst/>
            </a:prstGeom>
            <a:noFill/>
            <a:ln>
              <a:noFill/>
            </a:ln>
          </p:spPr>
          <p:txBody>
            <a:bodyPr wrap="none" lIns="0" tIns="0" rIns="0" bIns="0" anchor="t" anchorCtr="0">
              <a:spAutoFit/>
            </a:bodyPr>
            <a:lstStyle/>
            <a:p>
              <a:pPr algn="l" marL="203200" indent="-203200">
                <a:buClr>
                  <a:srgbClr val="000000"/>
                </a:buClr>
                <a:buSzTx/>
                <a:buFontTx/>
                <a:buChar char="●"/>
              </a:pPr>
              <a:r>
                <a:rPr lang="zh-CN" sz="2000" dirty="0">
                  <a:solidFill>
                    <a:srgbClr val="000000"/>
                  </a:solidFill>
                  <a:latin typeface="Times New Roman"/>
                  <a:ea typeface="SimSun"/>
                  <a:cs typeface="Times New Roman"/>
                </a:rPr>
                <a:t>作者报告Q3–Q5显著；χ²与p写法有疑点，需保留限定。</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16</a:t>
            </a:r>
          </a:p>
        </p:txBody>
      </p:sp>
      <p:grpSp>
        <p:nvGrpSpPr>
          <p:cNvPr id="14" name="source-citation"/>
          <p:cNvGrpSpPr/>
          <p:nvPr/>
        </p:nvGrpSpPr>
        <p:grpSpPr>
          <a:xfrm>
            <a:off x="632967" y="6175375"/>
            <a:ext cx="4573629" cy="273861"/>
            <a:chOff x="632967" y="6175375"/>
            <a:chExt cx="4573629" cy="273861"/>
          </a:xfrm>
        </p:grpSpPr>
        <p:sp>
          <p:nvSpPr>
            <p:cNvPr id="13" name="TextBox 13"/>
            <p:cNvSpPr txBox="1"/>
            <p:nvPr/>
          </p:nvSpPr>
          <p:spPr>
            <a:xfrm>
              <a:off x="632967" y="6175375"/>
              <a:ext cx="4573629"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Zuza et al.（2014），p.8，Table IV；CC BY 3.0。</a:t>
              </a:r>
            </a:p>
          </p:txBody>
        </p:sp>
      </p:grpSp>
    </p:spTree>
    <p:custDataLst>
      <p:tags r:id="rId1"/>
    </p:custData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Zuza等：可借鉴策略及高中适用边界</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较有证据支持：任务与模型联结、解释性后测及合作论证伴随理解</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改善。</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局限：历届比较、单校单主题、题目特定；不能拆分各教学成分的</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独立作用。</a:t>
              </a:r>
            </a:p>
          </p:txBody>
        </p:sp>
        <p:sp>
          <p:nvSpPr>
            <p:cNvPr id="9" name="TextBox 9"/>
            <p:cNvSpPr txBox="1"/>
            <p:nvPr/>
          </p:nvSpPr>
          <p:spPr>
            <a:xfrm>
              <a:off x="627888" y="335597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高中可借鉴：先预测并说明理由，再比较解释，让教师追问磁通量</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与电荷受力。</a:t>
              </a:r>
            </a:p>
          </p:txBody>
        </p:sp>
        <p:sp>
          <p:nvSpPr>
            <p:cNvPr id="10" name="TextBox 10"/>
            <p:cNvSpPr txBox="1"/>
            <p:nvPr/>
          </p:nvSpPr>
          <p:spPr>
            <a:xfrm>
              <a:off x="627888" y="433705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需改编：微积分、非保守场与积分曲面不宜照搬；圆盘案例可作拓</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展。</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17</a:t>
            </a:r>
          </a:p>
        </p:txBody>
      </p:sp>
      <p:grpSp>
        <p:nvGrpSpPr>
          <p:cNvPr id="14" name="source-citation"/>
          <p:cNvGrpSpPr/>
          <p:nvPr/>
        </p:nvGrpSpPr>
        <p:grpSpPr>
          <a:xfrm>
            <a:off x="632967" y="6175375"/>
            <a:ext cx="5600763" cy="273861"/>
            <a:chOff x="632967" y="6175375"/>
            <a:chExt cx="5600763" cy="273861"/>
          </a:xfrm>
        </p:grpSpPr>
        <p:sp>
          <p:nvSpPr>
            <p:cNvPr id="13" name="TextBox 13"/>
            <p:cNvSpPr txBox="1"/>
            <p:nvPr/>
          </p:nvSpPr>
          <p:spPr>
            <a:xfrm>
              <a:off x="632967" y="6175375"/>
              <a:ext cx="5600763"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依据：Zuza et al.（2014），pp.11–14；高中改编为本报告建议。</a:t>
              </a:r>
            </a:p>
          </p:txBody>
        </p:sp>
      </p:grpSp>
    </p:spTree>
    <p:custDataLst>
      <p:tags r:id="rId1"/>
    </p:custData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Jelicic等：用认知资源理解学生推理</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7133539"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研究：Analyzing high school students’ reasoning about</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electromagnetic induction（2017）。</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问题：高中生有哪些推理困难？形成何种心智模型，是否跨情境一</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致？</a:t>
              </a:r>
            </a:p>
          </p:txBody>
        </p:sp>
        <p:sp>
          <p:nvSpPr>
            <p:cNvPr id="9" name="TextBox 9"/>
            <p:cNvSpPr txBox="1"/>
            <p:nvPr/>
          </p:nvSpPr>
          <p:spPr>
            <a:xfrm>
              <a:off x="627888" y="3355975"/>
              <a:ext cx="8632119"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理论：knowledge-in-pieces；p-prims和概念资源可能随任务被临</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时激活。</a:t>
              </a:r>
            </a:p>
          </p:txBody>
        </p:sp>
        <p:sp>
          <p:nvSpPr>
            <p:cNvPr id="10" name="TextBox 10"/>
            <p:cNvSpPr txBox="1"/>
            <p:nvPr/>
          </p:nvSpPr>
          <p:spPr>
            <a:xfrm>
              <a:off x="627888" y="433705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不能把一次错误回答自动视为稳定迷思；模型是研究者依据解释作</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出的推断。</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18</a:t>
            </a:r>
          </a:p>
        </p:txBody>
      </p:sp>
      <p:grpSp>
        <p:nvGrpSpPr>
          <p:cNvPr id="14" name="source-citation"/>
          <p:cNvGrpSpPr/>
          <p:nvPr/>
        </p:nvGrpSpPr>
        <p:grpSpPr>
          <a:xfrm>
            <a:off x="632967" y="6175375"/>
            <a:ext cx="4062148" cy="273861"/>
            <a:chOff x="632967" y="6175375"/>
            <a:chExt cx="4062148" cy="273861"/>
          </a:xfrm>
        </p:grpSpPr>
        <p:sp>
          <p:nvSpPr>
            <p:cNvPr id="13" name="TextBox 13"/>
            <p:cNvSpPr txBox="1"/>
            <p:nvPr/>
          </p:nvSpPr>
          <p:spPr>
            <a:xfrm>
              <a:off x="632967" y="6175375"/>
              <a:ext cx="4062148"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Jelicic, Planinic &amp; Planinsic（2017），pp.1–4。</a:t>
              </a:r>
            </a:p>
          </p:txBody>
        </p:sp>
      </p:grpSp>
    </p:spTree>
    <p:custDataLst>
      <p:tags r:id="rId1"/>
    </p:custData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Jelicic等：样本与实验访谈设计</a:t>
            </a:r>
          </a:p>
        </p:txBody>
      </p:sp>
      <p:grpSp>
        <p:nvGrpSpPr>
          <p:cNvPr id="12" name="Text 1"/>
          <p:cNvGrpSpPr/>
          <p:nvPr/>
        </p:nvGrpSpPr>
        <p:grpSpPr>
          <a:xfrm>
            <a:off x="640080" y="1371600"/>
            <a:ext cx="10911554" cy="4754880"/>
            <a:chOff x="640080" y="1371600"/>
            <a:chExt cx="10911554"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640080" y="1524000"/>
              <a:ext cx="3570054" cy="4400550"/>
            </a:xfrm>
            <a:prstGeom prst="rect">
              <a:avLst/>
            </a:prstGeom>
          </p:spPr>
        </p:pic>
        <p:sp>
          <p:nvSpPr>
            <p:cNvPr id="8" name="TextBox 8"/>
            <p:cNvSpPr txBox="1"/>
            <p:nvPr/>
          </p:nvSpPr>
          <p:spPr>
            <a:xfrm>
              <a:off x="5322315" y="1416050"/>
              <a:ext cx="507670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克罗地亚萨格勒布3校9人；16–17岁，</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便利抽样，自愿参与。</a:t>
              </a:r>
            </a:p>
          </p:txBody>
        </p:sp>
        <p:sp>
          <p:nvSpPr>
            <p:cNvPr id="9" name="TextBox 9"/>
            <p:cNvSpPr txBox="1"/>
            <p:nvPr/>
          </p:nvSpPr>
          <p:spPr>
            <a:xfrm>
              <a:off x="5322315" y="2336832"/>
              <a:ext cx="493065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每校3人，成绩等级3–5；传统电磁学</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教学结束后1个月内访谈。</a:t>
              </a:r>
            </a:p>
          </p:txBody>
        </p:sp>
        <p:sp>
          <p:nvSpPr>
            <p:cNvPr id="10" name="TextBox 10"/>
            <p:cNvSpPr txBox="1"/>
            <p:nvPr/>
          </p:nvSpPr>
          <p:spPr>
            <a:xfrm>
              <a:off x="5322315" y="3257614"/>
              <a:ext cx="507670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六项实验：前3项诊断基础电磁概念，</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后3项考查感应与楞次定律。</a:t>
              </a:r>
            </a:p>
          </p:txBody>
        </p:sp>
        <p:sp>
          <p:nvSpPr>
            <p:cNvPr id="11" name="TextBox 11"/>
            <p:cNvSpPr txBox="1"/>
            <p:nvPr/>
          </p:nvSpPr>
          <p:spPr>
            <a:xfrm>
              <a:off x="5322315" y="4178395"/>
              <a:ext cx="5222751"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先观察描述，再解释与追问；平均45分</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钟，可自主改变磁铁速度和方向。</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19</a:t>
            </a:r>
          </a:p>
        </p:txBody>
      </p:sp>
      <p:grpSp>
        <p:nvGrpSpPr>
          <p:cNvPr id="15" name="source-citation"/>
          <p:cNvGrpSpPr/>
          <p:nvPr/>
        </p:nvGrpSpPr>
        <p:grpSpPr>
          <a:xfrm>
            <a:off x="632967" y="6175375"/>
            <a:ext cx="4594802" cy="273861"/>
            <a:chOff x="632967" y="6175375"/>
            <a:chExt cx="4594802" cy="273861"/>
          </a:xfrm>
        </p:grpSpPr>
        <p:sp>
          <p:nvSpPr>
            <p:cNvPr id="14" name="TextBox 14"/>
            <p:cNvSpPr txBox="1"/>
            <p:nvPr/>
          </p:nvSpPr>
          <p:spPr>
            <a:xfrm>
              <a:off x="632967" y="6175375"/>
              <a:ext cx="4594802"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Jelicic et al.（2017），p.5，Figure 4；CC BY 4.0。</a:t>
              </a:r>
            </a:p>
          </p:txBody>
        </p:sp>
      </p:grpSp>
    </p:spTree>
    <p:custDataLst>
      <p:tags r:id="rId1"/>
    </p:custData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Jelicic等：编码与频次的正确读法</a:t>
            </a:r>
          </a:p>
        </p:txBody>
      </p:sp>
      <p:grpSp>
        <p:nvGrpSpPr>
          <p:cNvPr id="11" name="Text 1"/>
          <p:cNvGrpSpPr/>
          <p:nvPr/>
        </p:nvGrpSpPr>
        <p:grpSpPr>
          <a:xfrm>
            <a:off x="640080" y="1371600"/>
            <a:ext cx="10911554" cy="4754880"/>
            <a:chOff x="640080" y="1371600"/>
            <a:chExt cx="10911554"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pic>
          <p:nvPicPr>
            <p:cNvPr id="7" name="Image 7"/>
            <p:cNvPicPr>
              <a:picLocks noChangeAspect="1"/>
            </p:cNvPicPr>
            <p:nvPr/>
          </p:nvPicPr>
          <p:blipFill>
            <a:blip r:embed="rId4"/>
            <a:stretch>
              <a:fillRect/>
            </a:stretch>
          </p:blipFill>
          <p:spPr>
            <a:xfrm>
              <a:off x="640080" y="1622074"/>
              <a:ext cx="5810250" cy="4204402"/>
            </a:xfrm>
            <a:prstGeom prst="rect">
              <a:avLst/>
            </a:prstGeom>
          </p:spPr>
        </p:pic>
        <p:sp>
          <p:nvSpPr>
            <p:cNvPr id="8" name="TextBox 8"/>
            <p:cNvSpPr txBox="1"/>
            <p:nvPr/>
          </p:nvSpPr>
          <p:spPr>
            <a:xfrm>
              <a:off x="6846315" y="1416050"/>
              <a:ext cx="4054351"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分析：视频转写，联结语言、</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手势与图示；归并代码和模</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型。</a:t>
              </a:r>
            </a:p>
          </p:txBody>
        </p:sp>
        <p:sp>
          <p:nvSpPr>
            <p:cNvPr id="9" name="TextBox 9"/>
            <p:cNvSpPr txBox="1"/>
            <p:nvPr/>
          </p:nvSpPr>
          <p:spPr>
            <a:xfrm>
              <a:off x="6846315" y="2755932"/>
              <a:ext cx="3835276" cy="8689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两人独立分析，第三人处理</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疑义；协商一致，未报告κ。</a:t>
              </a:r>
            </a:p>
          </p:txBody>
        </p:sp>
        <p:sp>
          <p:nvSpPr>
            <p:cNvPr id="10" name="TextBox 10"/>
            <p:cNvSpPr txBox="1"/>
            <p:nvPr/>
          </p:nvSpPr>
          <p:spPr>
            <a:xfrm>
              <a:off x="6846315" y="3676714"/>
              <a:ext cx="3892177" cy="1288083"/>
            </a:xfrm>
            <a:prstGeom prst="rect">
              <a:avLst/>
            </a:prstGeom>
            <a:noFill/>
            <a:ln>
              <a:noFill/>
            </a:ln>
          </p:spPr>
          <p:txBody>
            <a:bodyPr wrap="none" lIns="0" tIns="0" rIns="0" bIns="0" anchor="t" anchorCtr="0">
              <a:spAutoFit/>
            </a:bodyPr>
            <a:lstStyle/>
            <a:p>
              <a:pPr algn="l" marL="233680" indent="-233680">
                <a:lnSpc>
                  <a:spcPts val="3300"/>
                </a:lnSpc>
                <a:buClr>
                  <a:srgbClr val="000000"/>
                </a:buClr>
                <a:buSzTx/>
                <a:buFontTx/>
                <a:buChar char="●"/>
              </a:pPr>
              <a:r>
                <a:rPr lang="zh-CN" sz="2300" dirty="0">
                  <a:solidFill>
                    <a:srgbClr val="000000"/>
                  </a:solidFill>
                  <a:latin typeface="Times New Roman"/>
                  <a:ea typeface="SimSun"/>
                  <a:cs typeface="Times New Roman"/>
                </a:rPr>
                <a:t>B类12次/6人；D类6次/3人。</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次数不是人数，不能外推总</a:t>
              </a:r>
              <a:br>
                <a:rPr lang="zh-CN" sz="2300" dirty="0">
                  <a:solidFill>
                    <a:srgbClr val="000000"/>
                  </a:solidFill>
                  <a:latin typeface="Times New Roman"/>
                  <a:ea typeface="SimSun"/>
                  <a:cs typeface="Times New Roman"/>
                </a:rPr>
              </a:br>
              <a:r>
                <a:rPr lang="zh-CN" sz="2300" dirty="0">
                  <a:solidFill>
                    <a:srgbClr val="000000"/>
                  </a:solidFill>
                  <a:latin typeface="Times New Roman"/>
                  <a:ea typeface="SimSun"/>
                  <a:cs typeface="Times New Roman"/>
                </a:rPr>
                <a:t xml:space="preserve">  体比例。</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20</a:t>
            </a:r>
          </a:p>
        </p:txBody>
      </p:sp>
      <p:grpSp>
        <p:nvGrpSpPr>
          <p:cNvPr id="14" name="source-citation"/>
          <p:cNvGrpSpPr/>
          <p:nvPr/>
        </p:nvGrpSpPr>
        <p:grpSpPr>
          <a:xfrm>
            <a:off x="632967" y="6175375"/>
            <a:ext cx="5961989" cy="273861"/>
            <a:chOff x="632967" y="6175375"/>
            <a:chExt cx="5961989" cy="273861"/>
          </a:xfrm>
        </p:grpSpPr>
        <p:sp>
          <p:nvSpPr>
            <p:cNvPr id="13" name="TextBox 13"/>
            <p:cNvSpPr txBox="1"/>
            <p:nvPr/>
          </p:nvSpPr>
          <p:spPr>
            <a:xfrm>
              <a:off x="632967" y="6175375"/>
              <a:ext cx="5961989"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Jelicic et al.（2017），p.10，Table II（A–D节选）；CC BY 4.0。</a:t>
              </a:r>
            </a:p>
          </p:txBody>
        </p:sp>
      </p:grpSp>
    </p:spTree>
    <p:custDataLst>
      <p:tags r:id="rId1"/>
    </p:custData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Jelicic等：三种模型怎样生成解释</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磁场重叠模型：默认线圈原先就有磁场；合并或分离两个场被当作</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电流来源。</a:t>
              </a:r>
            </a:p>
          </p:txBody>
        </p:sp>
        <p:sp>
          <p:nvSpPr>
            <p:cNvPr id="8" name="TextBox 8"/>
            <p:cNvSpPr txBox="1"/>
            <p:nvPr/>
          </p:nvSpPr>
          <p:spPr>
            <a:xfrm>
              <a:off x="627888" y="2387600"/>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电荷吸斥模型：磁极直接推动、拉回电荷；把磁极与正负电荷混淆。</a:t>
              </a:r>
            </a:p>
          </p:txBody>
        </p:sp>
        <p:sp>
          <p:nvSpPr>
            <p:cNvPr id="9" name="TextBox 9"/>
            <p:cNvSpPr txBox="1"/>
            <p:nvPr/>
          </p:nvSpPr>
          <p:spPr>
            <a:xfrm>
              <a:off x="627888" y="29083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磁极相互作用模型：以磁铁与线圈吸斥说明电流；往往缺少产生机</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制。</a:t>
              </a:r>
            </a:p>
          </p:txBody>
        </p:sp>
        <p:sp>
          <p:nvSpPr>
            <p:cNvPr id="10" name="TextBox 10"/>
            <p:cNvSpPr txBox="1"/>
            <p:nvPr/>
          </p:nvSpPr>
          <p:spPr>
            <a:xfrm>
              <a:off x="627888" y="3889375"/>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资源解释：寻找“推动者”、平衡或抵消；能解释现象表面，却未必符</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合物理机制。</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21</a:t>
            </a:r>
          </a:p>
        </p:txBody>
      </p:sp>
      <p:grpSp>
        <p:nvGrpSpPr>
          <p:cNvPr id="14" name="source-citation"/>
          <p:cNvGrpSpPr/>
          <p:nvPr/>
        </p:nvGrpSpPr>
        <p:grpSpPr>
          <a:xfrm>
            <a:off x="632967" y="6175375"/>
            <a:ext cx="2919557" cy="273861"/>
            <a:chOff x="632967" y="6175375"/>
            <a:chExt cx="2919557" cy="273861"/>
          </a:xfrm>
        </p:grpSpPr>
        <p:sp>
          <p:nvSpPr>
            <p:cNvPr id="13" name="TextBox 13"/>
            <p:cNvSpPr txBox="1"/>
            <p:nvPr/>
          </p:nvSpPr>
          <p:spPr>
            <a:xfrm>
              <a:off x="632967" y="6175375"/>
              <a:ext cx="2919557"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Jelicic et al.（2017），pp.11–14。</a:t>
              </a:r>
            </a:p>
          </p:txBody>
        </p:sp>
      </p:grpSp>
    </p:spTree>
    <p:custDataLst>
      <p:tags r:id="rId1"/>
    </p:custData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Jelicic等：发现、局限与高中教学启示</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访谈中无人明确使用“磁通量”解释感应；有学生显示概念形成的初步</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线索。</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模型仅少数跨任务一致；高成绩不保证能解释实验，记忆权威可能</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阻断推理。</a:t>
              </a:r>
            </a:p>
          </p:txBody>
        </p:sp>
        <p:sp>
          <p:nvSpPr>
            <p:cNvPr id="9" name="TextBox 9"/>
            <p:cNvSpPr txBox="1"/>
            <p:nvPr/>
          </p:nvSpPr>
          <p:spPr>
            <a:xfrm>
              <a:off x="627888" y="3355975"/>
              <a:ext cx="92598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证据边界：9人便利样本、教学经历信息有限；模型或在访谈中即时</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形成。</a:t>
              </a:r>
            </a:p>
          </p:txBody>
        </p:sp>
        <p:sp>
          <p:nvSpPr>
            <p:cNvPr id="10" name="TextBox 10"/>
            <p:cNvSpPr txBox="1"/>
            <p:nvPr/>
          </p:nvSpPr>
          <p:spPr>
            <a:xfrm>
              <a:off x="627888" y="433705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高中转化：让学生预测、画图、追踪解释，并检验同一模型能否解</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释新实验。</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22</a:t>
            </a:r>
          </a:p>
        </p:txBody>
      </p:sp>
      <p:grpSp>
        <p:nvGrpSpPr>
          <p:cNvPr id="14" name="source-citation"/>
          <p:cNvGrpSpPr/>
          <p:nvPr/>
        </p:nvGrpSpPr>
        <p:grpSpPr>
          <a:xfrm>
            <a:off x="632967" y="6175375"/>
            <a:ext cx="5707461" cy="273861"/>
            <a:chOff x="632967" y="6175375"/>
            <a:chExt cx="5707461" cy="273861"/>
          </a:xfrm>
        </p:grpSpPr>
        <p:sp>
          <p:nvSpPr>
            <p:cNvPr id="13" name="TextBox 13"/>
            <p:cNvSpPr txBox="1"/>
            <p:nvPr/>
          </p:nvSpPr>
          <p:spPr>
            <a:xfrm>
              <a:off x="632967" y="6175375"/>
              <a:ext cx="570746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依据：Jelicic et al.（2017），pp.13–17；教学转化为本报告建议。</a:t>
              </a:r>
            </a:p>
          </p:txBody>
        </p:sp>
      </p:grpSp>
    </p:spTree>
    <p:custDataLst>
      <p:tags r:id="rId1"/>
    </p:custData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综合比较：四篇研究分别补充什么</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孙可、陈刚｜学习心理学：解释结论如何形成；材料是任务分解、</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实验关系表与方案。</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罗成等｜融合模式：说明历史问题如何组织概念建构；有24人前测</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和教学案例。</a:t>
              </a:r>
            </a:p>
          </p:txBody>
        </p:sp>
        <p:sp>
          <p:nvSpPr>
            <p:cNvPr id="9" name="TextBox 9"/>
            <p:cNvSpPr txBox="1"/>
            <p:nvPr/>
          </p:nvSpPr>
          <p:spPr>
            <a:xfrm>
              <a:off x="627888" y="3355975"/>
              <a:ext cx="9056522"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Zuza等｜GPS与学习需求：评估解释性任务序列；有前后测、历史</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组比较和访谈。</a:t>
              </a:r>
            </a:p>
          </p:txBody>
        </p:sp>
        <p:sp>
          <p:nvSpPr>
            <p:cNvPr id="10" name="TextBox 10"/>
            <p:cNvSpPr txBox="1"/>
            <p:nvPr/>
          </p:nvSpPr>
          <p:spPr>
            <a:xfrm>
              <a:off x="627888" y="4337050"/>
              <a:ext cx="9123883"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Jelicic等｜认知资源：揭示解释如何即时生成；有9人的跨实验质性</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资料。</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23</a:t>
            </a:r>
          </a:p>
        </p:txBody>
      </p:sp>
      <p:grpSp>
        <p:nvGrpSpPr>
          <p:cNvPr id="14" name="source-citation"/>
          <p:cNvGrpSpPr/>
          <p:nvPr/>
        </p:nvGrpSpPr>
        <p:grpSpPr>
          <a:xfrm>
            <a:off x="632967" y="6175375"/>
            <a:ext cx="3797811" cy="273861"/>
            <a:chOff x="632967" y="6175375"/>
            <a:chExt cx="3797811" cy="273861"/>
          </a:xfrm>
        </p:grpSpPr>
        <p:sp>
          <p:nvSpPr>
            <p:cNvPr id="13" name="TextBox 13"/>
            <p:cNvSpPr txBox="1"/>
            <p:nvPr/>
          </p:nvSpPr>
          <p:spPr>
            <a:xfrm>
              <a:off x="632967" y="6175375"/>
              <a:ext cx="379781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依据：四篇全文；比较为本报告综合分析。</a:t>
              </a:r>
            </a:p>
          </p:txBody>
        </p:sp>
      </p:grpSp>
    </p:spTree>
    <p:custDataLst>
      <p:tags r:id="rId1"/>
    </p:custData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综合比较：困难、策略与效果的对应关系</a:t>
            </a:r>
          </a:p>
        </p:txBody>
      </p:sp>
      <p:grpSp>
        <p:nvGrpSpPr>
          <p:cNvPr id="11" name="Text 1"/>
          <p:cNvGrpSpPr/>
          <p:nvPr/>
        </p:nvGrpSpPr>
        <p:grpSpPr>
          <a:xfrm>
            <a:off x="627888" y="1371600"/>
            <a:ext cx="10928621" cy="4754880"/>
            <a:chOff x="627888" y="1371600"/>
            <a:chExt cx="10928621"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方向判断：子结论与分类比较有设计依据；“来拒去留”学习效果尚无</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测量。</a:t>
              </a:r>
            </a:p>
          </p:txBody>
        </p:sp>
        <p:sp>
          <p:nvSpPr>
            <p:cNvPr id="8" name="TextBox 8"/>
            <p:cNvSpPr txBox="1"/>
            <p:nvPr/>
          </p:nvSpPr>
          <p:spPr>
            <a:xfrm>
              <a:off x="627888" y="2374900"/>
              <a:ext cx="937796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感应条件：历史反例针对“只靠切割”；前测支持需求，未验证模式优</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越性。</a:t>
              </a:r>
            </a:p>
          </p:txBody>
        </p:sp>
        <p:sp>
          <p:nvSpPr>
            <p:cNvPr id="9" name="TextBox 9"/>
            <p:cNvSpPr txBox="1"/>
            <p:nvPr/>
          </p:nvSpPr>
          <p:spPr>
            <a:xfrm>
              <a:off x="627888" y="3394075"/>
              <a:ext cx="10928621"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解释机制：GPS有题目特定的改善证据；圆盘与多层解释困难仍残留。</a:t>
              </a:r>
            </a:p>
          </p:txBody>
        </p:sp>
        <p:sp>
          <p:nvSpPr>
            <p:cNvPr id="10" name="TextBox 10"/>
            <p:cNvSpPr txBox="1"/>
            <p:nvPr/>
          </p:nvSpPr>
          <p:spPr>
            <a:xfrm>
              <a:off x="627888" y="388937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推理一致性：访谈揭示资源误用与模型切换；提出诊断线索，未检</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验补救效果。</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24</a:t>
            </a:r>
          </a:p>
        </p:txBody>
      </p:sp>
      <p:grpSp>
        <p:nvGrpSpPr>
          <p:cNvPr id="14" name="source-citation"/>
          <p:cNvGrpSpPr/>
          <p:nvPr/>
        </p:nvGrpSpPr>
        <p:grpSpPr>
          <a:xfrm>
            <a:off x="632967" y="6175375"/>
            <a:ext cx="3797811" cy="273861"/>
            <a:chOff x="632967" y="6175375"/>
            <a:chExt cx="3797811" cy="273861"/>
          </a:xfrm>
        </p:grpSpPr>
        <p:sp>
          <p:nvSpPr>
            <p:cNvPr id="13" name="TextBox 13"/>
            <p:cNvSpPr txBox="1"/>
            <p:nvPr/>
          </p:nvSpPr>
          <p:spPr>
            <a:xfrm>
              <a:off x="632967" y="6175375"/>
              <a:ext cx="379781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依据：四篇全文；比较为本报告综合分析。</a:t>
              </a:r>
            </a:p>
          </p:txBody>
        </p:sp>
      </p:grpSp>
    </p:spTree>
    <p:custDataLst>
      <p:tags r:id="rId1"/>
    </p:custData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高中教学建议：任务、理由与可测产出</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31925"/>
              <a:ext cx="10622431"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课前诊断：并列“磁铁静止/移动”“开关稳态/瞬间”，要求预测及理由。</a:t>
              </a:r>
            </a:p>
          </p:txBody>
        </p:sp>
        <p:sp>
          <p:nvSpPr>
            <p:cNvPr id="8" name="TextBox 8"/>
            <p:cNvSpPr txBox="1"/>
            <p:nvPr/>
          </p:nvSpPr>
          <p:spPr>
            <a:xfrm>
              <a:off x="627888" y="19272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实验比较：改变磁极、速度、面积或取向，每次只追踪明确变量与</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磁通量变化。</a:t>
              </a:r>
            </a:p>
          </p:txBody>
        </p:sp>
        <p:sp>
          <p:nvSpPr>
            <p:cNvPr id="9" name="TextBox 9"/>
            <p:cNvSpPr txBox="1"/>
            <p:nvPr/>
          </p:nvSpPr>
          <p:spPr>
            <a:xfrm>
              <a:off x="627888" y="29083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方向解释：先判断原磁通量变化，再确定感应磁场，最后使用安培</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定则。</a:t>
              </a:r>
            </a:p>
          </p:txBody>
        </p:sp>
        <p:sp>
          <p:nvSpPr>
            <p:cNvPr id="10" name="TextBox 10"/>
            <p:cNvSpPr txBox="1"/>
            <p:nvPr/>
          </p:nvSpPr>
          <p:spPr>
            <a:xfrm>
              <a:off x="627888" y="388937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迁移评价：换装置、给不感应情境；同时记录答案、理由与模型修</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订。</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25</a:t>
            </a:r>
          </a:p>
        </p:txBody>
      </p:sp>
      <p:grpSp>
        <p:nvGrpSpPr>
          <p:cNvPr id="14" name="source-citation"/>
          <p:cNvGrpSpPr/>
          <p:nvPr/>
        </p:nvGrpSpPr>
        <p:grpSpPr>
          <a:xfrm>
            <a:off x="632967" y="6175375"/>
            <a:ext cx="5988307" cy="273861"/>
            <a:chOff x="632967" y="6175375"/>
            <a:chExt cx="5988307" cy="273861"/>
          </a:xfrm>
        </p:grpSpPr>
        <p:sp>
          <p:nvSpPr>
            <p:cNvPr id="13" name="TextBox 13"/>
            <p:cNvSpPr txBox="1"/>
            <p:nvPr/>
          </p:nvSpPr>
          <p:spPr>
            <a:xfrm>
              <a:off x="632967" y="6175375"/>
              <a:ext cx="5988307"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本报告教学建议：依据四篇研究提出，尚非经共同验证的教学模式。</a:t>
              </a:r>
            </a:p>
          </p:txBody>
        </p:sp>
      </p:grpSp>
    </p:spTree>
    <p:custDataLst>
      <p:tags r:id="rId1"/>
    </p:custData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批判性反思：怎样补强后续研究证据</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3938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分开测量：感应条件、方向推理、机制解释与科学本质，不用单一</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总分包办。</a:t>
              </a:r>
            </a:p>
          </p:txBody>
        </p:sp>
        <p:sp>
          <p:nvSpPr>
            <p:cNvPr id="8" name="TextBox 8"/>
            <p:cNvSpPr txBox="1"/>
            <p:nvPr/>
          </p:nvSpPr>
          <p:spPr>
            <a:xfrm>
              <a:off x="627888" y="23749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比较设计：尽可能采用同期可比班级，记录教师、课时、基础水平</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与实施质量。</a:t>
              </a:r>
            </a:p>
          </p:txBody>
        </p:sp>
        <p:sp>
          <p:nvSpPr>
            <p:cNvPr id="9" name="TextBox 9"/>
            <p:cNvSpPr txBox="1"/>
            <p:nvPr/>
          </p:nvSpPr>
          <p:spPr>
            <a:xfrm>
              <a:off x="627888" y="335597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资料三角验证：前后测与延迟迁移题，结合课堂记录、个体解释和</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独立编码。</a:t>
              </a:r>
            </a:p>
          </p:txBody>
        </p:sp>
        <p:sp>
          <p:nvSpPr>
            <p:cNvPr id="10" name="TextBox 10"/>
            <p:cNvSpPr txBox="1"/>
            <p:nvPr/>
          </p:nvSpPr>
          <p:spPr>
            <a:xfrm>
              <a:off x="627888" y="433705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透明报告：样本及缺失、题目全文、频次口径、检验与不确定性；</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复核异常数值。</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26</a:t>
            </a:r>
          </a:p>
        </p:txBody>
      </p:sp>
      <p:grpSp>
        <p:nvGrpSpPr>
          <p:cNvPr id="14" name="source-citation"/>
          <p:cNvGrpSpPr/>
          <p:nvPr/>
        </p:nvGrpSpPr>
        <p:grpSpPr>
          <a:xfrm>
            <a:off x="632967" y="6175375"/>
            <a:ext cx="4395219" cy="273861"/>
            <a:chOff x="632967" y="6175375"/>
            <a:chExt cx="4395219" cy="273861"/>
          </a:xfrm>
        </p:grpSpPr>
        <p:sp>
          <p:nvSpPr>
            <p:cNvPr id="13" name="TextBox 13"/>
            <p:cNvSpPr txBox="1"/>
            <p:nvPr/>
          </p:nvSpPr>
          <p:spPr>
            <a:xfrm>
              <a:off x="632967" y="6175375"/>
              <a:ext cx="4395219"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本报告后续研究建议：针对四篇文献的证据局限。</a:t>
              </a:r>
            </a:p>
          </p:txBody>
        </p:sp>
      </p:grpSp>
    </p:spTree>
    <p:custDataLst>
      <p:tags r:id="rId1"/>
    </p:custData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总结：从合理设计走向可检验的学习</a:t>
            </a:r>
          </a:p>
        </p:txBody>
      </p:sp>
      <p:grpSp>
        <p:nvGrpSpPr>
          <p:cNvPr id="11" name="Text 1"/>
          <p:cNvGrpSpPr/>
          <p:nvPr/>
        </p:nvGrpSpPr>
        <p:grpSpPr>
          <a:xfrm>
            <a:off x="627888" y="1371600"/>
            <a:ext cx="10923746" cy="4754880"/>
            <a:chOff x="627888" y="1371600"/>
            <a:chExt cx="10923746"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7888" y="1406525"/>
              <a:ext cx="9826752"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概念层面：以磁通量变化统整条件，以楞次定律组织方向推理。</a:t>
              </a:r>
            </a:p>
          </p:txBody>
        </p:sp>
        <p:sp>
          <p:nvSpPr>
            <p:cNvPr id="8" name="TextBox 8"/>
            <p:cNvSpPr txBox="1"/>
            <p:nvPr/>
          </p:nvSpPr>
          <p:spPr>
            <a:xfrm>
              <a:off x="627888" y="1927225"/>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教学层面：实验比较、历史问题和引导论证，分别提供不同的学习</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支架。</a:t>
              </a:r>
            </a:p>
          </p:txBody>
        </p:sp>
        <p:sp>
          <p:nvSpPr>
            <p:cNvPr id="9" name="TextBox 9"/>
            <p:cNvSpPr txBox="1"/>
            <p:nvPr/>
          </p:nvSpPr>
          <p:spPr>
            <a:xfrm>
              <a:off x="627888" y="2921000"/>
              <a:ext cx="10509504" cy="469392"/>
            </a:xfrm>
            <a:prstGeom prst="rect">
              <a:avLst/>
            </a:prstGeom>
            <a:noFill/>
            <a:ln>
              <a:noFill/>
            </a:ln>
          </p:spPr>
          <p:txBody>
            <a:bodyPr wrap="none" lIns="0" tIns="0" rIns="0" bIns="0" anchor="t" anchorCtr="0">
              <a:spAutoFit/>
            </a:bodyPr>
            <a:lstStyle/>
            <a:p>
              <a:pPr algn="l" marL="243840" indent="-243840">
                <a:buClr>
                  <a:srgbClr val="000000"/>
                </a:buClr>
                <a:buSzTx/>
                <a:buFontTx/>
                <a:buChar char="●"/>
              </a:pPr>
              <a:r>
                <a:rPr lang="zh-CN" sz="2400" dirty="0">
                  <a:solidFill>
                    <a:srgbClr val="000000"/>
                  </a:solidFill>
                  <a:latin typeface="Times New Roman"/>
                  <a:ea typeface="SimSun"/>
                  <a:cs typeface="Times New Roman"/>
                </a:rPr>
                <a:t>证据层面：规律验证、学情诊断、质性解释与干预评估，各有边界。</a:t>
              </a:r>
            </a:p>
          </p:txBody>
        </p:sp>
        <p:sp>
          <p:nvSpPr>
            <p:cNvPr id="10" name="TextBox 10"/>
            <p:cNvSpPr txBox="1"/>
            <p:nvPr/>
          </p:nvSpPr>
          <p:spPr>
            <a:xfrm>
              <a:off x="627888" y="3441700"/>
              <a:ext cx="9107424" cy="917067"/>
            </a:xfrm>
            <a:prstGeom prst="rect">
              <a:avLst/>
            </a:prstGeom>
            <a:noFill/>
            <a:ln>
              <a:noFill/>
            </a:ln>
          </p:spPr>
          <p:txBody>
            <a:bodyPr wrap="none" lIns="0" tIns="0" rIns="0" bIns="0" anchor="t" anchorCtr="0">
              <a:spAutoFit/>
            </a:bodyPr>
            <a:lstStyle/>
            <a:p>
              <a:pPr algn="l" marL="243840" indent="-243840">
                <a:lnSpc>
                  <a:spcPts val="3525"/>
                </a:lnSpc>
                <a:buClr>
                  <a:srgbClr val="000000"/>
                </a:buClr>
                <a:buSzTx/>
                <a:buFontTx/>
                <a:buChar char="●"/>
              </a:pPr>
              <a:r>
                <a:rPr lang="zh-CN" sz="2400" dirty="0">
                  <a:solidFill>
                    <a:srgbClr val="000000"/>
                  </a:solidFill>
                  <a:latin typeface="Times New Roman"/>
                  <a:ea typeface="SimSun"/>
                  <a:cs typeface="Times New Roman"/>
                </a:rPr>
                <a:t>研究取向：让学生的理由与迁移表现成为可观察、可分析、可复核</a:t>
              </a:r>
              <a:br>
                <a:rPr lang="zh-CN" sz="2400" dirty="0">
                  <a:solidFill>
                    <a:srgbClr val="000000"/>
                  </a:solidFill>
                  <a:latin typeface="Times New Roman"/>
                  <a:ea typeface="SimSun"/>
                  <a:cs typeface="Times New Roman"/>
                </a:rPr>
              </a:br>
              <a:r>
                <a:rPr lang="zh-CN" sz="2400" dirty="0">
                  <a:solidFill>
                    <a:srgbClr val="000000"/>
                  </a:solidFill>
                  <a:latin typeface="Times New Roman"/>
                  <a:ea typeface="SimSun"/>
                  <a:cs typeface="Times New Roman"/>
                </a:rPr>
                <a:t xml:space="preserve">  的学习证据。</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27</a:t>
            </a:r>
          </a:p>
        </p:txBody>
      </p:sp>
      <p:grpSp>
        <p:nvGrpSpPr>
          <p:cNvPr id="14" name="source-citation"/>
          <p:cNvGrpSpPr/>
          <p:nvPr/>
        </p:nvGrpSpPr>
        <p:grpSpPr>
          <a:xfrm>
            <a:off x="632967" y="6175375"/>
            <a:ext cx="3797811" cy="273861"/>
            <a:chOff x="632967" y="6175375"/>
            <a:chExt cx="3797811" cy="273861"/>
          </a:xfrm>
        </p:grpSpPr>
        <p:sp>
          <p:nvSpPr>
            <p:cNvPr id="13" name="TextBox 13"/>
            <p:cNvSpPr txBox="1"/>
            <p:nvPr/>
          </p:nvSpPr>
          <p:spPr>
            <a:xfrm>
              <a:off x="632967" y="6175375"/>
              <a:ext cx="3797811" cy="273861"/>
            </a:xfrm>
            <a:prstGeom prst="rect">
              <a:avLst/>
            </a:prstGeom>
            <a:noFill/>
            <a:ln>
              <a:noFill/>
            </a:ln>
          </p:spPr>
          <p:txBody>
            <a:bodyPr wrap="none" lIns="0" tIns="0" rIns="0" bIns="0" anchor="t" anchorCtr="0">
              <a:spAutoFit/>
            </a:bodyPr>
            <a:lstStyle/>
            <a:p>
              <a:pPr algn="l"/>
              <a:r>
                <a:rPr lang="zh-CN" sz="1400" dirty="0">
                  <a:solidFill>
                    <a:srgbClr val="7F7F7F"/>
                  </a:solidFill>
                  <a:latin typeface="Times New Roman"/>
                  <a:ea typeface="SimSun"/>
                  <a:cs typeface="Times New Roman"/>
                </a:rPr>
                <a:t>依据：四篇全文；结论为本报告综合评述。</a:t>
              </a:r>
            </a:p>
          </p:txBody>
        </p:sp>
      </p:grpSp>
    </p:spTree>
    <p:custDataLst>
      <p:tags r:id="rId1"/>
    </p:custData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ext 0"/>
          <p:cNvSpPr/>
          <p:nvPr/>
        </p:nvSpPr>
        <p:spPr>
          <a:xfrm>
            <a:off x="548640" y="365760"/>
            <a:ext cx="11094434" cy="822960"/>
          </a:xfrm>
          <a:prstGeom prst="rect">
            <a:avLst/>
          </a:prstGeom>
          <a:noFill/>
          <a:ln>
            <a:noFill/>
          </a:ln>
        </p:spPr>
        <p:txBody>
          <a:bodyPr wrap="none" lIns="0" tIns="94007" rIns="0" bIns="0" anchor="t" anchorCtr="0">
            <a:noAutofit/>
          </a:bodyPr>
          <a:lstStyle/>
          <a:p>
            <a:pPr algn="l"/>
            <a:r>
              <a:rPr lang="zh-CN" sz="2800" b="1" dirty="0">
                <a:solidFill>
                  <a:srgbClr val="1F4E96"/>
                </a:solidFill>
                <a:latin typeface="Times New Roman"/>
                <a:ea typeface="SimSun"/>
                <a:cs typeface="Times New Roman"/>
              </a:rPr>
              <a:t>参考文献</a:t>
            </a:r>
          </a:p>
        </p:txBody>
      </p:sp>
      <p:grpSp>
        <p:nvGrpSpPr>
          <p:cNvPr id="11" name="Text 1"/>
          <p:cNvGrpSpPr/>
          <p:nvPr/>
        </p:nvGrpSpPr>
        <p:grpSpPr>
          <a:xfrm>
            <a:off x="629919" y="1371600"/>
            <a:ext cx="10921715" cy="4754880"/>
            <a:chOff x="629919" y="1371600"/>
            <a:chExt cx="10921715" cy="4754880"/>
          </a:xfrm>
        </p:grpSpPr>
        <p:sp>
          <p:nvSpPr>
            <p:cNvPr id="6" name="Freeform 6"/>
            <p:cNvSpPr/>
            <p:nvPr/>
          </p:nvSpPr>
          <p:spPr>
            <a:xfrm>
              <a:off x="640080" y="1371600"/>
              <a:ext cx="10911554" cy="4754880"/>
            </a:xfrm>
            <a:custGeom>
              <a:avLst/>
              <a:gdLst/>
              <a:ahLst/>
              <a:cxnLst/>
              <a:rect l="l" t="t" r="r" b="b"/>
              <a:pathLst>
                <a:path w="10911554" h="4754880">
                  <a:moveTo>
                    <a:pt x="0" y="0"/>
                  </a:moveTo>
                  <a:lnTo>
                    <a:pt x="10911554" y="0"/>
                  </a:lnTo>
                  <a:lnTo>
                    <a:pt x="10911554" y="4754880"/>
                  </a:lnTo>
                  <a:lnTo>
                    <a:pt x="0" y="4754880"/>
                  </a:lnTo>
                  <a:close/>
                </a:path>
              </a:pathLst>
            </a:custGeom>
            <a:noFill/>
            <a:ln>
              <a:noFill/>
            </a:ln>
          </p:spPr>
        </p:sp>
        <p:sp>
          <p:nvSpPr>
            <p:cNvPr id="7" name="TextBox 7"/>
            <p:cNvSpPr txBox="1"/>
            <p:nvPr/>
          </p:nvSpPr>
          <p:spPr>
            <a:xfrm>
              <a:off x="629919" y="1444625"/>
              <a:ext cx="9063637" cy="753159"/>
            </a:xfrm>
            <a:prstGeom prst="rect">
              <a:avLst/>
            </a:prstGeom>
            <a:noFill/>
            <a:ln>
              <a:noFill/>
            </a:ln>
          </p:spPr>
          <p:txBody>
            <a:bodyPr wrap="none" lIns="0" tIns="0" rIns="0" bIns="0" anchor="t" anchorCtr="0">
              <a:spAutoFit/>
            </a:bodyPr>
            <a:lstStyle/>
            <a:p>
              <a:pPr algn="l" marL="203200" indent="-203200">
                <a:lnSpc>
                  <a:spcPts val="2850"/>
                </a:lnSpc>
                <a:buClr>
                  <a:srgbClr val="000000"/>
                </a:buClr>
                <a:buSzTx/>
                <a:buFontTx/>
                <a:buChar char="●"/>
              </a:pPr>
              <a:r>
                <a:rPr lang="zh-CN" sz="2000" dirty="0">
                  <a:solidFill>
                    <a:srgbClr val="000000"/>
                  </a:solidFill>
                  <a:latin typeface="Times New Roman"/>
                  <a:ea typeface="SimSun"/>
                  <a:cs typeface="Times New Roman"/>
                </a:rPr>
                <a:t>[1] 孙可，陈刚（2023）. 基于“来拒去留”实验的楞次定律有效教学探析——学习</a:t>
              </a:r>
              <a:br>
                <a:rPr lang="zh-CN" sz="2000" dirty="0">
                  <a:solidFill>
                    <a:srgbClr val="000000"/>
                  </a:solidFill>
                  <a:latin typeface="Times New Roman"/>
                  <a:ea typeface="SimSun"/>
                  <a:cs typeface="Times New Roman"/>
                </a:rPr>
              </a:br>
              <a:r>
                <a:rPr lang="zh-CN" sz="2000" dirty="0">
                  <a:solidFill>
                    <a:srgbClr val="000000"/>
                  </a:solidFill>
                  <a:latin typeface="Times New Roman"/>
                  <a:ea typeface="SimSun"/>
                  <a:cs typeface="Times New Roman"/>
                </a:rPr>
                <a:t xml:space="preserve">  心理学视角. 物理教学，45(4)，20–24.</a:t>
              </a:r>
            </a:p>
          </p:txBody>
        </p:sp>
        <p:sp>
          <p:nvSpPr>
            <p:cNvPr id="8" name="TextBox 8"/>
            <p:cNvSpPr txBox="1"/>
            <p:nvPr/>
          </p:nvSpPr>
          <p:spPr>
            <a:xfrm>
              <a:off x="629919" y="2251107"/>
              <a:ext cx="9063637" cy="753159"/>
            </a:xfrm>
            <a:prstGeom prst="rect">
              <a:avLst/>
            </a:prstGeom>
            <a:noFill/>
            <a:ln>
              <a:noFill/>
            </a:ln>
          </p:spPr>
          <p:txBody>
            <a:bodyPr wrap="none" lIns="0" tIns="0" rIns="0" bIns="0" anchor="t" anchorCtr="0">
              <a:spAutoFit/>
            </a:bodyPr>
            <a:lstStyle/>
            <a:p>
              <a:pPr algn="l" marL="203200" indent="-203200">
                <a:lnSpc>
                  <a:spcPts val="2850"/>
                </a:lnSpc>
                <a:buClr>
                  <a:srgbClr val="000000"/>
                </a:buClr>
                <a:buSzTx/>
                <a:buFontTx/>
                <a:buChar char="●"/>
              </a:pPr>
              <a:r>
                <a:rPr lang="zh-CN" sz="2000" dirty="0">
                  <a:solidFill>
                    <a:srgbClr val="000000"/>
                  </a:solidFill>
                  <a:latin typeface="Times New Roman"/>
                  <a:ea typeface="SimSun"/>
                  <a:cs typeface="Times New Roman"/>
                </a:rPr>
                <a:t>[2] 罗成，朱行建，文金宝（2023）. 基于孟克—奥斯本“融合模式”的教学设计与</a:t>
              </a:r>
              <a:br>
                <a:rPr lang="zh-CN" sz="2000" dirty="0">
                  <a:solidFill>
                    <a:srgbClr val="000000"/>
                  </a:solidFill>
                  <a:latin typeface="Times New Roman"/>
                  <a:ea typeface="SimSun"/>
                  <a:cs typeface="Times New Roman"/>
                </a:rPr>
              </a:br>
              <a:r>
                <a:rPr lang="zh-CN" sz="2000" dirty="0">
                  <a:solidFill>
                    <a:srgbClr val="000000"/>
                  </a:solidFill>
                  <a:latin typeface="Times New Roman"/>
                  <a:ea typeface="SimSun"/>
                  <a:cs typeface="Times New Roman"/>
                </a:rPr>
                <a:t xml:space="preserve">  实践——以“电磁感应现象及应用”教学设计为例. 物理教学，45(4)，25–28.</a:t>
              </a:r>
            </a:p>
          </p:txBody>
        </p:sp>
        <p:sp>
          <p:nvSpPr>
            <p:cNvPr id="9" name="TextBox 9"/>
            <p:cNvSpPr txBox="1"/>
            <p:nvPr/>
          </p:nvSpPr>
          <p:spPr>
            <a:xfrm>
              <a:off x="629919" y="3057589"/>
              <a:ext cx="7814059" cy="1477059"/>
            </a:xfrm>
            <a:prstGeom prst="rect">
              <a:avLst/>
            </a:prstGeom>
            <a:noFill/>
            <a:ln>
              <a:noFill/>
            </a:ln>
          </p:spPr>
          <p:txBody>
            <a:bodyPr wrap="none" lIns="0" tIns="0" rIns="0" bIns="0" anchor="t" anchorCtr="0">
              <a:spAutoFit/>
            </a:bodyPr>
            <a:lstStyle/>
            <a:p>
              <a:pPr algn="l" marL="203200" indent="-203200">
                <a:lnSpc>
                  <a:spcPts val="2850"/>
                </a:lnSpc>
                <a:buClr>
                  <a:srgbClr val="000000"/>
                </a:buClr>
                <a:buSzTx/>
                <a:buFontTx/>
                <a:buChar char="●"/>
              </a:pPr>
              <a:r>
                <a:rPr lang="en-US" sz="2000" dirty="0">
                  <a:solidFill>
                    <a:srgbClr val="000000"/>
                  </a:solidFill>
                  <a:latin typeface="Times New Roman"/>
                  <a:ea typeface="Times New Roman"/>
                  <a:cs typeface="Times New Roman"/>
                </a:rPr>
                <a:t>[3] Zuza, K., Almudí, J.-M., Leniz, A., &amp; Guisasola, J. (2014). Addressing</a:t>
              </a:r>
              <a:br>
                <a:rPr lang="en-US" sz="2000" dirty="0">
                  <a:solidFill>
                    <a:srgbClr val="000000"/>
                  </a:solidFill>
                  <a:latin typeface="Times New Roman"/>
                  <a:ea typeface="Times New Roman"/>
                  <a:cs typeface="Times New Roman"/>
                </a:rPr>
              </a:br>
              <a:r>
                <a:rPr lang="en-US" sz="2000" dirty="0">
                  <a:solidFill>
                    <a:srgbClr val="000000"/>
                  </a:solidFill>
                  <a:latin typeface="Times New Roman"/>
                  <a:ea typeface="Times New Roman"/>
                  <a:cs typeface="Times New Roman"/>
                </a:rPr>
                <a:t xml:space="preserve">  students’ difficulties with Faraday’s law: A guided problem solving</a:t>
              </a:r>
              <a:br>
                <a:rPr lang="en-US" sz="2000" dirty="0">
                  <a:solidFill>
                    <a:srgbClr val="000000"/>
                  </a:solidFill>
                  <a:latin typeface="Times New Roman"/>
                  <a:ea typeface="Times New Roman"/>
                  <a:cs typeface="Times New Roman"/>
                </a:rPr>
              </a:br>
              <a:r>
                <a:rPr lang="en-US" sz="2000" dirty="0">
                  <a:solidFill>
                    <a:srgbClr val="000000"/>
                  </a:solidFill>
                  <a:latin typeface="Times New Roman"/>
                  <a:ea typeface="Times New Roman"/>
                  <a:cs typeface="Times New Roman"/>
                </a:rPr>
                <a:t xml:space="preserve">  approach. Phys. Rev. ST Phys. Educ. Res., 10, 010122. DOI:</a:t>
              </a:r>
              <a:br>
                <a:rPr lang="en-US" sz="2000" dirty="0">
                  <a:solidFill>
                    <a:srgbClr val="000000"/>
                  </a:solidFill>
                  <a:latin typeface="Times New Roman"/>
                  <a:ea typeface="Times New Roman"/>
                  <a:cs typeface="Times New Roman"/>
                </a:rPr>
              </a:br>
              <a:r>
                <a:rPr lang="en-US" sz="2000" dirty="0">
                  <a:solidFill>
                    <a:srgbClr val="000000"/>
                  </a:solidFill>
                  <a:latin typeface="Times New Roman"/>
                  <a:ea typeface="Times New Roman"/>
                  <a:cs typeface="Times New Roman"/>
                </a:rPr>
                <a:t xml:space="preserve">  10.1103/PhysRevSTPER.10.010122.</a:t>
              </a:r>
            </a:p>
          </p:txBody>
        </p:sp>
        <p:sp>
          <p:nvSpPr>
            <p:cNvPr id="10" name="TextBox 10"/>
            <p:cNvSpPr txBox="1"/>
            <p:nvPr/>
          </p:nvSpPr>
          <p:spPr>
            <a:xfrm>
              <a:off x="629919" y="4587970"/>
              <a:ext cx="7842253" cy="1115109"/>
            </a:xfrm>
            <a:prstGeom prst="rect">
              <a:avLst/>
            </a:prstGeom>
            <a:noFill/>
            <a:ln>
              <a:noFill/>
            </a:ln>
          </p:spPr>
          <p:txBody>
            <a:bodyPr wrap="none" lIns="0" tIns="0" rIns="0" bIns="0" anchor="t" anchorCtr="0">
              <a:spAutoFit/>
            </a:bodyPr>
            <a:lstStyle/>
            <a:p>
              <a:pPr algn="l" marL="203200" indent="-203200">
                <a:lnSpc>
                  <a:spcPts val="2850"/>
                </a:lnSpc>
                <a:buClr>
                  <a:srgbClr val="000000"/>
                </a:buClr>
                <a:buSzTx/>
                <a:buFontTx/>
                <a:buChar char="●"/>
              </a:pPr>
              <a:r>
                <a:rPr lang="en-US" sz="2000" dirty="0">
                  <a:solidFill>
                    <a:srgbClr val="000000"/>
                  </a:solidFill>
                  <a:latin typeface="Times New Roman"/>
                  <a:ea typeface="Times New Roman"/>
                  <a:cs typeface="Times New Roman"/>
                </a:rPr>
                <a:t>[4] Jelicic, K., Planinic, M., &amp; Planinsic, G. (2017). Analyzing high school</a:t>
              </a:r>
              <a:br>
                <a:rPr lang="en-US" sz="2000" dirty="0">
                  <a:solidFill>
                    <a:srgbClr val="000000"/>
                  </a:solidFill>
                  <a:latin typeface="Times New Roman"/>
                  <a:ea typeface="Times New Roman"/>
                  <a:cs typeface="Times New Roman"/>
                </a:rPr>
              </a:br>
              <a:r>
                <a:rPr lang="en-US" sz="2000" dirty="0">
                  <a:solidFill>
                    <a:srgbClr val="000000"/>
                  </a:solidFill>
                  <a:latin typeface="Times New Roman"/>
                  <a:ea typeface="Times New Roman"/>
                  <a:cs typeface="Times New Roman"/>
                </a:rPr>
                <a:t xml:space="preserve">  students’ reasoning about electromagnetic induction. Phys. Rev. Phys.</a:t>
              </a:r>
              <a:br>
                <a:rPr lang="en-US" sz="2000" dirty="0">
                  <a:solidFill>
                    <a:srgbClr val="000000"/>
                  </a:solidFill>
                  <a:latin typeface="Times New Roman"/>
                  <a:ea typeface="Times New Roman"/>
                  <a:cs typeface="Times New Roman"/>
                </a:rPr>
              </a:br>
              <a:r>
                <a:rPr lang="en-US" sz="2000" dirty="0">
                  <a:solidFill>
                    <a:srgbClr val="000000"/>
                  </a:solidFill>
                  <a:latin typeface="Times New Roman"/>
                  <a:ea typeface="Times New Roman"/>
                  <a:cs typeface="Times New Roman"/>
                </a:rPr>
                <a:t xml:space="preserve">  Educ. Res., 13, 010112. DOI: 10.1103/PhysRevPhysEducRes.13.010112.</a:t>
              </a:r>
            </a:p>
          </p:txBody>
        </p:sp>
      </p:grpSp>
      <p:sp>
        <p:nvSpPr>
          <p:cNvPr id="4" name="Text 2"/>
          <p:cNvSpPr/>
          <p:nvPr/>
        </p:nvSpPr>
        <p:spPr>
          <a:xfrm>
            <a:off x="11277314" y="6355080"/>
            <a:ext cx="640080" cy="365760"/>
          </a:xfrm>
          <a:prstGeom prst="rect">
            <a:avLst/>
          </a:prstGeom>
          <a:noFill/>
          <a:ln>
            <a:noFill/>
          </a:ln>
        </p:spPr>
        <p:txBody>
          <a:bodyPr wrap="none" lIns="0" tIns="55821" rIns="0" bIns="0" anchor="t" anchorCtr="0">
            <a:noAutofit/>
          </a:bodyPr>
          <a:lstStyle/>
          <a:p>
            <a:pPr algn="r"/>
            <a:r>
              <a:rPr lang="zh-CN" sz="2000" dirty="0">
                <a:solidFill>
                  <a:srgbClr val="7F7F7F"/>
                </a:solidFill>
                <a:latin typeface="Times New Roman"/>
                <a:ea typeface="Times New Roman"/>
                <a:cs typeface="Times New Roman"/>
              </a:rPr>
              <a:t>28</a:t>
            </a:r>
          </a:p>
        </p:txBody>
      </p:sp>
    </p:spTree>
    <p:custDataLst>
      <p:tags r:id="rId1"/>
    </p:custDataLst>
  </p:cSld>
  <p:clrMapOvr>
    <a:masterClrMapping/>
  </p:clrMapOvr>
</p:sld>
</file>

<file path=ppt/tags/tag1_tf1.xml><?xml version="1.0" encoding="utf-8"?>
<p:tagLst xmlns:p="http://schemas.openxmlformats.org/presentationml/2006/main">
  <p:tag name="LOCALSLIDEID" val="17894741477857353"/>
</p:tagLst>
</file>

<file path=ppt/tags/tag4_tf1.xml><?xml version="1.0" encoding="utf-8"?>
<p:tagLst xmlns:p="http://schemas.openxmlformats.org/presentationml/2006/main">
  <p:tag name="LOCALSLIDEID" val="17894741477894974"/>
</p:tagLst>
</file>

<file path=ppt/tags/tag4_tf2.xml><?xml version="1.0" encoding="utf-8"?>
<p:tagLst xmlns:p="http://schemas.openxmlformats.org/presentationml/2006/main">
  <p:tag name="LOCALSLIDEID" val="17894741477894974"/>
</p:tagLst>
</file>

<file path=ppt/tags/tag4_tf3.xml><?xml version="1.0" encoding="utf-8"?>
<p:tagLst xmlns:p="http://schemas.openxmlformats.org/presentationml/2006/main">
  <p:tag name="LOCALSLIDEID" val="17894741477894974"/>
</p:tagLst>
</file>

<file path=ppt/tags/tag4_tf4.xml><?xml version="1.0" encoding="utf-8"?>
<p:tagLst xmlns:p="http://schemas.openxmlformats.org/presentationml/2006/main">
  <p:tag name="LOCALSLIDEID" val="17894741477894974"/>
</p:tagLst>
</file>

<file path=ppt/tags/tag4_tf5.xml><?xml version="1.0" encoding="utf-8"?>
<p:tagLst xmlns:p="http://schemas.openxmlformats.org/presentationml/2006/main">
  <p:tag name="LOCALSLIDEID" val="17894741477894974"/>
</p:tagLst>
</file>

<file path=ppt/tags/tag4_tf6.xml><?xml version="1.0" encoding="utf-8"?>
<p:tagLst xmlns:p="http://schemas.openxmlformats.org/presentationml/2006/main">
  <p:tag name="LOCALSLIDEID" val="17894741477894974"/>
</p:tagLst>
</file>

<file path=ppt/tags/tag4_tf7.xml><?xml version="1.0" encoding="utf-8"?>
<p:tagLst xmlns:p="http://schemas.openxmlformats.org/presentationml/2006/main">
  <p:tag name="LOCALSLIDEID" val="17894741477894974"/>
</p:tagLst>
</file>

<file path=ppt/tags/tag4_tf8.xml><?xml version="1.0" encoding="utf-8"?>
<p:tagLst xmlns:p="http://schemas.openxmlformats.org/presentationml/2006/main">
  <p:tag name="LOCALSLIDEID" val="17894741477894974"/>
</p:tagLst>
</file>

<file path=ppt/tags/tag4_tf9.xml><?xml version="1.0" encoding="utf-8"?>
<p:tagLst xmlns:p="http://schemas.openxmlformats.org/presentationml/2006/main">
  <p:tag name="LOCALSLIDEID" val="17894741477894974"/>
</p:tagLst>
</file>

<file path=ppt/tags/tag4_tf10.xml><?xml version="1.0" encoding="utf-8"?>
<p:tagLst xmlns:p="http://schemas.openxmlformats.org/presentationml/2006/main">
  <p:tag name="LOCALSLIDEID" val="17894741477894974"/>
</p:tagLst>
</file>

<file path=ppt/tags/tag4_tf11.xml><?xml version="1.0" encoding="utf-8"?>
<p:tagLst xmlns:p="http://schemas.openxmlformats.org/presentationml/2006/main">
  <p:tag name="LOCALSLIDEID" val="17894741477894974"/>
</p:tagLst>
</file>

<file path=ppt/tags/tag4_tf12.xml><?xml version="1.0" encoding="utf-8"?>
<p:tagLst xmlns:p="http://schemas.openxmlformats.org/presentationml/2006/main">
  <p:tag name="LOCALSLIDEID" val="17894741477894974"/>
</p:tagLst>
</file>

<file path=ppt/tags/tag4_tf13.xml><?xml version="1.0" encoding="utf-8"?>
<p:tagLst xmlns:p="http://schemas.openxmlformats.org/presentationml/2006/main">
  <p:tag name="LOCALSLIDEID" val="17894741477894974"/>
</p:tagLst>
</file>

<file path=ppt/tags/tag4_tf14.xml><?xml version="1.0" encoding="utf-8"?>
<p:tagLst xmlns:p="http://schemas.openxmlformats.org/presentationml/2006/main">
  <p:tag name="LOCALSLIDEID" val="17894741477894974"/>
</p:tagLst>
</file>

<file path=ppt/tags/tag4_tf15.xml><?xml version="1.0" encoding="utf-8"?>
<p:tagLst xmlns:p="http://schemas.openxmlformats.org/presentationml/2006/main">
  <p:tag name="LOCALSLIDEID" val="17894741477894974"/>
</p:tagLst>
</file>

<file path=ppt/tags/tag4_tf16.xml><?xml version="1.0" encoding="utf-8"?>
<p:tagLst xmlns:p="http://schemas.openxmlformats.org/presentationml/2006/main">
  <p:tag name="LOCALSLIDEID" val="17894741477894974"/>
</p:tagLst>
</file>

<file path=ppt/tags/tag4_tf17.xml><?xml version="1.0" encoding="utf-8"?>
<p:tagLst xmlns:p="http://schemas.openxmlformats.org/presentationml/2006/main">
  <p:tag name="LOCALSLIDEID" val="17894741477894974"/>
</p:tagLst>
</file>

<file path=ppt/tags/tag4_tf18.xml><?xml version="1.0" encoding="utf-8"?>
<p:tagLst xmlns:p="http://schemas.openxmlformats.org/presentationml/2006/main">
  <p:tag name="LOCALSLIDEID" val="17894741477894974"/>
</p:tagLst>
</file>

<file path=ppt/tags/tag4_tf19.xml><?xml version="1.0" encoding="utf-8"?>
<p:tagLst xmlns:p="http://schemas.openxmlformats.org/presentationml/2006/main">
  <p:tag name="LOCALSLIDEID" val="17894741477894974"/>
</p:tagLst>
</file>

<file path=ppt/tags/tag4_tf20.xml><?xml version="1.0" encoding="utf-8"?>
<p:tagLst xmlns:p="http://schemas.openxmlformats.org/presentationml/2006/main">
  <p:tag name="LOCALSLIDEID" val="17894741477894974"/>
</p:tagLst>
</file>

<file path=ppt/tags/tag4_tf21.xml><?xml version="1.0" encoding="utf-8"?>
<p:tagLst xmlns:p="http://schemas.openxmlformats.org/presentationml/2006/main">
  <p:tag name="LOCALSLIDEID" val="17894741477894974"/>
</p:tagLst>
</file>

<file path=ppt/tags/tag4_tf22.xml><?xml version="1.0" encoding="utf-8"?>
<p:tagLst xmlns:p="http://schemas.openxmlformats.org/presentationml/2006/main">
  <p:tag name="LOCALSLIDEID" val="17894741477894974"/>
</p:tagLst>
</file>

<file path=ppt/tags/tag4_tf23.xml><?xml version="1.0" encoding="utf-8"?>
<p:tagLst xmlns:p="http://schemas.openxmlformats.org/presentationml/2006/main">
  <p:tag name="LOCALSLIDEID" val="17894741477894974"/>
</p:tagLst>
</file>

<file path=ppt/tags/tag4_tf24.xml><?xml version="1.0" encoding="utf-8"?>
<p:tagLst xmlns:p="http://schemas.openxmlformats.org/presentationml/2006/main">
  <p:tag name="LOCALSLIDEID" val="17894741477894974"/>
</p:tagLst>
</file>

<file path=ppt/tags/tag4_tf25.xml><?xml version="1.0" encoding="utf-8"?>
<p:tagLst xmlns:p="http://schemas.openxmlformats.org/presentationml/2006/main">
  <p:tag name="LOCALSLIDEID" val="17894741477894974"/>
</p:tagLst>
</file>

<file path=ppt/tags/tag4_tf26.xml><?xml version="1.0" encoding="utf-8"?>
<p:tagLst xmlns:p="http://schemas.openxmlformats.org/presentationml/2006/main">
  <p:tag name="LOCALSLIDEID" val="17894741477894974"/>
</p:tagLst>
</file>

<file path=ppt/tags/tag4_tf27.xml><?xml version="1.0" encoding="utf-8"?>
<p:tagLst xmlns:p="http://schemas.openxmlformats.org/presentationml/2006/main">
  <p:tag name="LOCALSLIDEID" val="17894741477894974"/>
</p:tagLst>
</file>

<file path=ppt/tags/tag32.xml><?xml version="1.0" encoding="utf-8"?>
<p:tagLst xmlns:p="http://schemas.openxmlformats.org/presentationml/2006/main">
  <p:tag name="LOCALPRESID" val="1789474147763709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ns0:Properties xmlns:ns0="http://schemas.openxmlformats.org/officeDocument/2006/extended-properties" xmlns:ns1="http://schemas.openxmlformats.org/officeDocument/2006/docPropsVTypes">
  <ns0:TotalTime>0</ns0:TotalTime>
  <ns0:Words>4634</ns0:Words>
  <ns0:Application>WPS 演示</ns0:Application>
  <ns0:PresentationFormat>On-screen Show (16:9)</ns0:PresentationFormat>
  <ns0:Paragraphs>616</ns0:Paragraphs>
  <ns0:Slides>28</ns0:Slides>
  <ns0:Notes>31</ns0:Notes>
  <ns0:HiddenSlides>0</ns0:HiddenSlides>
  <ns0:MMClips>0</ns0:MMClips>
  <ns0:ScaleCrop>false</ns0:ScaleCrop>
  <ns0:HeadingPairs>
    <ns1:vector size="6" baseType="variant">
      <ns1:variant>
        <ns1:lpstr>已用的字体</ns1:lpstr>
      </ns1:variant>
      <ns1:variant>
        <ns1:i4>9</ns1:i4>
      </ns1:variant>
      <ns1:variant>
        <ns1:lpstr>主题</ns1:lpstr>
      </ns1:variant>
      <ns1:variant>
        <ns1:i4>1</ns1:i4>
      </ns1:variant>
      <ns1:variant>
        <ns1:lpstr>幻灯片标题</ns1:lpstr>
      </ns1:variant>
      <ns1:variant>
        <ns1:i4>31</ns1:i4>
      </ns1:variant>
    </ns1:vector>
  </ns0:HeadingPairs>
  <ns0:TitlesOfParts>
    <ns1:vector size="41" baseType="lpstr">
      <ns1:lpstr>Arial</ns1:lpstr>
      <ns1:lpstr>宋体</ns1:lpstr>
      <ns1:lpstr>Wingdings</ns1:lpstr>
      <ns1:lpstr>宋体</ns1:lpstr>
      <ns1:lpstr>Calibri</ns1:lpstr>
      <ns1:lpstr>MS PGothic</ns1:lpstr>
      <ns1:lpstr>微软雅黑</ns1:lpstr>
      <ns1:lpstr>Arial Unicode MS</ns1:lpstr>
      <ns1:lpstr>等线</ns1:lpstr>
      <ns1:lpstr>Office Theme</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lpstr>PowerPoint 演示文稿</ns1:lpstr>
    </ns1:vector>
  </ns0:TitlesOfParts>
  <ns0:Company>PptxGenJS</ns0:Company>
  <ns0:LinksUpToDate>false</ns0:LinksUpToDate>
  <ns0:SharedDoc>false</ns0:SharedDoc>
  <ns0:HyperlinksChanged>false</ns0:HyperlinksChanged>
  <ns0:AppVersion>14.0000</ns0:AppVersion>
</ns0: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ASUS</cp:lastModifiedBy>
  <cp:revision>2</cp:revision>
  <dcterms:created xsi:type="dcterms:W3CDTF">2026-09-15T12:06:00Z</dcterms:created>
  <dcterms:modified xsi:type="dcterms:W3CDTF">2026-09-15T12:15:28Z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2052-12.1.0.28022</vt:lpwstr>
  </property>
  <property fmtid="{D5CDD505-2E9C-101B-9397-08002B2CF9AE}" pid="3" name="ICV">
    <vt:lpwstr>7016CF2F62F04BE0BE2FA45E69492ED8_12</vt:lpwstr>
  </property>
</Properties>
</file>
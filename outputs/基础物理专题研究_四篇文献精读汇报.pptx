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31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Noto Sans CJK SC"/>
        <a:ea typeface="Noto Sans CJK SC"/>
        <a:cs typeface="Noto Sans CJK SC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Noto Sans CJK SC"/>
        <a:ea typeface="Noto Sans CJK SC"/>
        <a:cs typeface="Noto Sans CJK SC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Noto Sans CJK SC"/>
        <a:ea typeface="Noto Sans CJK SC"/>
        <a:cs typeface="Noto Sans CJK SC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Noto Sans CJK SC"/>
        <a:ea typeface="Noto Sans CJK SC"/>
        <a:cs typeface="Noto Sans CJK SC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Noto Sans CJK SC"/>
        <a:ea typeface="Noto Sans CJK SC"/>
        <a:cs typeface="Noto Sans CJK SC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Noto Sans CJK SC"/>
        <a:ea typeface="Noto Sans CJK SC"/>
        <a:cs typeface="Noto Sans CJK SC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Noto Sans CJK SC"/>
        <a:ea typeface="Noto Sans CJK SC"/>
        <a:cs typeface="Noto Sans CJK SC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Noto Sans CJK SC"/>
        <a:ea typeface="Noto Sans CJK SC"/>
        <a:cs typeface="Noto Sans CJK SC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Noto Sans CJK SC"/>
        <a:ea typeface="Noto Sans CJK SC"/>
        <a:cs typeface="Noto Sans CJK SC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  <Relationship Id="rId31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1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_rels/notesSlide1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5.xml"/>
</Relationships>
</file>

<file path=ppt/notesSlides/_rels/notesSlide1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6.xml"/>
</Relationships>
</file>

<file path=ppt/notesSlides/_rels/notesSlide1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7.xml"/>
</Relationships>
</file>

<file path=ppt/notesSlides/_rels/notesSlide1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8.xml"/>
</Relationships>
</file>

<file path=ppt/notesSlides/_rels/notesSlide1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9.xml"/>
</Relationships>
</file>

<file path=ppt/notesSlides/_rels/notesSlide2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0.xml"/>
</Relationships>
</file>

<file path=ppt/notesSlides/_rels/notesSlide2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1.xml"/>
</Relationships>
</file>

<file path=ppt/notesSlides/_rels/notesSlide2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2.xml"/>
</Relationships>
</file>

<file path=ppt/notesSlides/_rels/notesSlide2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3.xml"/>
</Relationships>
</file>

<file path=ppt/notesSlides/_rels/notesSlide2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4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本次汇报讨论电磁感应教学研究，依据四篇中英文论文进行精读和综合评述。我们关心的是学生怎样理解感应条件和机制，以及教学改进获得了什么证据。报告先建立物理参照，再逐篇分析理论、研究设计和主要发现，最后比较教学策略与证据范围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能够判断电流方向，不等于能够解释电流为什么产生。孙可、陈刚从学习心理学出发，分析怎样从实验信息获得楞次定律。罗成等把科学史融入感应条件的概念建构。Zuza等在大学课程中评价指导性解题序列。Jelicic等通过高中生实验访谈分析心理模型。这四种定位分别关注规律获得、概念重建、学习评价和现场推理，可以互补，但不能视为同一种教学效果验证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磁通量不同于磁场。在匀强磁场和平面面积的情境中，磁通量等于磁感应强度、面积和夹角余弦的乘积，夹角相对面的法线。页面给出单匝回路平均感应电动势的有限变化形式；负号体现选定取向下的楞次规律。</a:t>
            </a:r>
          </a:p>
          <a:p>
            <a:pPr/>
            <a:endParaRPr lang="zh-CN" dirty="0"/>
          </a:p>
          <a:p>
            <a:pPr/>
            <a:r>
              <a:rPr lang="zh-CN" dirty="0"/>
              <a:t>静止回路中的时变磁场可产生非保守感应电场；运动导体中的电荷可受磁力，但复杂运动接触回路必须明确系统边界。楞次定律阻碍引起感应的磁通量变化，不是感应磁场总与原场反向。缺少闭合电流路径时，也可以存在感应电动势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孙可、陈刚的问题是学生怎样从多组实验信息归纳楞次定律。四组实验同时涉及磁极、运动、磁场、电流和相互作用，学生需要选择和组合信息，而不只是记忆口诀。</a:t>
            </a:r>
          </a:p>
          <a:p>
            <a:pPr/>
            <a:endParaRPr lang="zh-CN" dirty="0"/>
          </a:p>
          <a:p>
            <a:pPr/>
            <a:r>
              <a:rPr lang="zh-CN" dirty="0"/>
              <a:t>作者用写图式、定内容、析途径和清序列分析规律结构与学习过程。向前推理用于提出问题，穷举法用于规划磁极和运动情境，求同法用于归纳中间子结论。理论在这里解释教学环节怎样支持结论获得。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原文表六列出四种磁铁与线圈相对运动情境。无论靠近的是北极还是南极，靠近时相斥，外部磁场通量大小增加，感应场反向以阻碍增加；远离时相吸，通量大小减小，感应场同向以阻碍减小。</a:t>
            </a:r>
          </a:p>
          <a:p>
            <a:pPr/>
            <a:endParaRPr lang="zh-CN" dirty="0"/>
          </a:p>
          <a:p>
            <a:pPr/>
            <a:r>
              <a:rPr lang="zh-CN" dirty="0"/>
              <a:t>从四种情境可以归纳出“阻碍变化”的共同规律。这里的通量增减指原场通量大小，“来拒去留”限于对应磁铁与闭合线圈情境。教学还要让学生由感应磁场反推电流方向，并明确观察侧和右手螺旋定则。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篇论文的贡献在于把规律学习拆成信息选择、组合与归纳，帮助教师明确中间推理。主要资料是实验方案、逻辑表和教学片段，未报告学生样本、前后测、对照或效果量，因此能够讨论方案合理性，不能估计学习增益。</a:t>
            </a:r>
          </a:p>
          <a:p>
            <a:pPr/>
            <a:endParaRPr lang="zh-CN" dirty="0"/>
          </a:p>
          <a:p>
            <a:pPr/>
            <a:r>
              <a:rPr lang="zh-CN" dirty="0"/>
              <a:t>作者也指出方向学习目标不够突出。教学可以补上感应场到电流方向的推理和新情境检验。楞次环等装置验证物理现象与规律的关系，但不能替代对学生理解变化的测量。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罗成、朱行建、文金宝在建构论视域下使用孟克—奥斯本融合模式。演示现象和引出观念生成问题，学习历史中的未果实验让学生区分稳恒场与暂态变化；动手实验、实践检验和总结评价继续推动概念修正。</a:t>
            </a:r>
          </a:p>
          <a:p>
            <a:pPr/>
            <a:endParaRPr lang="zh-CN" dirty="0"/>
          </a:p>
          <a:p>
            <a:pPr/>
            <a:r>
              <a:rPr lang="zh-CN" dirty="0"/>
              <a:t>科学史不是附加故事，而是参与概念形成。作者把原模式的设计实验改为动手实验，这增强操作参与，但参与操作不能直接证明学生的独立实验设计能力。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原文表一记录全班二十四人的前测。十五人准确回答磁通量的意义、概念和表达式，另有五人表述不清。十二人认为只有切割磁感线才能产生感应电流，六人指出磁通量变化这一条件。表中还涉及电流磁效应和生活应用。</a:t>
            </a:r>
          </a:p>
          <a:p>
            <a:pPr/>
            <a:endParaRPr lang="zh-CN" dirty="0"/>
          </a:p>
          <a:p>
            <a:pPr/>
            <a:r>
              <a:rPr lang="zh-CN" dirty="0"/>
              <a:t>这些计数来自不同题目，不是一套互斥而穷尽的学生分类，不能跨题求和或补齐未报告人数。它们说明这一班级的学情，尤其是切割观念的局限；前测本身不构成教学效果的前后对比。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开关瞬态说明导体不发生通常意义上的切割，也可以出现感应。转动线圈让投影面积和方向进入判断；磁场与投影面积同时改变但通量不变的反例，则提示学生分析物理量之间的组合关系，而非只观察某个量是否变化。</a:t>
            </a:r>
          </a:p>
          <a:p>
            <a:pPr/>
            <a:endParaRPr lang="zh-CN" dirty="0"/>
          </a:p>
          <a:p>
            <a:pPr/>
            <a:r>
              <a:rPr lang="zh-CN" dirty="0"/>
              <a:t>历史问题与反例能推动原有解释的重建，魔术解释和圆盘发电机继续联系应用与能量。原文没有匹配后测、对照或效果统计，课堂实施文本提供可行性线索，但科学本质理解等提升仍需独立测量。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Zuza等把问题导向学习与显式解题指导结合，连接宏观观察、磁通量规则和微观机制。研究对象是巴斯克大学工程一年级学生。两个最终实施年度分别有七十五人和七十三人，共一百四十八人；更早两个年度的传统教学历史组共一百四十七人。</a:t>
            </a:r>
          </a:p>
          <a:p>
            <a:pPr/>
            <a:endParaRPr lang="zh-CN" dirty="0"/>
          </a:p>
          <a:p>
            <a:pPr/>
            <a:r>
              <a:rPr lang="zh-CN" dirty="0"/>
              <a:t>教学覆盖两周七小时，以三至四人合作展开，首轮试用后修订。不同年份的历史比较不是同期随机干预对照，课程实施和年度差异仍可能影响结果。大学微积分课程的设计也不能原样照搬到高中。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五道前后测分别涉及双回路开关、磁铁靠近静止线圈、线圈转动、线圈移出静磁场和旋转铜盘。评分既看结论，也看场模型、力模型以及错误或不足的解释。研究报告组内复评一致性平均零点八八，研究者间为零点八五。</a:t>
            </a:r>
          </a:p>
          <a:p>
            <a:pPr/>
            <a:endParaRPr lang="zh-CN" dirty="0"/>
          </a:p>
          <a:p>
            <a:pPr/>
            <a:r>
              <a:rPr lang="zh-CN" dirty="0"/>
              <a:t>十五名志愿者组成五个三人小组，约在课后一个月接受约四十分钟访谈，追问第二、第三和第五题。五位教师审核和小样本试测提供工具内容检查，BEMA用于背景比较；具体试测人数以及背景比较的精确检验值未报告。前后测情境相似但不完全相同，解释变化需要保留这一测量限制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原文表四呈现第三至第五题的答案分类。将两个正确类别相加，序列组后测正确率分别为百分之七十三、九十和三十三，历史组分别为五十三、七十五点五和十五。第五题是旋转铜盘，正确解释仍较少。误选面积类别在序列组前测为百分之十一点五、后测为三十，历史组为五十八；不答减少并不等于已经掌握。</a:t>
            </a:r>
          </a:p>
          <a:p>
            <a:pPr/>
            <a:endParaRPr lang="zh-CN" dirty="0"/>
          </a:p>
          <a:p>
            <a:pPr/>
            <a:r>
              <a:rPr lang="zh-CN" dirty="0"/>
              <a:t>第一、第二题的正确后测比例分别为百分之五十七和五十七，历史组为四十九和十八。作者报告第一题p值零点三八，第二题远小于零点零零零一，第三、第四题零点零四五，第五题零点零四二。原文卡方量与p值存在一致性疑点，缺少原始计数时不复算检验。后测差异提供改善线索，历史组结构和缺少延迟迁移测量限制因果归因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Jelicic等研究萨格勒布三所学校的九名高中三年级学生，每校三人，年龄十六至十七岁。这是便利、自愿的小样本。访谈在学习评价后不超过一个月进行，平均约四十五分钟。</a:t>
            </a:r>
          </a:p>
          <a:p>
            <a:pPr/>
            <a:endParaRPr lang="zh-CN" dirty="0"/>
          </a:p>
          <a:p>
            <a:pPr/>
            <a:r>
              <a:rPr lang="zh-CN" dirty="0"/>
              <a:t>六个实验包括奥斯特实验、线圈磁场、导线受力以及磁铁线圈、双线圈和楞次定律，后三个是主要研究对象。学生观察和操作，出声解释，再接受追问。研究同时分析录像转录、言语、手势和图示；两名研究者独立分析，第三人处理歧义后讨论形成共识，未报告数值一致性系数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原文第四幅实验图让学生解释磁铁插入线圈时电流计为什么偏转。作者反复观察到三种模型：把原有线圈场与磁铁场合并的磁场叠合模型，用磁铁直接推动静止电荷的吸斥电荷模型，以及借助磁铁和线圈磁极相互作用解释电流的模型。</a:t>
            </a:r>
          </a:p>
          <a:p>
            <a:pPr/>
            <a:endParaRPr lang="zh-CN" dirty="0"/>
          </a:p>
          <a:p>
            <a:pPr/>
            <a:r>
              <a:rPr lang="zh-CN" dirty="0"/>
              <a:t>知识片段视角关注资源怎样被激活和组织。作者认为不少模型在访谈现场形成，跨情境一致性有限。因此不宜把所有错答归为一套稳定迷思。教学既要纠正磁极与电荷等物理混淆，也要帮助学生把受力、变化和观察组织为完整机制解释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磁极与电荷混淆出现八次，涉及五人；认为磁极能吸斥静止电荷出现十二次，涉及六人。使用次数不同于学生人数，一名学生可在不同任务中多次调用同一解释。九名学生在这些任务中均未主动提及磁通量，也只能作为该样本的观察。</a:t>
            </a:r>
          </a:p>
          <a:p>
            <a:pPr/>
            <a:endParaRPr lang="zh-CN" dirty="0"/>
          </a:p>
          <a:p>
            <a:pPr/>
            <a:r>
              <a:rPr lang="zh-CN" dirty="0"/>
              <a:t>便利小样本、追问诱发的现场模型及教学经历自述限制泛化，原文不能用于估计高中生总体困难频率。其价值是诊断解释模式并提出后续假设。教师应追问理由、比较模型，而不仅是纠正最终答案；这篇研究没有验证一个教学干预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学习心理学把实验信息加工与规律获得作为研究对象；HPS与建构论关注历史问题怎样推动概念重建；GPS依据学习需求分析连接宏观和微观解释；心理模型与知识片段视角关注资源怎样被激活和组织。</a:t>
            </a:r>
          </a:p>
          <a:p>
            <a:pPr/>
            <a:endParaRPr lang="zh-CN" dirty="0"/>
          </a:p>
          <a:p>
            <a:pPr/>
            <a:r>
              <a:rPr lang="zh-CN" dirty="0"/>
              <a:t>这些视角让同一个实验现象呈现出不同研究问题。诊断研究可以检视设计研究对学生思维的假定，评价研究可以检查设计目标的实现情况；理论和对象的互补不等于四篇重复验证了同一种教学方法。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孙可、陈刚用任务分析和实验方案论证教学合理性，没有学习效果测量。罗成等有二十四人前测和实施文本，没有匹配后测。Zuza等的问卷、历史比较及访谈提供改善线索，但因果归因受限。Jelicic等的九人质性资料用于诊断推理机制，不能估计总体频率。</a:t>
            </a:r>
          </a:p>
          <a:p>
            <a:pPr/>
            <a:endParaRPr lang="zh-CN" dirty="0"/>
          </a:p>
          <a:p>
            <a:pPr/>
            <a:r>
              <a:rPr lang="zh-CN" dirty="0"/>
              <a:t>不同方法回答不同问题，不应只按样本大小评价研究。关键是使结论与资料相匹配，区分设计论证、课堂观察、解释过程与学习结果。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篇文献中的困难可以整理为三个层次。概念层次涉及磁场与磁通量、电荷与磁极、电动势与电流。机制层次涉及场的存在与变化、切割是否唯一条件，以及反向和阻碍变化的区别。知识组织层次则表现为公式记忆缺少解释意义、临时模型跨情境不一致。</a:t>
            </a:r>
          </a:p>
          <a:p>
            <a:pPr/>
            <a:endParaRPr lang="zh-CN" dirty="0"/>
          </a:p>
          <a:p>
            <a:pPr/>
            <a:r>
              <a:rPr lang="zh-CN" dirty="0"/>
              <a:t>同一个错答可能来自不同缺口。教师需要先追问理由，再用反例定位，判断学生需要的是量的澄清、因果链补充，还是模型组织支持。这个分类是综合归纳，不是经过统一测量建立的量表。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任务解构与求同归纳支持规律获得，科学史与反例实验支持概念重建，合作解题与模型比较支持机制解释。四篇在显式推理支架与实验参与结合这一方向上有所交会。</a:t>
            </a:r>
          </a:p>
          <a:p>
            <a:pPr/>
            <a:endParaRPr lang="zh-CN" dirty="0"/>
          </a:p>
          <a:p>
            <a:pPr/>
            <a:r>
              <a:rPr lang="zh-CN" dirty="0"/>
              <a:t>但方向上的共识不意味着效果证据相同。两篇中文研究主要提供设计和实施资料，大学研究为历史比较，高中质性研究没有实施干预。参与程度、方案合理性与学习效果应分别评价，尤其要测量解释深度和迁移。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综合四篇可以形成诊断、支架、重建和复核的教学思路。先听见学生的解释，定位概念与模型缺口；再明确中间子结论，支持归纳和方向推理；通过历史问题和反例检验感应条件；最后评价解释质量、残余困难与新情境迁移。</a:t>
            </a:r>
          </a:p>
          <a:p>
            <a:pPr/>
            <a:endParaRPr lang="zh-CN" dirty="0"/>
          </a:p>
          <a:p>
            <a:pPr/>
            <a:r>
              <a:rPr lang="zh-CN" dirty="0"/>
              <a:t>这一思路结合不同研究的贡献，是有待验证的工作假设，不是四篇共同验证的现成教学模式。它的价值在于让教学目标、活动和证据相互对应。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高中课堂可以先收集预测与理由，再让学生描述电流计读数，区分现象与解释。用不切割也感应、多个变量变化而通量不变的反例检验条件。方向判断按照通量增减、感应场和电流方向推进，并明确观察侧。</a:t>
            </a:r>
          </a:p>
          <a:p>
            <a:pPr/>
            <a:endParaRPr lang="zh-CN" dirty="0"/>
          </a:p>
          <a:p>
            <a:pPr/>
            <a:r>
              <a:rPr lang="zh-CN" dirty="0"/>
              <a:t>双线圈等新情境用于检查解释是否一致和可迁移。转化大学设计时应以高中生可理解的有限变化和实验比较建模，不要求照搬微积分或复杂场论。这些建议仍需要学习证据验证。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值得研究的问题是任务支架是否改善机制解释和跨情境一致性。可以采用同期同课程比较，在可行时随机分配，记录教师、实施过程和样本流失。统一前后测，增加延迟和新情境迁移任务，避免只测刚练习过的问题。</a:t>
            </a:r>
          </a:p>
          <a:p>
            <a:pPr/>
            <a:endParaRPr lang="zh-CN" dirty="0"/>
          </a:p>
          <a:p>
            <a:pPr/>
            <a:r>
              <a:rPr lang="zh-CN" dirty="0"/>
              <a:t>访谈、图示和课堂讨论编码提供过程证据，需要报告一致性；量化评价报告效应量和区间，而不只强调p值。这里提出后续研究设计，没有预设已经得到的样本、显著性或效果数字。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项判断是：概念理解应从正确答案走向机制解释，教学评价应区分设计合理性和实际学习效果，研究目标应纳入模型一致性与新情境迁移。四篇研究分别帮助我们理解学习过程、设计概念建构活动、评价解释表现和诊断现场推理。实验、推理与证据应在同一教学链条中接受检验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参考文献列出本次全文精读的四篇论文。两篇中文研究发表于二〇二三年《物理教学》第四期，页码分别为二十至二十四和二十五至二十八。两篇英文研究分别发表于二〇一四年和二〇一七年的Physical Review物理教育研究期刊。页面保留作者、完整题名、期刊、卷期、文章号和数字对象标识，便于查阅原文。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physics_literature_review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physics_literature_review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150" kern="1200" lang="zh-CN">
          <a:solidFill>
            <a:schemeClr val="tx1"/>
          </a:solidFill>
          <a:latin typeface="Noto Sans CJK SC"/>
          <a:ea typeface="Noto Sans CJK SC"/>
          <a:cs typeface="Noto Sans CJK SC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250" kern="1200" lang="zh-CN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100" kern="1200" lang="zh-CN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950" kern="1200" lang="zh-CN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800" kern="1200" lang="zh-CN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650" kern="1200" lang="zh-CN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500" kern="1200" lang="zh-CN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350" kern="1200" lang="zh-CN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1200" kern="1200" lang="zh-CN">
          <a:solidFill>
            <a:schemeClr val="tx1"/>
          </a:solidFill>
          <a:latin typeface="Noto Sans CJK SC"/>
          <a:ea typeface="Noto Sans CJK SC"/>
          <a:cs typeface="Noto Sans CJK SC"/>
        </a:defRPr>
      </a:lvl9pPr>
    </p:bodyStyle>
    <p:otherStyle>
      <a:defPPr>
        <a:defRPr lang="zh-CN"/>
      </a:defPPr>
      <a:lvl1pPr marL="0" algn="l" defTabSz="457200" rtl="0" eaLnBrk="1" latinLnBrk="0" hangingPunct="1">
        <a:defRPr sz="2400" kern="1200" lang="zh-CN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457200" algn="l" defTabSz="457200" rtl="0" eaLnBrk="1" latinLnBrk="0" hangingPunct="1">
        <a:defRPr sz="2250" kern="1200" lang="zh-CN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914400" algn="l" defTabSz="457200" rtl="0" eaLnBrk="1" latinLnBrk="0" hangingPunct="1">
        <a:defRPr sz="2100" kern="1200" lang="zh-CN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371600" algn="l" defTabSz="457200" rtl="0" eaLnBrk="1" latinLnBrk="0" hangingPunct="1">
        <a:defRPr sz="1950" kern="1200" lang="zh-CN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286000" algn="l" defTabSz="457200" rtl="0" eaLnBrk="1" latinLnBrk="0" hangingPunct="1">
        <a:defRPr sz="1650" kern="1200" lang="zh-CN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743200" algn="l" defTabSz="457200" rtl="0" eaLnBrk="1" latinLnBrk="0" hangingPunct="1">
        <a:defRPr sz="1500" kern="1200" lang="zh-CN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200400" algn="l" defTabSz="457200" rtl="0" eaLnBrk="1" latinLnBrk="0" hangingPunct="1">
        <a:defRPr sz="1350" kern="1200" lang="zh-CN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657600" algn="l" defTabSz="457200" rtl="0" eaLnBrk="1" latinLnBrk="0" hangingPunct="1">
        <a:defRPr sz="1200" kern="1200" lang="zh-CN">
          <a:solidFill>
            <a:schemeClr val="tx1"/>
          </a:solidFill>
          <a:latin typeface="Noto Sans CJK SC"/>
          <a:ea typeface="Noto Sans CJK SC"/>
          <a:cs typeface="Noto Sans CJK SC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2.xml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3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4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dc3af388761f77ad.png"/>
  <Relationship Id="rId3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6.xml"/>
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7.xml"/>
</Relationships>
</file>

<file path=ppt/slides/_rels/slide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ad70cd4541d9830a.png"/>
  <Relationship Id="rId3" Type="http://schemas.openxmlformats.org/officeDocument/2006/relationships/notesSlide" Target="../notesSlides/notesSlide8.xml"/>
</Relationships>
</file>

<file path=ppt/slides/_rels/slide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9.xml"/>
</Relationships>
</file>

<file path=ppt/slides/_rels/slide1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0.xml"/>
</Relationships>
</file>

<file path=ppt/slides/_rels/slide1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1.xml"/>
</Relationships>
</file>

<file path=ppt/slides/_rels/slide1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521b94a4973fac9.png"/>
  <Relationship Id="rId3" Type="http://schemas.openxmlformats.org/officeDocument/2006/relationships/notesSlide" Target="../notesSlides/notesSlide12.xml"/>
</Relationships>
</file>

<file path=ppt/slides/_rels/slide1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3.xml"/>
</Relationships>
</file>

<file path=ppt/slides/_rels/slide1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b5be5f1aa9e81efc.png"/>
  <Relationship Id="rId3" Type="http://schemas.openxmlformats.org/officeDocument/2006/relationships/notesSlide" Target="../notesSlides/notesSlide14.xml"/>
</Relationships>
</file>

<file path=ppt/slides/_rels/slide1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5.xml"/>
</Relationships>
</file>

<file path=ppt/slides/_rels/slide1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6.xml"/>
</Relationships>
</file>

<file path=ppt/slides/_rels/slide1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7.xml"/>
</Relationships>
</file>

<file path=ppt/slides/_rels/slide1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8.xml"/>
</Relationships>
</file>

<file path=ppt/slides/_rels/slide1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19.xml"/>
</Relationships>
</file>

<file path=ppt/slides/_rels/slide2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20.xml"/>
</Relationships>
</file>

<file path=ppt/slides/_rels/slide2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21.xml"/>
</Relationships>
</file>

<file path=ppt/slides/_rels/slide2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22.xml"/>
</Relationships>
</file>

<file path=ppt/slides/_rels/slide2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23.xml"/>
</Relationships>
</file>

<file path=ppt/slides/_rels/slide2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notesSlide" Target="../notesSlides/notesSlide24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title"/>
          <p:cNvGrpSpPr/>
          <p:nvPr/>
        </p:nvGrpSpPr>
        <p:grpSpPr>
          <a:xfrm>
            <a:off x="742950" y="1962150"/>
            <a:ext cx="5207508" cy="1739900"/>
            <a:chOff x="742950" y="1962150"/>
            <a:chExt cx="5207508" cy="1739900"/>
          </a:xfrm>
        </p:grpSpPr>
        <p:sp>
          <p:nvSpPr>
            <p:cNvPr id="2" name="TextBox 2"/>
            <p:cNvSpPr txBox="1"/>
            <p:nvPr/>
          </p:nvSpPr>
          <p:spPr>
            <a:xfrm>
              <a:off x="745998" y="1962150"/>
              <a:ext cx="3890771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315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基础物理专题研究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742950" y="2768600"/>
              <a:ext cx="5868924" cy="9334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4800" b="1" dirty="0">
                  <a:solidFill>
                    <a:schemeClr val="accent1"/>
                  </a:solidFill>
                  <a:latin typeface="Noto Sans CJK SC"/>
                  <a:ea typeface="Noto Sans CJK SC"/>
                  <a:cs typeface="Noto Sans CJK SC"/>
                </a:rPr>
                <a:t>电磁感应教学研究</a:t>
              </a:r>
            </a:p>
          </p:txBody>
        </p:sp>
      </p:grpSp>
      <p:grpSp>
        <p:nvGrpSpPr>
          <p:cNvPr id="7" name="subtitle"/>
          <p:cNvGrpSpPr/>
          <p:nvPr/>
        </p:nvGrpSpPr>
        <p:grpSpPr>
          <a:xfrm>
            <a:off x="749808" y="4175125"/>
            <a:ext cx="4224528" cy="1202817"/>
            <a:chOff x="749808" y="4175125"/>
            <a:chExt cx="4224528" cy="1202817"/>
          </a:xfrm>
        </p:grpSpPr>
        <p:sp>
          <p:nvSpPr>
            <p:cNvPr id="5" name="TextBox 5"/>
            <p:cNvSpPr txBox="1"/>
            <p:nvPr/>
          </p:nvSpPr>
          <p:spPr>
            <a:xfrm>
              <a:off x="749808" y="4175125"/>
              <a:ext cx="4070603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四篇文献精读与综合评述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49808" y="4908550"/>
              <a:ext cx="4789932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学科教学（物理）专业研究生</a:t>
              </a:r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965028" y="6438900"/>
            <a:ext cx="62346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r"/>
            <a:r>
              <a:rPr lang="zh-CN" sz="1200" dirty="0">
                <a:solidFill>
                  <a:schemeClr val="accent5"/>
                </a:solidFill>
                <a:latin typeface="Noto Sans CJK SC"/>
                <a:ea typeface="Noto Sans CJK SC"/>
                <a:cs typeface="Noto Sans CJK SC"/>
              </a:rPr>
              <a:t>01 / 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title"/>
          <p:cNvGrpSpPr/>
          <p:nvPr/>
        </p:nvGrpSpPr>
        <p:grpSpPr>
          <a:xfrm>
            <a:off x="593598" y="638175"/>
            <a:ext cx="3848481" cy="616077"/>
            <a:chOff x="593598" y="638175"/>
            <a:chExt cx="3848481" cy="616077"/>
          </a:xfrm>
        </p:grpSpPr>
        <p:sp>
          <p:nvSpPr>
            <p:cNvPr id="2" name="TextBox 2"/>
            <p:cNvSpPr txBox="1"/>
            <p:nvPr/>
          </p:nvSpPr>
          <p:spPr>
            <a:xfrm>
              <a:off x="593598" y="638175"/>
              <a:ext cx="4362831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Noto Sans CJK SC"/>
                  <a:ea typeface="Noto Sans CJK SC"/>
                  <a:cs typeface="Noto Sans CJK SC"/>
                </a:rPr>
                <a:t>研究背景与文献定位</a:t>
              </a:r>
            </a:p>
          </p:txBody>
        </p:sp>
      </p:grpSp>
      <p:grpSp>
        <p:nvGrpSpPr>
          <p:cNvPr id="9" name="body"/>
          <p:cNvGrpSpPr/>
          <p:nvPr/>
        </p:nvGrpSpPr>
        <p:grpSpPr>
          <a:xfrm>
            <a:off x="597408" y="2060575"/>
            <a:ext cx="7560433" cy="3898392"/>
            <a:chOff x="597408" y="2060575"/>
            <a:chExt cx="7560433" cy="3898392"/>
          </a:xfrm>
        </p:grpSpPr>
        <p:sp>
          <p:nvSpPr>
            <p:cNvPr id="4" name="TextBox 4"/>
            <p:cNvSpPr txBox="1"/>
            <p:nvPr/>
          </p:nvSpPr>
          <p:spPr>
            <a:xfrm>
              <a:off x="597408" y="2060575"/>
              <a:ext cx="7307579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学生能判断电流方向，未必能解释感应机制。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97408" y="2917825"/>
              <a:ext cx="810628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孙可、陈刚（2023）：楞次定律的教学任务分析。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97408" y="3775075"/>
              <a:ext cx="7746622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罗成等（2023）：科学史融合与感应条件重建。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597408" y="4632325"/>
              <a:ext cx="781722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Zuza等（2014）：大学指导性解题与学习评价。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97408" y="5489575"/>
              <a:ext cx="8445403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Jelicic等（2017）：高中生的实验推理与心理模型。</a:t>
              </a:r>
            </a:p>
          </p:txBody>
        </p:sp>
      </p:grpSp>
      <p:grpSp>
        <p:nvGrpSpPr>
          <p:cNvPr id="12" name="footer"/>
          <p:cNvGrpSpPr/>
          <p:nvPr/>
        </p:nvGrpSpPr>
        <p:grpSpPr>
          <a:xfrm>
            <a:off x="603504" y="6438900"/>
            <a:ext cx="10984992" cy="234696"/>
            <a:chOff x="603504" y="6438900"/>
            <a:chExt cx="10984992" cy="234696"/>
          </a:xfrm>
        </p:grpSpPr>
        <p:sp>
          <p:nvSpPr>
            <p:cNvPr id="10" name="TextBox 10"/>
            <p:cNvSpPr txBox="1"/>
            <p:nvPr/>
          </p:nvSpPr>
          <p:spPr>
            <a:xfrm>
              <a:off x="603504" y="6438900"/>
              <a:ext cx="101293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文献[1]–[4]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965028" y="6438900"/>
              <a:ext cx="6234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02 / 24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title"/>
          <p:cNvGrpSpPr/>
          <p:nvPr/>
        </p:nvGrpSpPr>
        <p:grpSpPr>
          <a:xfrm>
            <a:off x="593598" y="638175"/>
            <a:ext cx="4272534" cy="616077"/>
            <a:chOff x="593598" y="638175"/>
            <a:chExt cx="4272534" cy="616077"/>
          </a:xfrm>
        </p:grpSpPr>
        <p:sp>
          <p:nvSpPr>
            <p:cNvPr id="2" name="TextBox 2"/>
            <p:cNvSpPr txBox="1"/>
            <p:nvPr/>
          </p:nvSpPr>
          <p:spPr>
            <a:xfrm>
              <a:off x="593598" y="638175"/>
              <a:ext cx="4834890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Noto Sans CJK SC"/>
                  <a:ea typeface="Noto Sans CJK SC"/>
                  <a:cs typeface="Noto Sans CJK SC"/>
                </a:rPr>
                <a:t>电磁感应的概念与机制</a:t>
              </a:r>
            </a:p>
          </p:txBody>
        </p:sp>
      </p:grpSp>
      <p:grpSp>
        <p:nvGrpSpPr>
          <p:cNvPr id="9" name="body"/>
          <p:cNvGrpSpPr/>
          <p:nvPr/>
        </p:nvGrpSpPr>
        <p:grpSpPr>
          <a:xfrm>
            <a:off x="597408" y="2041525"/>
            <a:ext cx="8417749" cy="3822192"/>
            <a:chOff x="597408" y="2041525"/>
            <a:chExt cx="8417749" cy="3822192"/>
          </a:xfrm>
        </p:grpSpPr>
        <p:sp>
          <p:nvSpPr>
            <p:cNvPr id="4" name="TextBox 4"/>
            <p:cNvSpPr txBox="1"/>
            <p:nvPr/>
          </p:nvSpPr>
          <p:spPr>
            <a:xfrm>
              <a:off x="597408" y="2041525"/>
              <a:ext cx="9463632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匀强场、平面：Φ = BS cosθ；θ是磁场与平面法线的夹角。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97408" y="2879725"/>
              <a:ext cx="5120970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平均感应电动势：ε = −ΔΦ/Δt。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97408" y="3717925"/>
              <a:ext cx="8026907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静止回路中的时变磁场，可产生非保守感应电场。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597408" y="4556125"/>
              <a:ext cx="8637704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运动导体中的电荷受磁力 q(v×B)；需明确回路边界。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97408" y="5394325"/>
              <a:ext cx="838657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楞次定律阻碍磁通量变化；感应电动势不等于电流。</a:t>
              </a:r>
            </a:p>
          </p:txBody>
        </p:sp>
      </p:grpSp>
      <p:grpSp>
        <p:nvGrpSpPr>
          <p:cNvPr id="12" name="footer"/>
          <p:cNvGrpSpPr/>
          <p:nvPr/>
        </p:nvGrpSpPr>
        <p:grpSpPr>
          <a:xfrm>
            <a:off x="603504" y="6438900"/>
            <a:ext cx="10984992" cy="234696"/>
            <a:chOff x="603504" y="6438900"/>
            <a:chExt cx="10984992" cy="234696"/>
          </a:xfrm>
        </p:grpSpPr>
        <p:sp>
          <p:nvSpPr>
            <p:cNvPr id="10" name="TextBox 10"/>
            <p:cNvSpPr txBox="1"/>
            <p:nvPr/>
          </p:nvSpPr>
          <p:spPr>
            <a:xfrm>
              <a:off x="603504" y="6438900"/>
              <a:ext cx="155242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物理参照：[1]–[4]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965028" y="6438900"/>
              <a:ext cx="6234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03 / 24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title"/>
          <p:cNvGrpSpPr/>
          <p:nvPr/>
        </p:nvGrpSpPr>
        <p:grpSpPr>
          <a:xfrm>
            <a:off x="593598" y="638175"/>
            <a:ext cx="6392799" cy="1072007"/>
            <a:chOff x="593598" y="638175"/>
            <a:chExt cx="6392799" cy="1072007"/>
          </a:xfrm>
        </p:grpSpPr>
        <p:sp>
          <p:nvSpPr>
            <p:cNvPr id="2" name="TextBox 2"/>
            <p:cNvSpPr txBox="1"/>
            <p:nvPr/>
          </p:nvSpPr>
          <p:spPr>
            <a:xfrm>
              <a:off x="593598" y="638175"/>
              <a:ext cx="7195185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Noto Sans CJK SC"/>
                  <a:ea typeface="Noto Sans CJK SC"/>
                  <a:cs typeface="Noto Sans CJK SC"/>
                </a:rPr>
                <a:t>文献一：楞次定律的教学任务分析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01218" y="1387475"/>
              <a:ext cx="239381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孙可、陈刚（2023）</a:t>
              </a:r>
            </a:p>
          </p:txBody>
        </p:sp>
      </p:grpSp>
      <p:grpSp>
        <p:nvGrpSpPr>
          <p:cNvPr id="8" name="body"/>
          <p:cNvGrpSpPr/>
          <p:nvPr/>
        </p:nvGrpSpPr>
        <p:grpSpPr>
          <a:xfrm>
            <a:off x="597408" y="2165350"/>
            <a:ext cx="6809232" cy="3352292"/>
            <a:chOff x="597408" y="2165350"/>
            <a:chExt cx="6809232" cy="3352292"/>
          </a:xfrm>
        </p:grpSpPr>
        <p:sp>
          <p:nvSpPr>
            <p:cNvPr id="5" name="TextBox 5"/>
            <p:cNvSpPr txBox="1"/>
            <p:nvPr/>
          </p:nvSpPr>
          <p:spPr>
            <a:xfrm>
              <a:off x="597408" y="2165350"/>
              <a:ext cx="7667243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核心问题：如何从多组实验信息归纳楞次定律？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97408" y="3162300"/>
              <a:ext cx="6588251" cy="926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>
                <a:lnSpc>
                  <a:spcPts val="3600"/>
                </a:lnSpc>
              </a:pPr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理论基础：学习心理学与教学任务分析。</a:t>
              </a:r>
              <a:b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</a:br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写图式、定内容、析途径、清序列。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597408" y="4591050"/>
              <a:ext cx="7667243" cy="926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>
                <a:lnSpc>
                  <a:spcPts val="3600"/>
                </a:lnSpc>
              </a:pPr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教学策略：向前推理提出问题，穷举规划情境，</a:t>
              </a:r>
              <a:b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</a:br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通过求同归纳形成中间子结论。</a:t>
              </a:r>
            </a:p>
          </p:txBody>
        </p:sp>
      </p:grpSp>
      <p:grpSp>
        <p:nvGrpSpPr>
          <p:cNvPr id="11" name="footer"/>
          <p:cNvGrpSpPr/>
          <p:nvPr/>
        </p:nvGrpSpPr>
        <p:grpSpPr>
          <a:xfrm>
            <a:off x="603504" y="6438900"/>
            <a:ext cx="10984992" cy="234696"/>
            <a:chOff x="603504" y="6438900"/>
            <a:chExt cx="10984992" cy="234696"/>
          </a:xfrm>
        </p:grpSpPr>
        <p:sp>
          <p:nvSpPr>
            <p:cNvPr id="9" name="TextBox 9"/>
            <p:cNvSpPr txBox="1"/>
            <p:nvPr/>
          </p:nvSpPr>
          <p:spPr>
            <a:xfrm>
              <a:off x="603504" y="6438900"/>
              <a:ext cx="11423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en-US" sz="120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[1] pp.20–22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0965028" y="6438900"/>
              <a:ext cx="6234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04 / 24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title"/>
          <p:cNvGrpSpPr/>
          <p:nvPr/>
        </p:nvGrpSpPr>
        <p:grpSpPr>
          <a:xfrm>
            <a:off x="593598" y="638175"/>
            <a:ext cx="4762315" cy="616077"/>
            <a:chOff x="593598" y="638175"/>
            <a:chExt cx="4762315" cy="616077"/>
          </a:xfrm>
        </p:grpSpPr>
        <p:sp>
          <p:nvSpPr>
            <p:cNvPr id="2" name="TextBox 2"/>
            <p:cNvSpPr txBox="1"/>
            <p:nvPr/>
          </p:nvSpPr>
          <p:spPr>
            <a:xfrm>
              <a:off x="593598" y="638175"/>
              <a:ext cx="5779007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Noto Sans CJK SC"/>
                  <a:ea typeface="Noto Sans CJK SC"/>
                  <a:cs typeface="Noto Sans CJK SC"/>
                </a:rPr>
                <a:t>“来拒去留”与磁通量变化</a:t>
              </a:r>
            </a:p>
          </p:txBody>
        </p:sp>
      </p:grpSp>
      <p:grpSp>
        <p:nvGrpSpPr>
          <p:cNvPr id="7" name="body"/>
          <p:cNvGrpSpPr/>
          <p:nvPr/>
        </p:nvGrpSpPr>
        <p:grpSpPr>
          <a:xfrm>
            <a:off x="597408" y="2085975"/>
            <a:ext cx="3610661" cy="3415792"/>
            <a:chOff x="597408" y="2085975"/>
            <a:chExt cx="3610661" cy="3415792"/>
          </a:xfrm>
        </p:grpSpPr>
        <p:sp>
          <p:nvSpPr>
            <p:cNvPr id="4" name="TextBox 4"/>
            <p:cNvSpPr txBox="1"/>
            <p:nvPr/>
          </p:nvSpPr>
          <p:spPr>
            <a:xfrm>
              <a:off x="597408" y="2085975"/>
              <a:ext cx="4070603" cy="926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>
                <a:lnSpc>
                  <a:spcPts val="3600"/>
                </a:lnSpc>
              </a:pPr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靠近时，通量大小增大；</a:t>
              </a:r>
              <a:b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</a:br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感应磁场阻碍增大。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97408" y="3533775"/>
              <a:ext cx="4070603" cy="926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>
                <a:lnSpc>
                  <a:spcPts val="3600"/>
                </a:lnSpc>
              </a:pPr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远离时，通量大小减小；</a:t>
              </a:r>
              <a:b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</a:br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感应磁场阻碍减小。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97408" y="5032375"/>
              <a:ext cx="4430268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“阻碍变化”是共同规律。</a:t>
              </a:r>
            </a:p>
          </p:txBody>
        </p:sp>
      </p:grpSp>
      <p:grpSp>
        <p:nvGrpSpPr>
          <p:cNvPr id="9" name="evidence"/>
          <p:cNvGrpSpPr/>
          <p:nvPr/>
        </p:nvGrpSpPr>
        <p:grpSpPr>
          <a:xfrm>
            <a:off x="5657850" y="2076450"/>
            <a:ext cx="5924550" cy="3276600"/>
            <a:chOff x="5657850" y="2076450"/>
            <a:chExt cx="5924550" cy="3276600"/>
          </a:xfrm>
        </p:grpSpPr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57850" y="2076450"/>
              <a:ext cx="5924550" cy="3276600"/>
            </a:xfrm>
            <a:prstGeom prst="rect">
              <a:avLst/>
            </a:prstGeom>
          </p:spPr>
        </p:pic>
      </p:grpSp>
      <p:grpSp>
        <p:nvGrpSpPr>
          <p:cNvPr id="12" name="footer"/>
          <p:cNvGrpSpPr/>
          <p:nvPr/>
        </p:nvGrpSpPr>
        <p:grpSpPr>
          <a:xfrm>
            <a:off x="603504" y="6438900"/>
            <a:ext cx="10984992" cy="234696"/>
            <a:chOff x="603504" y="6438900"/>
            <a:chExt cx="10984992" cy="234696"/>
          </a:xfrm>
        </p:grpSpPr>
        <p:sp>
          <p:nvSpPr>
            <p:cNvPr id="10" name="TextBox 10"/>
            <p:cNvSpPr txBox="1"/>
            <p:nvPr/>
          </p:nvSpPr>
          <p:spPr>
            <a:xfrm>
              <a:off x="603504" y="6438900"/>
              <a:ext cx="34898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孙可、陈刚（2023），p.22，表6原文截图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965028" y="6438900"/>
              <a:ext cx="6234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05 / 24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title"/>
          <p:cNvGrpSpPr/>
          <p:nvPr/>
        </p:nvGrpSpPr>
        <p:grpSpPr>
          <a:xfrm>
            <a:off x="593598" y="638175"/>
            <a:ext cx="3848481" cy="616077"/>
            <a:chOff x="593598" y="638175"/>
            <a:chExt cx="3848481" cy="616077"/>
          </a:xfrm>
        </p:grpSpPr>
        <p:sp>
          <p:nvSpPr>
            <p:cNvPr id="2" name="TextBox 2"/>
            <p:cNvSpPr txBox="1"/>
            <p:nvPr/>
          </p:nvSpPr>
          <p:spPr>
            <a:xfrm>
              <a:off x="593598" y="638175"/>
              <a:ext cx="4362831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Noto Sans CJK SC"/>
                  <a:ea typeface="Noto Sans CJK SC"/>
                  <a:cs typeface="Noto Sans CJK SC"/>
                </a:rPr>
                <a:t>文献一的贡献与局限</a:t>
              </a:r>
            </a:p>
          </p:txBody>
        </p:sp>
      </p:grpSp>
      <p:grpSp>
        <p:nvGrpSpPr>
          <p:cNvPr id="7" name="body"/>
          <p:cNvGrpSpPr/>
          <p:nvPr/>
        </p:nvGrpSpPr>
        <p:grpSpPr>
          <a:xfrm>
            <a:off x="597408" y="2117725"/>
            <a:ext cx="6809232" cy="3352292"/>
            <a:chOff x="597408" y="2117725"/>
            <a:chExt cx="6809232" cy="3352292"/>
          </a:xfrm>
        </p:grpSpPr>
        <p:sp>
          <p:nvSpPr>
            <p:cNvPr id="4" name="TextBox 4"/>
            <p:cNvSpPr txBox="1"/>
            <p:nvPr/>
          </p:nvSpPr>
          <p:spPr>
            <a:xfrm>
              <a:off x="597408" y="2117725"/>
              <a:ext cx="7667243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贡献：把规律学习拆成信息选择、组合与归纳。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97408" y="3114675"/>
              <a:ext cx="6947915" cy="926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>
                <a:lnSpc>
                  <a:spcPts val="3600"/>
                </a:lnSpc>
              </a:pPr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资料：实验方案、逻辑表和教学片段。</a:t>
              </a:r>
              <a:b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</a:br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未报告学生样本、前后测、对照或效果量。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97408" y="4543425"/>
              <a:ext cx="8026907" cy="926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>
                <a:lnSpc>
                  <a:spcPts val="3600"/>
                </a:lnSpc>
              </a:pPr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启示：从感应磁场反推电流方向，再检验新情境。</a:t>
              </a:r>
              <a:b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</a:br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装置验证物理规律，不能替代学习效果测量。</a:t>
              </a:r>
            </a:p>
          </p:txBody>
        </p:sp>
      </p:grpSp>
      <p:grpSp>
        <p:nvGrpSpPr>
          <p:cNvPr id="10" name="footer"/>
          <p:cNvGrpSpPr/>
          <p:nvPr/>
        </p:nvGrpSpPr>
        <p:grpSpPr>
          <a:xfrm>
            <a:off x="603504" y="6438900"/>
            <a:ext cx="10984992" cy="234696"/>
            <a:chOff x="603504" y="6438900"/>
            <a:chExt cx="10984992" cy="234696"/>
          </a:xfrm>
        </p:grpSpPr>
        <p:sp>
          <p:nvSpPr>
            <p:cNvPr id="8" name="TextBox 8"/>
            <p:cNvSpPr txBox="1"/>
            <p:nvPr/>
          </p:nvSpPr>
          <p:spPr>
            <a:xfrm>
              <a:off x="603504" y="6438900"/>
              <a:ext cx="11423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en-US" sz="120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[1] pp.22–24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965028" y="6438900"/>
              <a:ext cx="6234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06 / 24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title"/>
          <p:cNvGrpSpPr/>
          <p:nvPr/>
        </p:nvGrpSpPr>
        <p:grpSpPr>
          <a:xfrm>
            <a:off x="593598" y="638175"/>
            <a:ext cx="5120640" cy="1072007"/>
            <a:chOff x="593598" y="638175"/>
            <a:chExt cx="5120640" cy="1072007"/>
          </a:xfrm>
        </p:grpSpPr>
        <p:sp>
          <p:nvSpPr>
            <p:cNvPr id="2" name="TextBox 2"/>
            <p:cNvSpPr txBox="1"/>
            <p:nvPr/>
          </p:nvSpPr>
          <p:spPr>
            <a:xfrm>
              <a:off x="593598" y="638175"/>
              <a:ext cx="5779007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Noto Sans CJK SC"/>
                  <a:ea typeface="Noto Sans CJK SC"/>
                  <a:cs typeface="Noto Sans CJK SC"/>
                </a:rPr>
                <a:t>文献二：科学史与概念建构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01218" y="1387475"/>
              <a:ext cx="36301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罗成、朱行建、文金宝（2023）</a:t>
              </a:r>
            </a:p>
          </p:txBody>
        </p:sp>
      </p:grpSp>
      <p:grpSp>
        <p:nvGrpSpPr>
          <p:cNvPr id="8" name="body"/>
          <p:cNvGrpSpPr/>
          <p:nvPr/>
        </p:nvGrpSpPr>
        <p:grpSpPr>
          <a:xfrm>
            <a:off x="597408" y="2146300"/>
            <a:ext cx="6445606" cy="3352292"/>
            <a:chOff x="597408" y="2146300"/>
            <a:chExt cx="6445606" cy="3352292"/>
          </a:xfrm>
        </p:grpSpPr>
        <p:sp>
          <p:nvSpPr>
            <p:cNvPr id="5" name="TextBox 5"/>
            <p:cNvSpPr txBox="1"/>
            <p:nvPr/>
          </p:nvSpPr>
          <p:spPr>
            <a:xfrm>
              <a:off x="597408" y="2146300"/>
              <a:ext cx="7647750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理论基础：建构论视域下的HPS“融合模式”。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97408" y="3143250"/>
              <a:ext cx="7307579" cy="926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>
                <a:lnSpc>
                  <a:spcPts val="3600"/>
                </a:lnSpc>
              </a:pPr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六个环节：演示现象、引出观念、学习历史，</a:t>
              </a:r>
              <a:b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</a:br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动手实验、实践检验、总结评价。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597408" y="4572000"/>
              <a:ext cx="6228588" cy="926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>
                <a:lnSpc>
                  <a:spcPts val="3600"/>
                </a:lnSpc>
              </a:pPr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未果实验与反例推动感应条件的重建。</a:t>
              </a:r>
              <a:b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</a:br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科学史参与概念形成，而非附加故事。</a:t>
              </a:r>
            </a:p>
          </p:txBody>
        </p:sp>
      </p:grpSp>
      <p:grpSp>
        <p:nvGrpSpPr>
          <p:cNvPr id="11" name="footer"/>
          <p:cNvGrpSpPr/>
          <p:nvPr/>
        </p:nvGrpSpPr>
        <p:grpSpPr>
          <a:xfrm>
            <a:off x="603504" y="6438900"/>
            <a:ext cx="10984992" cy="234696"/>
            <a:chOff x="603504" y="6438900"/>
            <a:chExt cx="10984992" cy="234696"/>
          </a:xfrm>
        </p:grpSpPr>
        <p:sp>
          <p:nvSpPr>
            <p:cNvPr id="9" name="TextBox 9"/>
            <p:cNvSpPr txBox="1"/>
            <p:nvPr/>
          </p:nvSpPr>
          <p:spPr>
            <a:xfrm>
              <a:off x="603504" y="6438900"/>
              <a:ext cx="11423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en-US" sz="120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[2] pp.25–28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0965028" y="6438900"/>
              <a:ext cx="6234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07 / 24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title"/>
          <p:cNvGrpSpPr/>
          <p:nvPr/>
        </p:nvGrpSpPr>
        <p:grpSpPr>
          <a:xfrm>
            <a:off x="593598" y="638175"/>
            <a:ext cx="3914209" cy="616077"/>
            <a:chOff x="593598" y="638175"/>
            <a:chExt cx="3914209" cy="616077"/>
          </a:xfrm>
        </p:grpSpPr>
        <p:sp>
          <p:nvSpPr>
            <p:cNvPr id="2" name="TextBox 2"/>
            <p:cNvSpPr txBox="1"/>
            <p:nvPr/>
          </p:nvSpPr>
          <p:spPr>
            <a:xfrm>
              <a:off x="593598" y="638175"/>
              <a:ext cx="4447829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Noto Sans CJK SC"/>
                  <a:ea typeface="Noto Sans CJK SC"/>
                  <a:cs typeface="Noto Sans CJK SC"/>
                </a:rPr>
                <a:t>24名学生的前测记录</a:t>
              </a:r>
            </a:p>
          </p:txBody>
        </p:sp>
      </p:grpSp>
      <p:grpSp>
        <p:nvGrpSpPr>
          <p:cNvPr id="7" name="body"/>
          <p:cNvGrpSpPr/>
          <p:nvPr/>
        </p:nvGrpSpPr>
        <p:grpSpPr>
          <a:xfrm>
            <a:off x="597408" y="2174875"/>
            <a:ext cx="3681984" cy="3333242"/>
            <a:chOff x="597408" y="2174875"/>
            <a:chExt cx="3681984" cy="3333242"/>
          </a:xfrm>
        </p:grpSpPr>
        <p:sp>
          <p:nvSpPr>
            <p:cNvPr id="4" name="TextBox 4"/>
            <p:cNvSpPr txBox="1"/>
            <p:nvPr/>
          </p:nvSpPr>
          <p:spPr>
            <a:xfrm>
              <a:off x="597408" y="2174875"/>
              <a:ext cx="3750629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15人准确表述磁通量。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97408" y="3171825"/>
              <a:ext cx="3750629" cy="926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>
                <a:lnSpc>
                  <a:spcPts val="3600"/>
                </a:lnSpc>
              </a:pPr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12人认为只有“切割”</a:t>
              </a:r>
              <a:b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</a:br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才能产生感应电流。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97408" y="4581525"/>
              <a:ext cx="4430268" cy="926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>
                <a:lnSpc>
                  <a:spcPts val="3600"/>
                </a:lnSpc>
              </a:pPr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6人指出磁通量变化条件。</a:t>
              </a:r>
              <a:b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</a:br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这些条目不构成互斥分类。</a:t>
              </a:r>
            </a:p>
          </p:txBody>
        </p:sp>
      </p:grpSp>
      <p:grpSp>
        <p:nvGrpSpPr>
          <p:cNvPr id="9" name="evidence"/>
          <p:cNvGrpSpPr/>
          <p:nvPr/>
        </p:nvGrpSpPr>
        <p:grpSpPr>
          <a:xfrm>
            <a:off x="5657850" y="2000250"/>
            <a:ext cx="5924550" cy="3629025"/>
            <a:chOff x="5657850" y="2000250"/>
            <a:chExt cx="5924550" cy="3629025"/>
          </a:xfrm>
        </p:grpSpPr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57850" y="2000250"/>
              <a:ext cx="5924550" cy="3629025"/>
            </a:xfrm>
            <a:prstGeom prst="rect">
              <a:avLst/>
            </a:prstGeom>
          </p:spPr>
        </p:pic>
      </p:grpSp>
      <p:grpSp>
        <p:nvGrpSpPr>
          <p:cNvPr id="12" name="footer"/>
          <p:cNvGrpSpPr/>
          <p:nvPr/>
        </p:nvGrpSpPr>
        <p:grpSpPr>
          <a:xfrm>
            <a:off x="603504" y="6438900"/>
            <a:ext cx="10984992" cy="234696"/>
            <a:chOff x="603504" y="6438900"/>
            <a:chExt cx="10984992" cy="234696"/>
          </a:xfrm>
        </p:grpSpPr>
        <p:sp>
          <p:nvSpPr>
            <p:cNvPr id="10" name="TextBox 10"/>
            <p:cNvSpPr txBox="1"/>
            <p:nvPr/>
          </p:nvSpPr>
          <p:spPr>
            <a:xfrm>
              <a:off x="603504" y="6438900"/>
              <a:ext cx="313017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罗成等（2023），p.26，表1原文截图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965028" y="6438900"/>
              <a:ext cx="6234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08 / 24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title"/>
          <p:cNvGrpSpPr/>
          <p:nvPr/>
        </p:nvGrpSpPr>
        <p:grpSpPr>
          <a:xfrm>
            <a:off x="593598" y="638175"/>
            <a:ext cx="4828043" cy="616077"/>
            <a:chOff x="593598" y="638175"/>
            <a:chExt cx="4828043" cy="616077"/>
          </a:xfrm>
        </p:grpSpPr>
        <p:sp>
          <p:nvSpPr>
            <p:cNvPr id="2" name="TextBox 2"/>
            <p:cNvSpPr txBox="1"/>
            <p:nvPr/>
          </p:nvSpPr>
          <p:spPr>
            <a:xfrm>
              <a:off x="593598" y="638175"/>
              <a:ext cx="6251067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Noto Sans CJK SC"/>
                  <a:ea typeface="Noto Sans CJK SC"/>
                  <a:cs typeface="Noto Sans CJK SC"/>
                </a:rPr>
                <a:t>从“切割”到“磁通量变化”</a:t>
              </a:r>
            </a:p>
          </p:txBody>
        </p:sp>
      </p:grpSp>
      <p:grpSp>
        <p:nvGrpSpPr>
          <p:cNvPr id="8" name="body"/>
          <p:cNvGrpSpPr/>
          <p:nvPr/>
        </p:nvGrpSpPr>
        <p:grpSpPr>
          <a:xfrm>
            <a:off x="597408" y="2060575"/>
            <a:ext cx="7455408" cy="3612642"/>
            <a:chOff x="597408" y="2060575"/>
            <a:chExt cx="7455408" cy="3612642"/>
          </a:xfrm>
        </p:grpSpPr>
        <p:sp>
          <p:nvSpPr>
            <p:cNvPr id="4" name="TextBox 4"/>
            <p:cNvSpPr txBox="1"/>
            <p:nvPr/>
          </p:nvSpPr>
          <p:spPr>
            <a:xfrm>
              <a:off x="597408" y="2060575"/>
              <a:ext cx="7307579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开关瞬态：导体不“切割”，也能发生感应。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97408" y="3108325"/>
              <a:ext cx="838657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反例：磁场与投影面积都变化，磁通量仍可能不变。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97408" y="4156075"/>
              <a:ext cx="7307579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教学价值：用历史问题和反例修正原有解释。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597408" y="5203825"/>
              <a:ext cx="7667243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证据局限：未报告匹配后测、对照与效果统计。</a:t>
              </a:r>
            </a:p>
          </p:txBody>
        </p:sp>
      </p:grpSp>
      <p:grpSp>
        <p:nvGrpSpPr>
          <p:cNvPr id="11" name="footer"/>
          <p:cNvGrpSpPr/>
          <p:nvPr/>
        </p:nvGrpSpPr>
        <p:grpSpPr>
          <a:xfrm>
            <a:off x="603504" y="6438900"/>
            <a:ext cx="10984992" cy="234696"/>
            <a:chOff x="603504" y="6438900"/>
            <a:chExt cx="10984992" cy="234696"/>
          </a:xfrm>
        </p:grpSpPr>
        <p:sp>
          <p:nvSpPr>
            <p:cNvPr id="9" name="TextBox 9"/>
            <p:cNvSpPr txBox="1"/>
            <p:nvPr/>
          </p:nvSpPr>
          <p:spPr>
            <a:xfrm>
              <a:off x="603504" y="6438900"/>
              <a:ext cx="11423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en-US" sz="120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[2] pp.27–28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0965028" y="6438900"/>
              <a:ext cx="6234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09 / 24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title"/>
          <p:cNvGrpSpPr/>
          <p:nvPr/>
        </p:nvGrpSpPr>
        <p:grpSpPr>
          <a:xfrm>
            <a:off x="593598" y="638175"/>
            <a:ext cx="5968746" cy="1072007"/>
            <a:chOff x="593598" y="638175"/>
            <a:chExt cx="5968746" cy="1072007"/>
          </a:xfrm>
        </p:grpSpPr>
        <p:sp>
          <p:nvSpPr>
            <p:cNvPr id="2" name="TextBox 2"/>
            <p:cNvSpPr txBox="1"/>
            <p:nvPr/>
          </p:nvSpPr>
          <p:spPr>
            <a:xfrm>
              <a:off x="593598" y="638175"/>
              <a:ext cx="6723125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Noto Sans CJK SC"/>
                  <a:ea typeface="Noto Sans CJK SC"/>
                  <a:cs typeface="Noto Sans CJK SC"/>
                </a:rPr>
                <a:t>文献三：指导性解题的教学评价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01218" y="1387475"/>
              <a:ext cx="47711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Zuza, Almudí, Leniz &amp; Guisasola（2014）</a:t>
              </a:r>
            </a:p>
          </p:txBody>
        </p:sp>
      </p:grpSp>
      <p:grpSp>
        <p:nvGrpSpPr>
          <p:cNvPr id="9" name="body"/>
          <p:cNvGrpSpPr/>
          <p:nvPr/>
        </p:nvGrpSpPr>
        <p:grpSpPr>
          <a:xfrm>
            <a:off x="597408" y="2174875"/>
            <a:ext cx="7875422" cy="3612642"/>
            <a:chOff x="597408" y="2174875"/>
            <a:chExt cx="7875422" cy="3612642"/>
          </a:xfrm>
        </p:grpSpPr>
        <p:sp>
          <p:nvSpPr>
            <p:cNvPr id="5" name="TextBox 5"/>
            <p:cNvSpPr txBox="1"/>
            <p:nvPr/>
          </p:nvSpPr>
          <p:spPr>
            <a:xfrm>
              <a:off x="597408" y="2174875"/>
              <a:ext cx="7274037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GPS：问题导向学习与显式解题指导相结合。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97408" y="3222625"/>
              <a:ext cx="8865304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对象：大学工程一年级，序列组148人，历史组147人。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597408" y="4270375"/>
              <a:ext cx="8099437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实施：两周7小时，3–4人合作；首轮试用后修订。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97408" y="5318125"/>
              <a:ext cx="7667243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目标：连接宏观现象、磁通量规则与微观解释。</a:t>
              </a:r>
            </a:p>
          </p:txBody>
        </p:sp>
      </p:grpSp>
      <p:grpSp>
        <p:nvGrpSpPr>
          <p:cNvPr id="12" name="footer"/>
          <p:cNvGrpSpPr/>
          <p:nvPr/>
        </p:nvGrpSpPr>
        <p:grpSpPr>
          <a:xfrm>
            <a:off x="603504" y="6438900"/>
            <a:ext cx="10984992" cy="234696"/>
            <a:chOff x="603504" y="6438900"/>
            <a:chExt cx="10984992" cy="234696"/>
          </a:xfrm>
        </p:grpSpPr>
        <p:sp>
          <p:nvSpPr>
            <p:cNvPr id="10" name="TextBox 10"/>
            <p:cNvSpPr txBox="1"/>
            <p:nvPr/>
          </p:nvSpPr>
          <p:spPr>
            <a:xfrm>
              <a:off x="603504" y="6438900"/>
              <a:ext cx="238151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[3] pp.3–6；非同期随机对照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965028" y="6438900"/>
              <a:ext cx="6234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10 / 24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title"/>
          <p:cNvGrpSpPr/>
          <p:nvPr/>
        </p:nvGrpSpPr>
        <p:grpSpPr>
          <a:xfrm>
            <a:off x="593598" y="638175"/>
            <a:ext cx="3848481" cy="616077"/>
            <a:chOff x="593598" y="638175"/>
            <a:chExt cx="3848481" cy="616077"/>
          </a:xfrm>
        </p:grpSpPr>
        <p:sp>
          <p:nvSpPr>
            <p:cNvPr id="2" name="TextBox 2"/>
            <p:cNvSpPr txBox="1"/>
            <p:nvPr/>
          </p:nvSpPr>
          <p:spPr>
            <a:xfrm>
              <a:off x="593598" y="638175"/>
              <a:ext cx="4362831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Noto Sans CJK SC"/>
                  <a:ea typeface="Noto Sans CJK SC"/>
                  <a:cs typeface="Noto Sans CJK SC"/>
                </a:rPr>
                <a:t>测量工具与答案分析</a:t>
              </a:r>
            </a:p>
          </p:txBody>
        </p:sp>
      </p:grpSp>
      <p:grpSp>
        <p:nvGrpSpPr>
          <p:cNvPr id="7" name="body"/>
          <p:cNvGrpSpPr/>
          <p:nvPr/>
        </p:nvGrpSpPr>
        <p:grpSpPr>
          <a:xfrm>
            <a:off x="597408" y="2070100"/>
            <a:ext cx="6809232" cy="3361817"/>
            <a:chOff x="597408" y="2070100"/>
            <a:chExt cx="6809232" cy="3361817"/>
          </a:xfrm>
        </p:grpSpPr>
        <p:sp>
          <p:nvSpPr>
            <p:cNvPr id="4" name="TextBox 4"/>
            <p:cNvSpPr txBox="1"/>
            <p:nvPr/>
          </p:nvSpPr>
          <p:spPr>
            <a:xfrm>
              <a:off x="597408" y="2070100"/>
              <a:ext cx="7667243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五题前后测：时变磁场、运动线圈与旋转铜盘。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97408" y="3067050"/>
              <a:ext cx="8026907" cy="926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>
                <a:lnSpc>
                  <a:spcPts val="3600"/>
                </a:lnSpc>
              </a:pPr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按解释编码：场模型、力模型及错误／不足类型。</a:t>
              </a:r>
              <a:b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</a:br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组内复评κ均值0.88；研究者间κ为0.85。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97408" y="4505325"/>
              <a:ext cx="7586635" cy="926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>
                <a:lnSpc>
                  <a:spcPts val="3600"/>
                </a:lnSpc>
              </a:pPr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补充访谈：15名志愿者，5个小组，约40分钟。</a:t>
              </a:r>
              <a:b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</a:br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前后测情境相似但不完全相同。</a:t>
              </a:r>
            </a:p>
          </p:txBody>
        </p:sp>
      </p:grpSp>
      <p:grpSp>
        <p:nvGrpSpPr>
          <p:cNvPr id="10" name="footer"/>
          <p:cNvGrpSpPr/>
          <p:nvPr/>
        </p:nvGrpSpPr>
        <p:grpSpPr>
          <a:xfrm>
            <a:off x="603504" y="6438900"/>
            <a:ext cx="10984992" cy="234696"/>
            <a:chOff x="603504" y="6438900"/>
            <a:chExt cx="10984992" cy="234696"/>
          </a:xfrm>
        </p:grpSpPr>
        <p:sp>
          <p:nvSpPr>
            <p:cNvPr id="8" name="TextBox 8"/>
            <p:cNvSpPr txBox="1"/>
            <p:nvPr/>
          </p:nvSpPr>
          <p:spPr>
            <a:xfrm>
              <a:off x="603504" y="6438900"/>
              <a:ext cx="16005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[3] pp.4–6，附录B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965028" y="6438900"/>
              <a:ext cx="6234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11 / 24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title"/>
          <p:cNvGrpSpPr/>
          <p:nvPr/>
        </p:nvGrpSpPr>
        <p:grpSpPr>
          <a:xfrm>
            <a:off x="593598" y="638175"/>
            <a:ext cx="3848481" cy="616077"/>
            <a:chOff x="593598" y="638175"/>
            <a:chExt cx="3848481" cy="616077"/>
          </a:xfrm>
        </p:grpSpPr>
        <p:sp>
          <p:nvSpPr>
            <p:cNvPr id="2" name="TextBox 2"/>
            <p:cNvSpPr txBox="1"/>
            <p:nvPr/>
          </p:nvSpPr>
          <p:spPr>
            <a:xfrm>
              <a:off x="593598" y="638175"/>
              <a:ext cx="4362831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Noto Sans CJK SC"/>
                  <a:ea typeface="Noto Sans CJK SC"/>
                  <a:cs typeface="Noto Sans CJK SC"/>
                </a:rPr>
                <a:t>后测结果与残余困难</a:t>
              </a:r>
            </a:p>
          </p:txBody>
        </p:sp>
      </p:grpSp>
      <p:grpSp>
        <p:nvGrpSpPr>
          <p:cNvPr id="6" name="body"/>
          <p:cNvGrpSpPr/>
          <p:nvPr/>
        </p:nvGrpSpPr>
        <p:grpSpPr>
          <a:xfrm>
            <a:off x="597408" y="1593850"/>
            <a:ext cx="9564624" cy="955167"/>
            <a:chOff x="597408" y="1593850"/>
            <a:chExt cx="9564624" cy="955167"/>
          </a:xfrm>
        </p:grpSpPr>
        <p:sp>
          <p:nvSpPr>
            <p:cNvPr id="4" name="TextBox 4"/>
            <p:cNvSpPr txBox="1"/>
            <p:nvPr/>
          </p:nvSpPr>
          <p:spPr>
            <a:xfrm>
              <a:off x="597408" y="1593850"/>
              <a:ext cx="1095866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Q3–Q5正确率：73%、90%、33%；历史组为53%、75.5%、15%。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97408" y="2079625"/>
              <a:ext cx="6947915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铜盘题仍较困难；历史比较限制因果归因。</a:t>
              </a:r>
            </a:p>
          </p:txBody>
        </p:sp>
      </p:grpSp>
      <p:grpSp>
        <p:nvGrpSpPr>
          <p:cNvPr id="8" name="evidence"/>
          <p:cNvGrpSpPr/>
          <p:nvPr/>
        </p:nvGrpSpPr>
        <p:grpSpPr>
          <a:xfrm>
            <a:off x="1828800" y="2724150"/>
            <a:ext cx="8534400" cy="3486150"/>
            <a:chOff x="1828800" y="2724150"/>
            <a:chExt cx="8534400" cy="3486150"/>
          </a:xfrm>
        </p:grpSpPr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28800" y="2724150"/>
              <a:ext cx="8534400" cy="3486150"/>
            </a:xfrm>
            <a:prstGeom prst="rect">
              <a:avLst/>
            </a:prstGeom>
          </p:spPr>
        </p:pic>
      </p:grpSp>
      <p:grpSp>
        <p:nvGrpSpPr>
          <p:cNvPr id="11" name="footer"/>
          <p:cNvGrpSpPr/>
          <p:nvPr/>
        </p:nvGrpSpPr>
        <p:grpSpPr>
          <a:xfrm>
            <a:off x="603504" y="6438900"/>
            <a:ext cx="10984992" cy="234696"/>
            <a:chOff x="603504" y="6438900"/>
            <a:chExt cx="10984992" cy="234696"/>
          </a:xfrm>
        </p:grpSpPr>
        <p:sp>
          <p:nvSpPr>
            <p:cNvPr id="9" name="TextBox 9"/>
            <p:cNvSpPr txBox="1"/>
            <p:nvPr/>
          </p:nvSpPr>
          <p:spPr>
            <a:xfrm>
              <a:off x="603504" y="6438900"/>
              <a:ext cx="472319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Zuza et al. (2014), Table IV · CC BY 3.0；正确率=A.1+A.2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0965028" y="6438900"/>
              <a:ext cx="6234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12 / 24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title"/>
          <p:cNvGrpSpPr/>
          <p:nvPr/>
        </p:nvGrpSpPr>
        <p:grpSpPr>
          <a:xfrm>
            <a:off x="593598" y="638175"/>
            <a:ext cx="5968746" cy="1072007"/>
            <a:chOff x="593598" y="638175"/>
            <a:chExt cx="5968746" cy="1072007"/>
          </a:xfrm>
        </p:grpSpPr>
        <p:sp>
          <p:nvSpPr>
            <p:cNvPr id="2" name="TextBox 2"/>
            <p:cNvSpPr txBox="1"/>
            <p:nvPr/>
          </p:nvSpPr>
          <p:spPr>
            <a:xfrm>
              <a:off x="593598" y="638175"/>
              <a:ext cx="6723125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Noto Sans CJK SC"/>
                  <a:ea typeface="Noto Sans CJK SC"/>
                  <a:cs typeface="Noto Sans CJK SC"/>
                </a:rPr>
                <a:t>文献四：高中生的电磁感应推理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01218" y="1387475"/>
              <a:ext cx="426290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65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Jelicic, Planinic &amp; Planinsic（2017）</a:t>
              </a:r>
            </a:p>
          </p:txBody>
        </p:sp>
      </p:grpSp>
      <p:grpSp>
        <p:nvGrpSpPr>
          <p:cNvPr id="9" name="body"/>
          <p:cNvGrpSpPr/>
          <p:nvPr/>
        </p:nvGrpSpPr>
        <p:grpSpPr>
          <a:xfrm>
            <a:off x="597408" y="2155825"/>
            <a:ext cx="7455408" cy="3612642"/>
            <a:chOff x="597408" y="2155825"/>
            <a:chExt cx="7455408" cy="3612642"/>
          </a:xfrm>
        </p:grpSpPr>
        <p:sp>
          <p:nvSpPr>
            <p:cNvPr id="5" name="TextBox 5"/>
            <p:cNvSpPr txBox="1"/>
            <p:nvPr/>
          </p:nvSpPr>
          <p:spPr>
            <a:xfrm>
              <a:off x="597408" y="2155825"/>
              <a:ext cx="761947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样本：萨格勒布3所学校，9名学生，16–17岁。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97408" y="3203575"/>
              <a:ext cx="8066597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方法：六个实验，出声思考访谈，平均约45分钟。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597408" y="4251325"/>
              <a:ext cx="6228588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资料：录像转录、言语、手势和图示。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97408" y="5299075"/>
              <a:ext cx="838657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编码：两人独立分析，第三人处理歧义后形成共识。</a:t>
              </a:r>
            </a:p>
          </p:txBody>
        </p:sp>
      </p:grpSp>
      <p:grpSp>
        <p:nvGrpSpPr>
          <p:cNvPr id="12" name="footer"/>
          <p:cNvGrpSpPr/>
          <p:nvPr/>
        </p:nvGrpSpPr>
        <p:grpSpPr>
          <a:xfrm>
            <a:off x="603504" y="6438900"/>
            <a:ext cx="10984992" cy="234696"/>
            <a:chOff x="603504" y="6438900"/>
            <a:chExt cx="10984992" cy="234696"/>
          </a:xfrm>
        </p:grpSpPr>
        <p:sp>
          <p:nvSpPr>
            <p:cNvPr id="10" name="TextBox 10"/>
            <p:cNvSpPr txBox="1"/>
            <p:nvPr/>
          </p:nvSpPr>
          <p:spPr>
            <a:xfrm>
              <a:off x="603504" y="6438900"/>
              <a:ext cx="302006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[4] pp.4–6；便利抽样，未报告数值κ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965028" y="6438900"/>
              <a:ext cx="6234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13 / 24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title"/>
          <p:cNvGrpSpPr/>
          <p:nvPr/>
        </p:nvGrpSpPr>
        <p:grpSpPr>
          <a:xfrm>
            <a:off x="593598" y="638175"/>
            <a:ext cx="5120640" cy="616077"/>
            <a:chOff x="593598" y="638175"/>
            <a:chExt cx="5120640" cy="616077"/>
          </a:xfrm>
        </p:grpSpPr>
        <p:sp>
          <p:nvSpPr>
            <p:cNvPr id="2" name="TextBox 2"/>
            <p:cNvSpPr txBox="1"/>
            <p:nvPr/>
          </p:nvSpPr>
          <p:spPr>
            <a:xfrm>
              <a:off x="593598" y="638175"/>
              <a:ext cx="5779007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Noto Sans CJK SC"/>
                  <a:ea typeface="Noto Sans CJK SC"/>
                  <a:cs typeface="Noto Sans CJK SC"/>
                </a:rPr>
                <a:t>学生如何解释磁铁与线圈？</a:t>
              </a:r>
            </a:p>
          </p:txBody>
        </p:sp>
      </p:grpSp>
      <p:grpSp>
        <p:nvGrpSpPr>
          <p:cNvPr id="7" name="body"/>
          <p:cNvGrpSpPr/>
          <p:nvPr/>
        </p:nvGrpSpPr>
        <p:grpSpPr>
          <a:xfrm>
            <a:off x="597408" y="2136775"/>
            <a:ext cx="3956304" cy="3504692"/>
            <a:chOff x="597408" y="2136775"/>
            <a:chExt cx="3956304" cy="3504692"/>
          </a:xfrm>
        </p:grpSpPr>
        <p:sp>
          <p:nvSpPr>
            <p:cNvPr id="4" name="TextBox 4"/>
            <p:cNvSpPr txBox="1"/>
            <p:nvPr/>
          </p:nvSpPr>
          <p:spPr>
            <a:xfrm>
              <a:off x="597408" y="2136775"/>
              <a:ext cx="2631948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三种主要模型：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97408" y="2867025"/>
              <a:ext cx="4430268" cy="926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>
                <a:lnSpc>
                  <a:spcPts val="3600"/>
                </a:lnSpc>
              </a:pPr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磁场叠合；磁铁吸斥电荷；</a:t>
              </a:r>
              <a:b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</a:br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磁铁与线圈磁极相互作用。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97408" y="4257675"/>
              <a:ext cx="4706689" cy="13837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>
                <a:lnSpc>
                  <a:spcPts val="3600"/>
                </a:lnSpc>
              </a:pPr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Knowledge-in-pieces视角：</a:t>
              </a:r>
              <a:b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</a:br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模型多在现场组织形成，</a:t>
              </a:r>
              <a:b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</a:br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跨情境一致性有限。</a:t>
              </a:r>
            </a:p>
          </p:txBody>
        </p:sp>
      </p:grpSp>
      <p:grpSp>
        <p:nvGrpSpPr>
          <p:cNvPr id="9" name="evidence"/>
          <p:cNvGrpSpPr/>
          <p:nvPr/>
        </p:nvGrpSpPr>
        <p:grpSpPr>
          <a:xfrm>
            <a:off x="6372225" y="1847850"/>
            <a:ext cx="4762500" cy="4343400"/>
            <a:chOff x="6372225" y="1847850"/>
            <a:chExt cx="4762500" cy="4343400"/>
          </a:xfrm>
        </p:grpSpPr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72225" y="1847850"/>
              <a:ext cx="4762500" cy="4343400"/>
            </a:xfrm>
            <a:prstGeom prst="rect">
              <a:avLst/>
            </a:prstGeom>
          </p:spPr>
        </p:pic>
      </p:grpSp>
      <p:grpSp>
        <p:nvGrpSpPr>
          <p:cNvPr id="12" name="footer"/>
          <p:cNvGrpSpPr/>
          <p:nvPr/>
        </p:nvGrpSpPr>
        <p:grpSpPr>
          <a:xfrm>
            <a:off x="603504" y="6438900"/>
            <a:ext cx="10984992" cy="234696"/>
            <a:chOff x="603504" y="6438900"/>
            <a:chExt cx="10984992" cy="234696"/>
          </a:xfrm>
        </p:grpSpPr>
        <p:sp>
          <p:nvSpPr>
            <p:cNvPr id="10" name="TextBox 10"/>
            <p:cNvSpPr txBox="1"/>
            <p:nvPr/>
          </p:nvSpPr>
          <p:spPr>
            <a:xfrm>
              <a:off x="603504" y="6438900"/>
              <a:ext cx="501349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Jelicic et al. (2017), Fig.4 · CC BY 4.0；模型分析见pp.11–16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965028" y="6438900"/>
              <a:ext cx="6234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14 / 24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title"/>
          <p:cNvGrpSpPr/>
          <p:nvPr/>
        </p:nvGrpSpPr>
        <p:grpSpPr>
          <a:xfrm>
            <a:off x="593598" y="638175"/>
            <a:ext cx="3848481" cy="616077"/>
            <a:chOff x="593598" y="638175"/>
            <a:chExt cx="3848481" cy="616077"/>
          </a:xfrm>
        </p:grpSpPr>
        <p:sp>
          <p:nvSpPr>
            <p:cNvPr id="2" name="TextBox 2"/>
            <p:cNvSpPr txBox="1"/>
            <p:nvPr/>
          </p:nvSpPr>
          <p:spPr>
            <a:xfrm>
              <a:off x="593598" y="638175"/>
              <a:ext cx="4362831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Noto Sans CJK SC"/>
                  <a:ea typeface="Noto Sans CJK SC"/>
                  <a:cs typeface="Noto Sans CJK SC"/>
                </a:rPr>
                <a:t>概念困难及研究局限</a:t>
              </a:r>
            </a:p>
          </p:txBody>
        </p:sp>
      </p:grpSp>
      <p:grpSp>
        <p:nvGrpSpPr>
          <p:cNvPr id="8" name="body"/>
          <p:cNvGrpSpPr/>
          <p:nvPr/>
        </p:nvGrpSpPr>
        <p:grpSpPr>
          <a:xfrm>
            <a:off x="597408" y="2060575"/>
            <a:ext cx="8343900" cy="3612642"/>
            <a:chOff x="597408" y="2060575"/>
            <a:chExt cx="8343900" cy="3612642"/>
          </a:xfrm>
        </p:grpSpPr>
        <p:sp>
          <p:nvSpPr>
            <p:cNvPr id="4" name="TextBox 4"/>
            <p:cNvSpPr txBox="1"/>
            <p:nvPr/>
          </p:nvSpPr>
          <p:spPr>
            <a:xfrm>
              <a:off x="597408" y="2060575"/>
              <a:ext cx="9384955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磁极与电荷混淆：8次／5人；吸斥静止电荷：12次／6人。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97408" y="3108325"/>
              <a:ext cx="7147592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9名学生在这些任务中均未主动提及磁通量。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97408" y="4156075"/>
              <a:ext cx="874623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使用次数不等于人数；便利小样本不能推算总体频率。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597408" y="5203825"/>
              <a:ext cx="838657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教学启示：追问解释、比较模型，而不只纠正答案。</a:t>
              </a:r>
            </a:p>
          </p:txBody>
        </p:sp>
      </p:grpSp>
      <p:grpSp>
        <p:nvGrpSpPr>
          <p:cNvPr id="11" name="footer"/>
          <p:cNvGrpSpPr/>
          <p:nvPr/>
        </p:nvGrpSpPr>
        <p:grpSpPr>
          <a:xfrm>
            <a:off x="603504" y="6438900"/>
            <a:ext cx="10984992" cy="234696"/>
            <a:chOff x="603504" y="6438900"/>
            <a:chExt cx="10984992" cy="234696"/>
          </a:xfrm>
        </p:grpSpPr>
        <p:sp>
          <p:nvSpPr>
            <p:cNvPr id="9" name="TextBox 9"/>
            <p:cNvSpPr txBox="1"/>
            <p:nvPr/>
          </p:nvSpPr>
          <p:spPr>
            <a:xfrm>
              <a:off x="603504" y="6438900"/>
              <a:ext cx="23233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[4] p.10 Table II，pp.13–17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0965028" y="6438900"/>
              <a:ext cx="6234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15 / 24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title"/>
          <p:cNvGrpSpPr/>
          <p:nvPr/>
        </p:nvGrpSpPr>
        <p:grpSpPr>
          <a:xfrm>
            <a:off x="593598" y="638175"/>
            <a:ext cx="3848481" cy="616077"/>
            <a:chOff x="593598" y="638175"/>
            <a:chExt cx="3848481" cy="616077"/>
          </a:xfrm>
        </p:grpSpPr>
        <p:sp>
          <p:nvSpPr>
            <p:cNvPr id="2" name="TextBox 2"/>
            <p:cNvSpPr txBox="1"/>
            <p:nvPr/>
          </p:nvSpPr>
          <p:spPr>
            <a:xfrm>
              <a:off x="593598" y="638175"/>
              <a:ext cx="4362831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Noto Sans CJK SC"/>
                  <a:ea typeface="Noto Sans CJK SC"/>
                  <a:cs typeface="Noto Sans CJK SC"/>
                </a:rPr>
                <a:t>理论基础的横向比较</a:t>
              </a:r>
            </a:p>
          </p:txBody>
        </p:sp>
      </p:grpSp>
      <p:grpSp>
        <p:nvGrpSpPr>
          <p:cNvPr id="8" name="body"/>
          <p:cNvGrpSpPr/>
          <p:nvPr/>
        </p:nvGrpSpPr>
        <p:grpSpPr>
          <a:xfrm>
            <a:off x="597408" y="2060575"/>
            <a:ext cx="7049414" cy="3612642"/>
            <a:chOff x="597408" y="2060575"/>
            <a:chExt cx="7049414" cy="3612642"/>
          </a:xfrm>
        </p:grpSpPr>
        <p:sp>
          <p:nvSpPr>
            <p:cNvPr id="4" name="TextBox 4"/>
            <p:cNvSpPr txBox="1"/>
            <p:nvPr/>
          </p:nvSpPr>
          <p:spPr>
            <a:xfrm>
              <a:off x="597408" y="2060575"/>
              <a:ext cx="7307579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学习心理学：规律结论如何由实验信息获得？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97408" y="3108325"/>
              <a:ext cx="728808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HPS与建构论：历史问题如何推动概念重建？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97408" y="4156075"/>
              <a:ext cx="7993365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GPS与学习需求分析：怎样连接宏观与微观解释？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597408" y="5203825"/>
              <a:ext cx="7667243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心理模型与知识片段：资源如何被激活和组织？</a:t>
              </a:r>
            </a:p>
          </p:txBody>
        </p:sp>
      </p:grpSp>
      <p:grpSp>
        <p:nvGrpSpPr>
          <p:cNvPr id="11" name="footer"/>
          <p:cNvGrpSpPr/>
          <p:nvPr/>
        </p:nvGrpSpPr>
        <p:grpSpPr>
          <a:xfrm>
            <a:off x="603504" y="6438900"/>
            <a:ext cx="10984992" cy="234696"/>
            <a:chOff x="603504" y="6438900"/>
            <a:chExt cx="10984992" cy="234696"/>
          </a:xfrm>
        </p:grpSpPr>
        <p:sp>
          <p:nvSpPr>
            <p:cNvPr id="9" name="TextBox 9"/>
            <p:cNvSpPr txBox="1"/>
            <p:nvPr/>
          </p:nvSpPr>
          <p:spPr>
            <a:xfrm>
              <a:off x="603504" y="6438900"/>
              <a:ext cx="155242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据文献[1]–[4]整理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0965028" y="6438900"/>
              <a:ext cx="6234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16 / 24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title"/>
          <p:cNvGrpSpPr/>
          <p:nvPr/>
        </p:nvGrpSpPr>
        <p:grpSpPr>
          <a:xfrm>
            <a:off x="593598" y="638175"/>
            <a:ext cx="3848481" cy="616077"/>
            <a:chOff x="593598" y="638175"/>
            <a:chExt cx="3848481" cy="616077"/>
          </a:xfrm>
        </p:grpSpPr>
        <p:sp>
          <p:nvSpPr>
            <p:cNvPr id="2" name="TextBox 2"/>
            <p:cNvSpPr txBox="1"/>
            <p:nvPr/>
          </p:nvSpPr>
          <p:spPr>
            <a:xfrm>
              <a:off x="593598" y="638175"/>
              <a:ext cx="4362831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Noto Sans CJK SC"/>
                  <a:ea typeface="Noto Sans CJK SC"/>
                  <a:cs typeface="Noto Sans CJK SC"/>
                </a:rPr>
                <a:t>研究方法与证据范围</a:t>
              </a:r>
            </a:p>
          </p:txBody>
        </p:sp>
      </p:grpSp>
      <p:grpSp>
        <p:nvGrpSpPr>
          <p:cNvPr id="8" name="body"/>
          <p:cNvGrpSpPr/>
          <p:nvPr/>
        </p:nvGrpSpPr>
        <p:grpSpPr>
          <a:xfrm>
            <a:off x="597408" y="2060575"/>
            <a:ext cx="7996602" cy="3612642"/>
            <a:chOff x="597408" y="2060575"/>
            <a:chExt cx="7996602" cy="3612642"/>
          </a:xfrm>
        </p:grpSpPr>
        <p:sp>
          <p:nvSpPr>
            <p:cNvPr id="4" name="TextBox 4"/>
            <p:cNvSpPr txBox="1"/>
            <p:nvPr/>
          </p:nvSpPr>
          <p:spPr>
            <a:xfrm>
              <a:off x="597408" y="2060575"/>
              <a:ext cx="874623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孙可、陈刚：任务分析与方案论证，无学习效果测量。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97408" y="3108325"/>
              <a:ext cx="7347269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罗成等：24人前测与课堂实践，无匹配后测。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97408" y="4156075"/>
              <a:ext cx="809750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Zuza等：问卷、历史比较与访谈，因果归因受限。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597408" y="5203825"/>
              <a:ext cx="8925365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Jelicic等：9人质性研究，诊断机制而非估计总体频率。</a:t>
              </a:r>
            </a:p>
          </p:txBody>
        </p:sp>
      </p:grpSp>
      <p:grpSp>
        <p:nvGrpSpPr>
          <p:cNvPr id="11" name="footer"/>
          <p:cNvGrpSpPr/>
          <p:nvPr/>
        </p:nvGrpSpPr>
        <p:grpSpPr>
          <a:xfrm>
            <a:off x="603504" y="6438900"/>
            <a:ext cx="10984992" cy="234696"/>
            <a:chOff x="603504" y="6438900"/>
            <a:chExt cx="10984992" cy="234696"/>
          </a:xfrm>
        </p:grpSpPr>
        <p:sp>
          <p:nvSpPr>
            <p:cNvPr id="9" name="TextBox 9"/>
            <p:cNvSpPr txBox="1"/>
            <p:nvPr/>
          </p:nvSpPr>
          <p:spPr>
            <a:xfrm>
              <a:off x="603504" y="6438900"/>
              <a:ext cx="155242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据文献[1]–[4]整理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0965028" y="6438900"/>
              <a:ext cx="6234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17 / 24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title"/>
          <p:cNvGrpSpPr/>
          <p:nvPr/>
        </p:nvGrpSpPr>
        <p:grpSpPr>
          <a:xfrm>
            <a:off x="593598" y="638175"/>
            <a:ext cx="4696587" cy="616077"/>
            <a:chOff x="593598" y="638175"/>
            <a:chExt cx="4696587" cy="616077"/>
          </a:xfrm>
        </p:grpSpPr>
        <p:sp>
          <p:nvSpPr>
            <p:cNvPr id="2" name="TextBox 2"/>
            <p:cNvSpPr txBox="1"/>
            <p:nvPr/>
          </p:nvSpPr>
          <p:spPr>
            <a:xfrm>
              <a:off x="593598" y="638175"/>
              <a:ext cx="5306949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Noto Sans CJK SC"/>
                  <a:ea typeface="Noto Sans CJK SC"/>
                  <a:cs typeface="Noto Sans CJK SC"/>
                </a:rPr>
                <a:t>学生学习困难的三个层次</a:t>
              </a:r>
            </a:p>
          </p:txBody>
        </p:sp>
      </p:grpSp>
      <p:grpSp>
        <p:nvGrpSpPr>
          <p:cNvPr id="7" name="body"/>
          <p:cNvGrpSpPr/>
          <p:nvPr/>
        </p:nvGrpSpPr>
        <p:grpSpPr>
          <a:xfrm>
            <a:off x="597408" y="2165350"/>
            <a:ext cx="8101584" cy="3326892"/>
            <a:chOff x="597408" y="2165350"/>
            <a:chExt cx="8101584" cy="3326892"/>
          </a:xfrm>
        </p:grpSpPr>
        <p:sp>
          <p:nvSpPr>
            <p:cNvPr id="4" name="TextBox 4"/>
            <p:cNvSpPr txBox="1"/>
            <p:nvPr/>
          </p:nvSpPr>
          <p:spPr>
            <a:xfrm>
              <a:off x="597408" y="2165350"/>
              <a:ext cx="9105900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概念区分：磁场与磁通量、电荷与磁极、电动势与电流。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97408" y="3352800"/>
              <a:ext cx="8746236" cy="926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>
                <a:lnSpc>
                  <a:spcPts val="3600"/>
                </a:lnSpc>
              </a:pPr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机制解释：“磁场存在”与“磁场变化”，</a:t>
              </a:r>
              <a:b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</a:br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“切割”与一般感应条件，“反向”与“阻碍变化”。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97408" y="5022850"/>
              <a:ext cx="874623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知识组织：公式记忆与解释脱节，模型跨情境不一致。</a:t>
              </a:r>
            </a:p>
          </p:txBody>
        </p:sp>
      </p:grpSp>
      <p:grpSp>
        <p:nvGrpSpPr>
          <p:cNvPr id="10" name="footer"/>
          <p:cNvGrpSpPr/>
          <p:nvPr/>
        </p:nvGrpSpPr>
        <p:grpSpPr>
          <a:xfrm>
            <a:off x="603504" y="6438900"/>
            <a:ext cx="10984992" cy="234696"/>
            <a:chOff x="603504" y="6438900"/>
            <a:chExt cx="10984992" cy="234696"/>
          </a:xfrm>
        </p:grpSpPr>
        <p:sp>
          <p:nvSpPr>
            <p:cNvPr id="8" name="TextBox 8"/>
            <p:cNvSpPr txBox="1"/>
            <p:nvPr/>
          </p:nvSpPr>
          <p:spPr>
            <a:xfrm>
              <a:off x="603504" y="6438900"/>
              <a:ext cx="155242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据文献[1]–[4]整理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965028" y="6438900"/>
              <a:ext cx="6234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18 / 24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title"/>
          <p:cNvGrpSpPr/>
          <p:nvPr/>
        </p:nvGrpSpPr>
        <p:grpSpPr>
          <a:xfrm>
            <a:off x="593598" y="638175"/>
            <a:ext cx="3848481" cy="616077"/>
            <a:chOff x="593598" y="638175"/>
            <a:chExt cx="3848481" cy="616077"/>
          </a:xfrm>
        </p:grpSpPr>
        <p:sp>
          <p:nvSpPr>
            <p:cNvPr id="2" name="TextBox 2"/>
            <p:cNvSpPr txBox="1"/>
            <p:nvPr/>
          </p:nvSpPr>
          <p:spPr>
            <a:xfrm>
              <a:off x="593598" y="638175"/>
              <a:ext cx="4362831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Noto Sans CJK SC"/>
                  <a:ea typeface="Noto Sans CJK SC"/>
                  <a:cs typeface="Noto Sans CJK SC"/>
                </a:rPr>
                <a:t>教学策略与效果证据</a:t>
              </a:r>
            </a:p>
          </p:txBody>
        </p:sp>
      </p:grpSp>
      <p:grpSp>
        <p:nvGrpSpPr>
          <p:cNvPr id="8" name="body"/>
          <p:cNvGrpSpPr/>
          <p:nvPr/>
        </p:nvGrpSpPr>
        <p:grpSpPr>
          <a:xfrm>
            <a:off x="597408" y="2060575"/>
            <a:ext cx="7778496" cy="3612642"/>
            <a:chOff x="597408" y="2060575"/>
            <a:chExt cx="7778496" cy="3612642"/>
          </a:xfrm>
        </p:grpSpPr>
        <p:sp>
          <p:nvSpPr>
            <p:cNvPr id="4" name="TextBox 4"/>
            <p:cNvSpPr txBox="1"/>
            <p:nvPr/>
          </p:nvSpPr>
          <p:spPr>
            <a:xfrm>
              <a:off x="597408" y="2060575"/>
              <a:ext cx="6228588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任务解构与求同归纳：支持规律获得。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97408" y="3108325"/>
              <a:ext cx="5868924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科学史与反例实验：支持概念重建。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97408" y="4156075"/>
              <a:ext cx="6228588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合作解题与模型比较：支持机制解释。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597408" y="5203825"/>
              <a:ext cx="874623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共同方向明确，但参与、设计合理与学习效果应区分。</a:t>
              </a:r>
            </a:p>
          </p:txBody>
        </p:sp>
      </p:grpSp>
      <p:grpSp>
        <p:nvGrpSpPr>
          <p:cNvPr id="11" name="footer"/>
          <p:cNvGrpSpPr/>
          <p:nvPr/>
        </p:nvGrpSpPr>
        <p:grpSpPr>
          <a:xfrm>
            <a:off x="603504" y="6438900"/>
            <a:ext cx="10984992" cy="234696"/>
            <a:chOff x="603504" y="6438900"/>
            <a:chExt cx="10984992" cy="234696"/>
          </a:xfrm>
        </p:grpSpPr>
        <p:sp>
          <p:nvSpPr>
            <p:cNvPr id="9" name="TextBox 9"/>
            <p:cNvSpPr txBox="1"/>
            <p:nvPr/>
          </p:nvSpPr>
          <p:spPr>
            <a:xfrm>
              <a:off x="603504" y="6438900"/>
              <a:ext cx="155242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据文献[1]–[4]整理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0965028" y="6438900"/>
              <a:ext cx="6234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19 / 24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title"/>
          <p:cNvGrpSpPr/>
          <p:nvPr/>
        </p:nvGrpSpPr>
        <p:grpSpPr>
          <a:xfrm>
            <a:off x="593598" y="638175"/>
            <a:ext cx="3848481" cy="616077"/>
            <a:chOff x="593598" y="638175"/>
            <a:chExt cx="3848481" cy="616077"/>
          </a:xfrm>
        </p:grpSpPr>
        <p:sp>
          <p:nvSpPr>
            <p:cNvPr id="2" name="TextBox 2"/>
            <p:cNvSpPr txBox="1"/>
            <p:nvPr/>
          </p:nvSpPr>
          <p:spPr>
            <a:xfrm>
              <a:off x="593598" y="638175"/>
              <a:ext cx="4362831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Noto Sans CJK SC"/>
                  <a:ea typeface="Noto Sans CJK SC"/>
                  <a:cs typeface="Noto Sans CJK SC"/>
                </a:rPr>
                <a:t>四篇研究的互补关系</a:t>
              </a:r>
            </a:p>
          </p:txBody>
        </p:sp>
      </p:grpSp>
      <p:grpSp>
        <p:nvGrpSpPr>
          <p:cNvPr id="8" name="body"/>
          <p:cNvGrpSpPr/>
          <p:nvPr/>
        </p:nvGrpSpPr>
        <p:grpSpPr>
          <a:xfrm>
            <a:off x="597408" y="2060575"/>
            <a:ext cx="6809232" cy="3612642"/>
            <a:chOff x="597408" y="2060575"/>
            <a:chExt cx="6809232" cy="3612642"/>
          </a:xfrm>
        </p:grpSpPr>
        <p:sp>
          <p:nvSpPr>
            <p:cNvPr id="4" name="TextBox 4"/>
            <p:cNvSpPr txBox="1"/>
            <p:nvPr/>
          </p:nvSpPr>
          <p:spPr>
            <a:xfrm>
              <a:off x="597408" y="2060575"/>
              <a:ext cx="7667243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诊断：听见学生的解释，定位概念与模型缺口。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97408" y="3108325"/>
              <a:ext cx="7307579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支架：明确中间结论，支持归纳与方向推理。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97408" y="4156075"/>
              <a:ext cx="658825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重建：用历史问题和反例检验感应条件。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597408" y="5203825"/>
              <a:ext cx="7667243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复核：评价解释质量、残余困难与新情境迁移。</a:t>
              </a:r>
            </a:p>
          </p:txBody>
        </p:sp>
      </p:grpSp>
      <p:grpSp>
        <p:nvGrpSpPr>
          <p:cNvPr id="11" name="footer"/>
          <p:cNvGrpSpPr/>
          <p:nvPr/>
        </p:nvGrpSpPr>
        <p:grpSpPr>
          <a:xfrm>
            <a:off x="603504" y="6438900"/>
            <a:ext cx="10984992" cy="234696"/>
            <a:chOff x="603504" y="6438900"/>
            <a:chExt cx="10984992" cy="234696"/>
          </a:xfrm>
        </p:grpSpPr>
        <p:sp>
          <p:nvSpPr>
            <p:cNvPr id="9" name="TextBox 9"/>
            <p:cNvSpPr txBox="1"/>
            <p:nvPr/>
          </p:nvSpPr>
          <p:spPr>
            <a:xfrm>
              <a:off x="603504" y="6438900"/>
              <a:ext cx="31714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据四篇文献提出的教学思路，尚待验证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0965028" y="6438900"/>
              <a:ext cx="6234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20 / 24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title"/>
          <p:cNvGrpSpPr/>
          <p:nvPr/>
        </p:nvGrpSpPr>
        <p:grpSpPr>
          <a:xfrm>
            <a:off x="593598" y="638175"/>
            <a:ext cx="5120640" cy="616077"/>
            <a:chOff x="593598" y="638175"/>
            <a:chExt cx="5120640" cy="616077"/>
          </a:xfrm>
        </p:grpSpPr>
        <p:sp>
          <p:nvSpPr>
            <p:cNvPr id="2" name="TextBox 2"/>
            <p:cNvSpPr txBox="1"/>
            <p:nvPr/>
          </p:nvSpPr>
          <p:spPr>
            <a:xfrm>
              <a:off x="593598" y="638175"/>
              <a:ext cx="5779007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Noto Sans CJK SC"/>
                  <a:ea typeface="Noto Sans CJK SC"/>
                  <a:cs typeface="Noto Sans CJK SC"/>
                </a:rPr>
                <a:t>对高中电磁感应教学的启示</a:t>
              </a:r>
            </a:p>
          </p:txBody>
        </p:sp>
      </p:grpSp>
      <p:grpSp>
        <p:nvGrpSpPr>
          <p:cNvPr id="8" name="body"/>
          <p:cNvGrpSpPr/>
          <p:nvPr/>
        </p:nvGrpSpPr>
        <p:grpSpPr>
          <a:xfrm>
            <a:off x="597408" y="2060575"/>
            <a:ext cx="7455408" cy="3612642"/>
            <a:chOff x="597408" y="2060575"/>
            <a:chExt cx="7455408" cy="3612642"/>
          </a:xfrm>
        </p:grpSpPr>
        <p:sp>
          <p:nvSpPr>
            <p:cNvPr id="4" name="TextBox 4"/>
            <p:cNvSpPr txBox="1"/>
            <p:nvPr/>
          </p:nvSpPr>
          <p:spPr>
            <a:xfrm>
              <a:off x="597408" y="2060575"/>
              <a:ext cx="7307579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先收集预测与理由，再区分实验现象和解释。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97408" y="3108325"/>
              <a:ext cx="8026907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用不“切割”及磁通量不变的反例检验感应条件。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97408" y="4156075"/>
              <a:ext cx="838657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方向推理先判断通量增减，再求感应场和电流方向。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597408" y="5203825"/>
              <a:ext cx="838657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通过双线圈等新情境，检查解释是否一致和可迁移。</a:t>
              </a:r>
            </a:p>
          </p:txBody>
        </p:sp>
      </p:grpSp>
      <p:grpSp>
        <p:nvGrpSpPr>
          <p:cNvPr id="11" name="footer"/>
          <p:cNvGrpSpPr/>
          <p:nvPr/>
        </p:nvGrpSpPr>
        <p:grpSpPr>
          <a:xfrm>
            <a:off x="603504" y="6438900"/>
            <a:ext cx="10984992" cy="234696"/>
            <a:chOff x="603504" y="6438900"/>
            <a:chExt cx="10984992" cy="234696"/>
          </a:xfrm>
        </p:grpSpPr>
        <p:sp>
          <p:nvSpPr>
            <p:cNvPr id="9" name="TextBox 9"/>
            <p:cNvSpPr txBox="1"/>
            <p:nvPr/>
          </p:nvSpPr>
          <p:spPr>
            <a:xfrm>
              <a:off x="603504" y="6438900"/>
              <a:ext cx="227175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基于文献[1]–[4]的教学建议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0965028" y="6438900"/>
              <a:ext cx="6234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21 / 24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title"/>
          <p:cNvGrpSpPr/>
          <p:nvPr/>
        </p:nvGrpSpPr>
        <p:grpSpPr>
          <a:xfrm>
            <a:off x="593598" y="638175"/>
            <a:ext cx="3848481" cy="616077"/>
            <a:chOff x="593598" y="638175"/>
            <a:chExt cx="3848481" cy="616077"/>
          </a:xfrm>
        </p:grpSpPr>
        <p:sp>
          <p:nvSpPr>
            <p:cNvPr id="2" name="TextBox 2"/>
            <p:cNvSpPr txBox="1"/>
            <p:nvPr/>
          </p:nvSpPr>
          <p:spPr>
            <a:xfrm>
              <a:off x="593598" y="638175"/>
              <a:ext cx="4362831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Noto Sans CJK SC"/>
                  <a:ea typeface="Noto Sans CJK SC"/>
                  <a:cs typeface="Noto Sans CJK SC"/>
                </a:rPr>
                <a:t>后续研究问题与设计</a:t>
              </a:r>
            </a:p>
          </p:txBody>
        </p:sp>
      </p:grpSp>
      <p:grpSp>
        <p:nvGrpSpPr>
          <p:cNvPr id="8" name="body"/>
          <p:cNvGrpSpPr/>
          <p:nvPr/>
        </p:nvGrpSpPr>
        <p:grpSpPr>
          <a:xfrm>
            <a:off x="597408" y="2060575"/>
            <a:ext cx="7132320" cy="3612642"/>
            <a:chOff x="597408" y="2060575"/>
            <a:chExt cx="7132320" cy="3612642"/>
          </a:xfrm>
        </p:grpSpPr>
        <p:sp>
          <p:nvSpPr>
            <p:cNvPr id="4" name="TextBox 4"/>
            <p:cNvSpPr txBox="1"/>
            <p:nvPr/>
          </p:nvSpPr>
          <p:spPr>
            <a:xfrm>
              <a:off x="597408" y="2060575"/>
              <a:ext cx="7307579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任务支架能否改善机制解释和跨情境一致性？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97408" y="3108325"/>
              <a:ext cx="8026907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采用同期比较，记录教师、实施过程与样本流失。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97408" y="4156075"/>
              <a:ext cx="7667243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结合统一前后测、延迟测验与新情境迁移任务。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597408" y="5203825"/>
              <a:ext cx="6947915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补充访谈和图示编码，报告效应量与区间。</a:t>
              </a:r>
            </a:p>
          </p:txBody>
        </p:sp>
      </p:grpSp>
      <p:grpSp>
        <p:nvGrpSpPr>
          <p:cNvPr id="11" name="footer"/>
          <p:cNvGrpSpPr/>
          <p:nvPr/>
        </p:nvGrpSpPr>
        <p:grpSpPr>
          <a:xfrm>
            <a:off x="603504" y="6438900"/>
            <a:ext cx="10984992" cy="234696"/>
            <a:chOff x="603504" y="6438900"/>
            <a:chExt cx="10984992" cy="234696"/>
          </a:xfrm>
        </p:grpSpPr>
        <p:sp>
          <p:nvSpPr>
            <p:cNvPr id="9" name="TextBox 9"/>
            <p:cNvSpPr txBox="1"/>
            <p:nvPr/>
          </p:nvSpPr>
          <p:spPr>
            <a:xfrm>
              <a:off x="603504" y="6438900"/>
              <a:ext cx="245211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后续研究提案，非已完成研究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0965028" y="6438900"/>
              <a:ext cx="6234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22 / 24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title"/>
          <p:cNvGrpSpPr/>
          <p:nvPr/>
        </p:nvGrpSpPr>
        <p:grpSpPr>
          <a:xfrm>
            <a:off x="593598" y="638175"/>
            <a:ext cx="880110" cy="616077"/>
            <a:chOff x="593598" y="638175"/>
            <a:chExt cx="880110" cy="616077"/>
          </a:xfrm>
        </p:grpSpPr>
        <p:sp>
          <p:nvSpPr>
            <p:cNvPr id="2" name="TextBox 2"/>
            <p:cNvSpPr txBox="1"/>
            <p:nvPr/>
          </p:nvSpPr>
          <p:spPr>
            <a:xfrm>
              <a:off x="593598" y="638175"/>
              <a:ext cx="1058418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Noto Sans CJK SC"/>
                  <a:ea typeface="Noto Sans CJK SC"/>
                  <a:cs typeface="Noto Sans CJK SC"/>
                </a:rPr>
                <a:t>总结</a:t>
              </a:r>
            </a:p>
          </p:txBody>
        </p:sp>
      </p:grpSp>
      <p:grpSp>
        <p:nvGrpSpPr>
          <p:cNvPr id="7" name="body"/>
          <p:cNvGrpSpPr/>
          <p:nvPr/>
        </p:nvGrpSpPr>
        <p:grpSpPr>
          <a:xfrm>
            <a:off x="597408" y="2393950"/>
            <a:ext cx="6809232" cy="3136392"/>
            <a:chOff x="597408" y="2393950"/>
            <a:chExt cx="6809232" cy="3136392"/>
          </a:xfrm>
        </p:grpSpPr>
        <p:sp>
          <p:nvSpPr>
            <p:cNvPr id="4" name="TextBox 4"/>
            <p:cNvSpPr txBox="1"/>
            <p:nvPr/>
          </p:nvSpPr>
          <p:spPr>
            <a:xfrm>
              <a:off x="597408" y="2393950"/>
              <a:ext cx="658825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概念理解，应从正确答案走向机制解释。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97408" y="3727450"/>
              <a:ext cx="7667243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教学评价，应区分设计合理性与实际学习效果。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97408" y="5060950"/>
              <a:ext cx="7307579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240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研究目标，应纳入模型一致性与新情境迁移。</a:t>
              </a:r>
            </a:p>
          </p:txBody>
        </p:sp>
      </p:grpSp>
      <p:grpSp>
        <p:nvGrpSpPr>
          <p:cNvPr id="10" name="footer"/>
          <p:cNvGrpSpPr/>
          <p:nvPr/>
        </p:nvGrpSpPr>
        <p:grpSpPr>
          <a:xfrm>
            <a:off x="603504" y="6438900"/>
            <a:ext cx="10984992" cy="234696"/>
            <a:chOff x="603504" y="6438900"/>
            <a:chExt cx="10984992" cy="234696"/>
          </a:xfrm>
        </p:grpSpPr>
        <p:sp>
          <p:nvSpPr>
            <p:cNvPr id="8" name="TextBox 8"/>
            <p:cNvSpPr txBox="1"/>
            <p:nvPr/>
          </p:nvSpPr>
          <p:spPr>
            <a:xfrm>
              <a:off x="603504" y="6438900"/>
              <a:ext cx="15529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基础物理专题研究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965028" y="6438900"/>
              <a:ext cx="6234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Noto Sans CJK SC"/>
                  <a:ea typeface="Noto Sans CJK SC"/>
                  <a:cs typeface="Noto Sans CJK SC"/>
                </a:rPr>
                <a:t>23 / 24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title"/>
          <p:cNvGrpSpPr/>
          <p:nvPr/>
        </p:nvGrpSpPr>
        <p:grpSpPr>
          <a:xfrm>
            <a:off x="593598" y="638175"/>
            <a:ext cx="1728216" cy="616077"/>
            <a:chOff x="593598" y="638175"/>
            <a:chExt cx="1728216" cy="616077"/>
          </a:xfrm>
        </p:grpSpPr>
        <p:sp>
          <p:nvSpPr>
            <p:cNvPr id="2" name="TextBox 2"/>
            <p:cNvSpPr txBox="1"/>
            <p:nvPr/>
          </p:nvSpPr>
          <p:spPr>
            <a:xfrm>
              <a:off x="593598" y="638175"/>
              <a:ext cx="2002535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zh-CN" sz="3150" b="1" dirty="0">
                  <a:solidFill>
                    <a:schemeClr val="accent1"/>
                  </a:solidFill>
                  <a:latin typeface="Noto Sans CJK SC"/>
                  <a:ea typeface="Noto Sans CJK SC"/>
                  <a:cs typeface="Noto Sans CJK SC"/>
                </a:rPr>
                <a:t>参考文献</a:t>
              </a:r>
            </a:p>
          </p:txBody>
        </p:sp>
      </p:grpSp>
      <p:grpSp>
        <p:nvGrpSpPr>
          <p:cNvPr id="8" name="references"/>
          <p:cNvGrpSpPr/>
          <p:nvPr/>
        </p:nvGrpSpPr>
        <p:grpSpPr>
          <a:xfrm>
            <a:off x="601218" y="1841500"/>
            <a:ext cx="9530334" cy="4161282"/>
            <a:chOff x="601218" y="1841500"/>
            <a:chExt cx="9530334" cy="4161282"/>
          </a:xfrm>
        </p:grpSpPr>
        <p:sp>
          <p:nvSpPr>
            <p:cNvPr id="4" name="TextBox 4"/>
            <p:cNvSpPr txBox="1"/>
            <p:nvPr/>
          </p:nvSpPr>
          <p:spPr>
            <a:xfrm>
              <a:off x="601218" y="1841500"/>
              <a:ext cx="7318117" cy="6465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>
                <a:lnSpc>
                  <a:spcPts val="2550"/>
                </a:lnSpc>
              </a:pPr>
              <a:r>
                <a:rPr lang="zh-CN" sz="165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[1] 孙可, 陈刚. 基于“来拒去留”实验的楞次定律有效教学探析——</a:t>
              </a:r>
              <a:br>
                <a:rPr lang="zh-CN" sz="165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</a:br>
              <a:r>
                <a:rPr lang="zh-CN" sz="165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学习心理学视角[J]. 物理教学, 2023, 45(4):20–24.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601218" y="2755900"/>
              <a:ext cx="8517055" cy="6465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>
                <a:lnSpc>
                  <a:spcPts val="2550"/>
                </a:lnSpc>
              </a:pPr>
              <a:r>
                <a:rPr lang="zh-CN" sz="165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[2] 罗成, 朱行建, 文金宝. 基于孟克-奥斯本“融合模式”的教学设计与实践——</a:t>
              </a:r>
              <a:br>
                <a:rPr lang="zh-CN" sz="165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</a:br>
              <a:r>
                <a:rPr lang="zh-CN" sz="165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以“电磁感应现象及应用”教学设计为例[J]. 物理教学, 2023, 45(4):25–28.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01218" y="3670300"/>
              <a:ext cx="10889819" cy="12942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>
                <a:lnSpc>
                  <a:spcPts val="2550"/>
                </a:lnSpc>
              </a:pPr>
              <a:r>
                <a:rPr lang="en-US" sz="165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[3] ZUZA K, ALMUDÍ J-M, LENIZ A, GUISASOLA J.</a:t>
              </a:r>
              <a:br>
                <a:rPr lang="en-US" sz="165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</a:br>
              <a:r>
                <a:rPr lang="en-US" sz="165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Addressing students’ difficulties with Faraday’s law: A guided problem solving approach[J].</a:t>
              </a:r>
              <a:br>
                <a:rPr lang="en-US" sz="165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</a:br>
              <a:r>
                <a:rPr lang="en-US" sz="165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Physical Review Special Topics - Physics Education Research, 2014, 10(1):010122.</a:t>
              </a:r>
              <a:br>
                <a:rPr lang="en-US" sz="165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</a:br>
              <a:r>
                <a:rPr lang="en-US" sz="165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DOI:10.1103/PhysRevSTPER.10.010122.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01218" y="5032375"/>
              <a:ext cx="9308035" cy="9704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>
                <a:lnSpc>
                  <a:spcPts val="2550"/>
                </a:lnSpc>
              </a:pPr>
              <a:r>
                <a:rPr lang="en-US" sz="165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[4] JELICIC K, PLANINIC M, PLANINSIC G.</a:t>
              </a:r>
              <a:br>
                <a:rPr lang="en-US" sz="165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</a:br>
              <a:r>
                <a:rPr lang="en-US" sz="165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Analyzing high school students’ reasoning about electromagnetic induction[J].</a:t>
              </a:r>
              <a:br>
                <a:rPr lang="en-US" sz="165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</a:br>
              <a:r>
                <a:rPr lang="en-US" sz="165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Physical Review Physics Education Research, 2017, 13(1):010112.</a:t>
              </a:r>
            </a:p>
          </p:txBody>
        </p:sp>
      </p:grpSp>
      <p:grpSp>
        <p:nvGrpSpPr>
          <p:cNvPr id="10" name="reference-doi"/>
          <p:cNvGrpSpPr/>
          <p:nvPr/>
        </p:nvGrpSpPr>
        <p:grpSpPr>
          <a:xfrm>
            <a:off x="601218" y="6121400"/>
            <a:ext cx="5122300" cy="322707"/>
            <a:chOff x="601218" y="6121400"/>
            <a:chExt cx="5122300" cy="322707"/>
          </a:xfrm>
        </p:grpSpPr>
        <p:sp>
          <p:nvSpPr>
            <p:cNvPr id="9" name="TextBox 9"/>
            <p:cNvSpPr txBox="1"/>
            <p:nvPr/>
          </p:nvSpPr>
          <p:spPr>
            <a:xfrm>
              <a:off x="601218" y="6121400"/>
              <a:ext cx="54045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noAutofit/>
            </a:bodyPr>
            <a:lstStyle/>
            <a:p>
              <a:pPr algn="l"/>
              <a:r>
                <a:rPr lang="en-US" sz="1650" dirty="0">
                  <a:solidFill>
                    <a:schemeClr val="dk1"/>
                  </a:solidFill>
                  <a:latin typeface="Noto Sans CJK SC"/>
                  <a:ea typeface="Noto Sans CJK SC"/>
                  <a:cs typeface="Noto Sans CJK SC"/>
                </a:rPr>
                <a:t>DOI:10.1103/PhysRevPhysEducRes.13.010112.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0965028" y="6438900"/>
            <a:ext cx="62346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r"/>
            <a:r>
              <a:rPr lang="zh-CN" sz="1200" dirty="0">
                <a:solidFill>
                  <a:schemeClr val="accent5"/>
                </a:solidFill>
                <a:latin typeface="Noto Sans CJK SC"/>
                <a:ea typeface="Noto Sans CJK SC"/>
                <a:cs typeface="Noto Sans CJK SC"/>
              </a:rPr>
              <a:t>24 /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hysics_literature_review">
  <a:themeElements>
    <a:clrScheme name="physics_literature_review">
      <a:dk1>
        <a:srgbClr val="F5F7FB"/>
      </a:dk1>
      <a:lt1>
        <a:srgbClr val="0E2546"/>
      </a:lt1>
      <a:dk2>
        <a:srgbClr val="1F497D"/>
      </a:dk2>
      <a:lt2>
        <a:srgbClr val="233B5D"/>
      </a:lt2>
      <a:accent1>
        <a:srgbClr val="FFFFFF"/>
      </a:accent1>
      <a:accent2>
        <a:srgbClr val="C9D6E8"/>
      </a:accent2>
      <a:accent3>
        <a:srgbClr val="8DA6C7"/>
      </a:accent3>
      <a:accent4>
        <a:srgbClr val="FFFFFF"/>
      </a:accent4>
      <a:accent5>
        <a:srgbClr val="BAC7DB"/>
      </a:accent5>
      <a:accent6>
        <a:srgbClr val="496181"/>
      </a:accent6>
      <a:hlink>
        <a:srgbClr val="C9D6E8"/>
      </a:hlink>
      <a:folHlink>
        <a:srgbClr val="8DA6C7"/>
      </a:folHlink>
    </a:clrScheme>
    <a:fontScheme name="physics_literature_review">
      <a:majorFont>
        <a:latin typeface="Noto Sans CJK SC"/>
        <a:ea typeface="Noto Sans CJK SC"/>
        <a:cs typeface="Noto Sans CJK SC"/>
        <a:font script="Jpan" typeface="Noto Sans CJK SC"/>
        <a:font script="Hang" typeface="Noto Sans CJK SC"/>
        <a:font script="Hans" typeface="Noto Sans CJK SC"/>
        <a:font script="Hant" typeface="Noto Sans CJK SC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 CJK SC"/>
        <a:ea typeface="Noto Sans CJK SC"/>
        <a:cs typeface="Noto Sans CJK SC"/>
        <a:font script="Jpan" typeface="Noto Sans CJK SC"/>
        <a:font script="Hang" typeface="Noto Sans CJK SC"/>
        <a:font script="Hans" typeface="Noto Sans CJK SC"/>
        <a:font script="Hant" typeface="Noto Sans CJK SC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hysics_literature_review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physics_literature_review">
  <a:themeElements>
    <a:clrScheme name="physics_literature_review">
      <a:dk1>
        <a:srgbClr val="F5F7FB"/>
      </a:dk1>
      <a:lt1>
        <a:srgbClr val="0E2546"/>
      </a:lt1>
      <a:dk2>
        <a:srgbClr val="1F497D"/>
      </a:dk2>
      <a:lt2>
        <a:srgbClr val="233B5D"/>
      </a:lt2>
      <a:accent1>
        <a:srgbClr val="FFFFFF"/>
      </a:accent1>
      <a:accent2>
        <a:srgbClr val="C9D6E8"/>
      </a:accent2>
      <a:accent3>
        <a:srgbClr val="8DA6C7"/>
      </a:accent3>
      <a:accent4>
        <a:srgbClr val="FFFFFF"/>
      </a:accent4>
      <a:accent5>
        <a:srgbClr val="BAC7DB"/>
      </a:accent5>
      <a:accent6>
        <a:srgbClr val="496181"/>
      </a:accent6>
      <a:hlink>
        <a:srgbClr val="C9D6E8"/>
      </a:hlink>
      <a:folHlink>
        <a:srgbClr val="8DA6C7"/>
      </a:folHlink>
    </a:clrScheme>
    <a:fontScheme name="physics_literature_review">
      <a:majorFont>
        <a:latin typeface="Noto Sans CJK SC"/>
        <a:ea typeface="Noto Sans CJK SC"/>
        <a:cs typeface="Noto Sans CJK SC"/>
        <a:font script="Jpan" typeface="Noto Sans CJK SC"/>
        <a:font script="Hang" typeface="Noto Sans CJK SC"/>
        <a:font script="Hans" typeface="Noto Sans CJK SC"/>
        <a:font script="Hant" typeface="Noto Sans CJK SC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 CJK SC"/>
        <a:ea typeface="Noto Sans CJK SC"/>
        <a:cs typeface="Noto Sans CJK SC"/>
        <a:font script="Jpan" typeface="Noto Sans CJK SC"/>
        <a:font script="Hang" typeface="Noto Sans CJK SC"/>
        <a:font script="Hans" typeface="Noto Sans CJK SC"/>
        <a:font script="Hant" typeface="Noto Sans CJK SC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hysics_literature_review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24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2026-10-14T06:34:33Z</dcterms:created>
  <dcterms:modified xsi:type="dcterms:W3CDTF">2026-10-14T06:34:33Z</dcterms:modified>
  <cp:category/>
  <cp:contentStatus/>
</cp:coreProperties>
</file>
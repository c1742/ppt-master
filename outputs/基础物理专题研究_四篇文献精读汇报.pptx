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2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Noto Sans CJK SC"/>
        <a:ea typeface="Noto Sans CJK SC"/>
        <a:cs typeface="Noto Sans CJK S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
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42705570292"/>
          <c:y val="0.0487804878049"/>
          <c:w val="0.848806366048"/>
          <c:h val="0.804878048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教学序列组后测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</c:v>
                </c:pt>
                <c:pt idx="1">
                  <c:v>57</c:v>
                </c:pt>
                <c:pt idx="2">
                  <c:v>73</c:v>
                </c:pt>
                <c:pt idx="3">
                  <c:v>90</c:v>
                </c:pt>
                <c:pt idx="4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历史比较组后测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</c:v>
                </c:pt>
                <c:pt idx="1">
                  <c:v>18</c:v>
                </c:pt>
                <c:pt idx="2">
                  <c:v>53</c:v>
                </c:pt>
                <c:pt idx="3">
                  <c:v>75.5</c:v>
                </c:pt>
                <c:pt idx="4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50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27"/>
        <c:overlap val="-31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FD9E2"/>
            </a:solidFill>
            <a:round/>
          </a:ln>
        </c:spPr>
        <c:txPr>
          <a:bodyPr/>
          <a:lstStyle/>
          <a:p>
            <a:pPr>
              <a:defRPr lang="zh-CN" sz="1500">
                <a:solidFill>
                  <a:schemeClr val="accent1"/>
                </a:solidFill>
                <a:latin typeface="Noto Sans CJK SC"/>
                <a:ea typeface="Noto Sans CJK SC"/>
                <a:cs typeface="Noto Sans CJK SC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CFD9E2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CFD9E2"/>
            </a:solidFill>
            <a:round/>
          </a:ln>
        </c:spPr>
        <c:txPr>
          <a:bodyPr/>
          <a:lstStyle/>
          <a:p>
            <a:pPr>
              <a:defRPr lang="zh-CN" sz="1500">
                <a:solidFill>
                  <a:srgbClr val="526577"/>
                </a:solidFill>
                <a:latin typeface="Noto Sans CJK SC"/>
                <a:ea typeface="Noto Sans CJK SC"/>
                <a:cs typeface="Noto Sans CJK SC"/>
              </a:defRPr>
            </a:pPr>
            <a:endParaRPr lang="zh-CN"/>
          </a:p>
        </c:txPr>
        <c:crossAx val="2068027336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500">
          <a:solidFill>
            <a:schemeClr val="accent1"/>
          </a:solidFill>
          <a:latin typeface="Noto Sans CJK SC"/>
          <a:ea typeface="Noto Sans CJK SC"/>
          <a:cs typeface="Noto Sans CJK SC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《基础物理专题研究》的汇报讨论电磁感应教学中的学习困难，以及教学改进能够获得什么样的证据支持。一个贯穿报告的问题是：学生看见电流计偏转，甚至能够判断电流方向，是否就真正理解了感应的条件和解释机制？这四篇中英文论文分别提供教学任务分析、科学史融合设计、指导性解题评价和学生推理诊断。汇报依据四篇完整原文，不把设计目标当成已经证实的学习结果。</a:t>
            </a:r>
          </a:p>
          <a:p>
            <a:pPr/>
            <a:endParaRPr lang="zh-CN" dirty="0"/>
          </a:p>
          <a:p>
            <a:pPr/>
            <a:r>
              <a:rPr lang="zh-CN" dirty="0"/>
              <a:t>我们的阅读路径是先明确理论基础，再检查研究设计和证据，最后形成高中物理教学与后续研究的建议。四篇研究的对象、方法和结论范围并不相同，因此综合评述的重点不是寻找一句共同结论，而是判断它们能够怎样互补、又有哪些问题仍需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篇文献回答不同层级的问题。Jelicic等研究高中生如何在实验访谈中组织解释，关注心理模型以及认知、认识论资源，是学习困难的质性诊断。孙可、陈刚讨论学生如何从实验信息获得楞次定律，用教学任务分析解构归纳和推理。罗成等将科学史、科学哲学与概念学习融合，利用未果实验和反例推动感应条件的重建。Zuza等则设计指导性解题序列，用问卷、历史组比较和访谈评价大学生的解释表现。</a:t>
            </a:r>
          </a:p>
          <a:p>
            <a:pPr/>
            <a:endParaRPr lang="zh-CN" dirty="0"/>
          </a:p>
          <a:p>
            <a:pPr/>
            <a:r>
              <a:rPr lang="zh-CN" dirty="0"/>
              <a:t>页面关系图是汇报者据四篇文献整理，箭头表示可以相互参照的问题，不表示四篇论文属于同一个项目，也不表示已经建立了递进的因果链。诊断可以为设计提供问题，设计可以提出待检验的机制，评价可以发现残余困难；但质性访谈、教学方案和后测比较不能混成同一种效果证据。这一定位是后面批判性评述的前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评读研究的物理参照。磁场与磁通量是不同的量：磁通量是磁场穿过给定面的面积分，不是流动的磁场。匀强场和平面面积的特殊情形可以写成磁感应强度、面积与夹角余弦的乘积，夹角必须相对面的法线，而不是相对面本身。法拉第定律表达感应电动势与磁通量变化率的关系，负号体现约定取向下的楞次规律。感应电动势与电流也要区分，缺少闭合电流路径时仍可存在感应电动势。</a:t>
            </a:r>
          </a:p>
          <a:p>
            <a:pPr/>
            <a:endParaRPr lang="zh-CN" dirty="0"/>
          </a:p>
          <a:p>
            <a:pPr/>
            <a:r>
              <a:rPr lang="zh-CN" dirty="0"/>
              <a:t>机制解释还要明确研究系统。静止回路中的时变磁场对应非保守感应电场；运动导体在静磁场中，磁力可以推动电荷分离。旋转铜盘这类运动接触回路，不能直接把整个圆盘面积当作积分面机械套算。楞次定律阻碍的是引起感应的磁通量变化：通量增大和减小时，感应场相对原场的方向不同。因此宏观通量规则是重要量化工具，但它不能替代对电荷受力和回路边界的机制分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孙可、陈刚的核心问题是，学生怎样把四组方向实验的信息加工为规律。传统实验同时呈现磁极、运动方向、原场、感应场和电流等信息，困难不只是记不住口诀，也可能是不能选择、组合与概括信息。论文从学习心理学视角进行教学任务分析，资料主要是实验方案、逻辑表和教学片段，未报告学生样本和学习效果测量。</a:t>
            </a:r>
          </a:p>
          <a:p>
            <a:pPr/>
            <a:endParaRPr lang="zh-CN" dirty="0"/>
          </a:p>
          <a:p>
            <a:pPr/>
            <a:r>
              <a:rPr lang="zh-CN" dirty="0"/>
              <a:t>作者用“写图式、定内容、析途径、清序列”分析概念规律结构、学习内容、获得结论的途径和子环节策略。教学联系表现为：向前推理帮助提出问题，穷举规划不同磁极与运动情境，求同帮助形成中间子结论，再将子结论联系到楞次定律。这里的理论贡献是说明规律获得所需的信息加工步骤。它能支持方案合理性的讨论，但无法据此推断学生成绩提升多少，也不能把理论上的降低加工负担直接当成已经测得的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“来拒去留”与磁通量变化连接起来。论文的磁铁与闭合线圈相对运动情境中，无论靠近的是北极还是南极，靠近时出现排斥，原场通量大小增加，感应场反向以阻碍增加；远离时出现吸引，原场通量大小减小，感应场同向以阻碍减小。四种情境归纳成两个子结论，再形成“阻碍变化”的共同规律。表格是据原文关系整理，不是新增实验数据。</a:t>
            </a:r>
          </a:p>
          <a:p>
            <a:pPr/>
            <a:endParaRPr lang="zh-CN" dirty="0"/>
          </a:p>
          <a:p>
            <a:pPr/>
            <a:r>
              <a:rPr lang="zh-CN" dirty="0"/>
              <a:t>示意图选择北极靠近线圈，观察者位于磁铁一侧。线圈近端成为北极，与靠近的北极排斥；按右手螺旋定则，从这一侧看电流为逆时针。必须明确观察侧，避免同一电流被不同观察者说成相反方向。教学上还需要从感应场反推电流方向，而不只停留在吸引或排斥。这里“来拒去留”的概括限于对应装置情境；更一般的规律是阻碍引起感应的磁通量变化，不能推广为所有场景中都反向运动或都反向磁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篇论文需要区分三个证据层次。第一是设计逻辑，问题、猜测、方案、实验、归纳和验证说明环节怎样支持规律获得。第二是物理验证，楞次环等装置展示吸引和排斥，支持现象与楞次规律相符。第三才是学习结果，它要求关于学生理解变化的资料。原文未报告样本、前后测、对照和效果量，因此物理规律被装置验证，不等于教学效果被验证。</a:t>
            </a:r>
          </a:p>
          <a:p>
            <a:pPr/>
            <a:endParaRPr lang="zh-CN" dirty="0"/>
          </a:p>
          <a:p>
            <a:pPr/>
            <a:r>
              <a:rPr lang="zh-CN" dirty="0"/>
              <a:t>呈现的师生片段可以说明方案怎样展开，但不是经过系统抽样、转录和编码的访谈数据。论文题名中的“有效教学”也不能取代测量证据。作者在原文末尾指出方向学习目标不够突出，这为批判性阅读提供了明确线索。高中教学可以补上感应场到电流方向的推理，并用新情境检查理解；这属于我们据论文提出的改进建议，而非原文已经验证的学习增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罗成等的研究在建构论视域下，将科学史和科学哲学融入概念学习。科学史不是附加故事，而是参与问题生成和观念修正。六个环节依次是演示现象、引出观念、学习历史、动手实验、实践检验和总结评价。演示中的“隔空生电”形成问题，对称性猜想引出磁生电，未果实验让学生意识到稳恒场与暂态变化的区别，随后通过控制变量探究感应条件，并用反例和应用检验解释。</a:t>
            </a:r>
          </a:p>
          <a:p>
            <a:pPr/>
            <a:endParaRPr lang="zh-CN" dirty="0"/>
          </a:p>
          <a:p>
            <a:pPr/>
            <a:r>
              <a:rPr lang="zh-CN" dirty="0"/>
              <a:t>最后的魔术解释、能量观和实际应用把概念重新带回起点，使教学形成问题与评价之间的联系。一个值得注意的调整是，作者将原融合模式的“设计实验”改为“动手实验”。这有助于学生参与操作，但参与不自动等于具备独立实验设计能力。因此如果研究目标包括科学探究能力，还要检查学生能否自主提出变量、控制条件和判断证据，而不能仅凭课堂操作的参与程度下结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文报告本班二十四名学生的前测。十五人能够准确回答磁通量的意义、概念和表达式，五人表述不清楚；十二人认为只有“切割”才能产生感应电流，六人指出磁通量改变这一条件。这些数字支持作者所面对的具体学情：部分学生已经接触磁通量，却仍将感应条件收缩为一种运动情境。前测还覆盖电流磁效应和生活应用等问题。</a:t>
            </a:r>
          </a:p>
          <a:p>
            <a:pPr/>
            <a:endParaRPr lang="zh-CN" dirty="0"/>
          </a:p>
          <a:p>
            <a:pPr/>
            <a:r>
              <a:rPr lang="zh-CN" dirty="0"/>
              <a:t>这些条目来自不同问题，原文并未把它们组成穷尽而互斥的一套分类。不能将不同题目的计数相加，也不能为二十四人补齐未报告的类别。因此“一半只认切割”只描述这个班级前测，不代表高中生总体发生率。原文未报告明确的评分标准、工具信效度以及匹配的后测。这里的前测是教学设计的学情依据，不是干预效果的前后对比；这一区分决定后面怎样解释作者关于教学价值的主张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篇设计的关键是用历史问题和反例重建“变化”的观念。未果实验说明稳恒磁场不会持续产生电流；开关瞬态显示导体不发生通常意义上的切割，也可以出现感应；转动线圈让投影面积和方向进入分析。理论与教学环节的联系在于，认知冲突暴露原有解释的边界，实验归纳推动学生用磁通量变化重新表达条件。</a:t>
            </a:r>
          </a:p>
          <a:p>
            <a:pPr/>
            <a:endParaRPr lang="zh-CN" dirty="0"/>
          </a:p>
          <a:p>
            <a:pPr/>
            <a:r>
              <a:rPr lang="zh-CN" dirty="0"/>
              <a:t>原文还设置磁场与线圈投影面积都变化，但磁通量保持不变的反例。这提示学生不能只看一个变量是否变化，而要考察量之间的组合关系。页面示意只表达这一物理关系，没有复制原文的创新装置。魔术解释与圆盘发电机继续联系应用和能量，但复杂回路仍要明确系统边界。课堂实施文本提供可行性线索；由于没有匹配后测、对照或统计，科学本质理解和创新能力提升仍应作为设计目标及作者主张表述，不能宣称已经获得独立的效果验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Zuza等面对的是工程一年级大学生，使用指导性解题，将问题导向学习与显式的解题支架结合，目标是连接宏观现象和微观机制。首轮试用后修订，最终教学序列覆盖两周七小时，以三至四人合作展开。两个最终实施年度分别有七十五人和七十三人，共一百四十八人；历史比较组是一百四十七人，来自更早的两个年度。它不是同期随机对照设计。</a:t>
            </a:r>
          </a:p>
          <a:p>
            <a:pPr/>
            <a:endParaRPr lang="zh-CN" dirty="0"/>
          </a:p>
          <a:p>
            <a:pPr/>
            <a:r>
              <a:rPr lang="zh-CN" dirty="0"/>
              <a:t>研究使用五道前后测任务，历史组提供同题后测。背景比较使用BEMA，研究者还请五位教师审查并进行小样本试测，但试测人数未明确报告。答案分类的组内复评一致性平均为零点八八，研究者之间为零点八五。另有十五名志愿者组成五个三人小组，约在课程结束一个月后接受约四十分钟的访谈，追问第二、第三和第五题。问卷和访谈相互补充，使研究能够描述解释的变化与残余困难；历史比较结构仍限制严格的因果推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道任务不仅检查结果，还区分解释机制。第一题是双回路开关情境，第二题是磁铁靠近静止线圈，它们强调时变磁场和非保守感应电场。第三题研究线圈转动，第四题研究线圈移出静磁场，第五题是旋转铜盘，涉及运动导体中的受力、场模型与力模型的关联，以及积分面选择。尤其铜盘问题可以暴露学生虽然会套公式，却未明确回路系统的困难。</a:t>
            </a:r>
          </a:p>
          <a:p>
            <a:pPr/>
            <a:endParaRPr lang="zh-CN" dirty="0"/>
          </a:p>
          <a:p>
            <a:pPr/>
            <a:r>
              <a:rPr lang="zh-CN" dirty="0"/>
              <a:t>整体编码把正确解释分为场模型和力模型，并识别磁场存在即感应、面积混淆、缺少论证以及缺少电场性质或受力解释等类别。不同题目的适用解释要求要结合原文任务判断，不能把某一分类名称机械当作所有题目的统一评分标准。前后测情境相似，但并不完全相同；研究者独立分类后依据学生答案解决分歧。因此测量提供了比选择题答案更丰富的信息，也要求我们谨慎解释跨时间变化，避免把题目差异全部归因于教学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中比较最终序列组与历史组的后测正确比例。第一题分别为百分之五十七和四十九，第二题为五十七和十八，第三题为七十三和五十三，第四题为九十和七十五点五，第五题为三十三和十五。第三至第五题将原文表四中的两个正确类别相加，图表已注明由汇报者整理。这些结果显示部分任务的解释表现有改善线索，但不能将比例差直接称为随机实验确认的因果效应。</a:t>
            </a:r>
          </a:p>
          <a:p>
            <a:pPr/>
            <a:endParaRPr lang="zh-CN" dirty="0"/>
          </a:p>
          <a:p>
            <a:pPr/>
            <a:r>
              <a:rPr lang="zh-CN" dirty="0"/>
              <a:t>作者报告第一题的p值为零点三八，第二题远小于零点零零零一，第三和第四题为零点零四五，第五题为零点零四二。原文的卡方统计量与所列p值存在一致性疑点，因此这里保留作者报告的p值及其限定，不复制卡方值，也不在缺少原始计数时重新检验。第五题仍然困难：误选面积从前测百分之十一点五变为后测百分之三十，历史组为五十八。不答减少可能伴随更多尝试，并不等于正确掌握。年度与实施差异、题目不完全相同，以及缺少延迟迁移测量，限制因果归因和向高中教学的直接迁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Jelicic等选择萨格勒布三所学校的九名高中三年级学生，每校三名，年龄十六至十七岁，物理成绩为三至五级，四名女生、五名男生。这是便利且自愿参与的小样本。访谈在学习评价后不超过一个月进行，平均约四十五分钟。研究重点不是估计总体比例，而是理解学生面对具体实验时怎样生成解释。</a:t>
            </a:r>
          </a:p>
          <a:p>
            <a:pPr/>
            <a:endParaRPr lang="zh-CN" dirty="0"/>
          </a:p>
          <a:p>
            <a:pPr/>
            <a:r>
              <a:rPr lang="zh-CN" dirty="0"/>
              <a:t>六个实验中，前三个分别是奥斯特实验、线圈磁场和导线受力，为感应推理提供基础参照；后三个是磁铁与线圈、双线圈和楞次定律，是主要分析对象。学生观察、描述、解释，并接受追问。研究使用出声思考的录像和转录，同时分析言语、手势和图示。两名研究者独立分析，第三人参与处理歧义，最后讨论形成共识；原文没有报告数值化的编码一致性系数。丰富的过程资料有利于发现模型生成方式，但不能因此认为样本规模足以支持总体频率或干预效果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采用知识片段视角，关注认知资源怎样被情境激活和组织。作者识别三种主要心理模型：磁场叠合模型假定线圈原本已有磁场，再用磁铁场的合并或分离解释电流；磁铁吸斥电荷模型把磁极与正负电荷混淆，用磁铁直接推动静止电荷解释感应；磁极相互作用模型依赖磁铁与线圈磁极之间的吸引和排斥，却缺少电流生成的机制。</a:t>
            </a:r>
          </a:p>
          <a:p>
            <a:pPr/>
            <a:endParaRPr lang="zh-CN" dirty="0"/>
          </a:p>
          <a:p>
            <a:pPr/>
            <a:r>
              <a:rPr lang="zh-CN" dirty="0"/>
              <a:t>这些模型能够调用平衡、扰动、力推动运动以及磁极相互作用等资源，不能简单理解为三套完整而稳定的错误理论。作者认为不少模型在访谈现场形成，跨情境一致性有限。因此教学既要纠正物理错误，也要让有用资源进入正确的机制链，而不是只告诉学生换一个答案。这九名学生在访谈任务中都未主动提及磁通量，说明量的知识没有自然进入他们的解释；它只是这项研究的观察，不能推广为高中生都不会使用磁通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文表二区分使用次数和学生人数。磁极与正负电荷混淆出现八次，涉及五人；认为磁极能吸引或排斥静止电荷出现十二次，涉及六人；认为没有电流的线圈也有磁场出现六次，涉及三人。一名学生可以多次使用同一想法，也可以使用多个类别。因此十二次不等于十二名学生，更不能直接转成总体发生率。</a:t>
            </a:r>
          </a:p>
          <a:p>
            <a:pPr/>
            <a:endParaRPr lang="zh-CN" dirty="0"/>
          </a:p>
          <a:p>
            <a:pPr/>
            <a:r>
              <a:rPr lang="zh-CN" dirty="0"/>
              <a:t>作者还讨论认识论资源：学生是在努力回忆权威答案，还是由观察构建并检验解释？成绩较高也不保证模型跨情境一致。这是研究者对过程资料的解释，不是已经识别的因果效应。便利小样本、访谈追问可能诱发的现场模型，以及学生对教学经历的自述，都限制泛化。原文明确指出质性频率不能推广。其教学价值在于揭示可能的解释模式，并生成后续研究假设；论文没有实施并验证一个教学干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横向比较先看理论如何决定研究对象。孙可、陈刚用学习心理学和任务分析研究规律结论怎样获得，主要操作是实验逻辑表及教学片段分析。罗成等用HPS和建构论研究科学史如何参与概念重建，形成六环节设计，并呈现前测和课堂实践。Zuza等根据学习需求分析设计GPS，关注宏观与微观解释的连接，用问卷编码、历史比较及访谈评价。Jelicic等关注心理模型和知识片段，用实验访谈、手势与图示分析模型形成及一致性。</a:t>
            </a:r>
          </a:p>
          <a:p>
            <a:pPr/>
            <a:endParaRPr lang="zh-CN" dirty="0"/>
          </a:p>
          <a:p>
            <a:pPr/>
            <a:r>
              <a:rPr lang="zh-CN" dirty="0"/>
              <a:t>同一个电流计偏转现象，在四种视角下分别成为结论获得、概念建构、解题解释和资源组织的问题。我们可以用诊断研究补充设计研究中对学生思维的假定，也可以用评价研究检验设计目标是否得到体现。但理论和对象不同，互补不等于重复验证；不能说四篇都证明了同一种教学模式有效。这张比较表是据原文整理的分析框架，而非四篇作者共同提出的理论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张表比较证据类型与结论范围。第一篇未报告学生样本，实验方案、逻辑表和教学片段能支撑方案合理性的论证，不能支撑学习效果大小。第二篇有二十四人前测和实施文本，能够描述学情并提供可行性线索，但没有后测效应证据。第三篇有一百四十八人的教学序列组、一百四十七人的历史组、五题分类、编码一致性和十五人访谈，提供改善线索，但历史比较限制因果归因。第四篇用九人的过程资料诊断推理机制，不能推广类别频率。</a:t>
            </a:r>
          </a:p>
          <a:p>
            <a:pPr/>
            <a:endParaRPr lang="zh-CN" dirty="0"/>
          </a:p>
          <a:p>
            <a:pPr/>
            <a:r>
              <a:rPr lang="zh-CN" dirty="0"/>
              <a:t>这一比较并不是按样本大小给研究排座次。不同方法服务于不同问题：质性资料能够解释机制，教学设计能够说明理论如何转化为活动，量化比较能够描述结果差异。关键是让结论与资料相匹配。题名中的“有效教学”、合理流程和生动片段，都不能自动等于已经证实的学习效果；同样，后测差异也不能省略设计结构与适用范围的限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综合四篇，可以把困难整理为三个相互联系的层次。概念区分包括磁场与磁通量、电荷与磁极、电动势与电流，主要来自两篇英文研究；学生能说出词语，不代表能在解释中使用。机制链条包括判断磁场是存在还是变化、“切割”是否唯一条件，以及楞次定律究竟阻碍什么，中文设计与GPS研究提供了重要线索。知识组织层次包括公式算法缺少解释意义、现场模型跨情境不一致，以及依赖权威答案而停止推理。</a:t>
            </a:r>
          </a:p>
          <a:p>
            <a:pPr/>
            <a:endParaRPr lang="zh-CN" dirty="0"/>
          </a:p>
          <a:p>
            <a:pPr/>
            <a:r>
              <a:rPr lang="zh-CN" dirty="0"/>
              <a:t>这一分类由汇报者据原文归纳，不是经过统一测量建立的困难量表，也不表示三个层次相互排斥。同一个错答可能来自不同缺口，因此教学诊断应追问理由，再用反例定位。例如，磁铁静止为什么没有电流，不切割怎样发生感应，换情境后原先解释是否仍然成立？这些问题帮助教师判断是量的混淆、因果链缺失，还是模型组织的问题，从而选择有针对性的支架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篇建议在策略方向上有所交会，但效果证据并不等强。任务解构、穷举与求同旨在降低规律获得的信息加工负担；HPS、未果实验和反例探究旨在从稳恒磁场转向变化条件；GPS和合作讨论比较场模型与力模型，连接宏观和微观解释；心理模型研究建议让学生表达、检验并讨论解释的一致性，以支持认知资源组织。</a:t>
            </a:r>
          </a:p>
          <a:p>
            <a:pPr/>
            <a:endParaRPr lang="zh-CN" dirty="0"/>
          </a:p>
          <a:p>
            <a:pPr/>
            <a:r>
              <a:rPr lang="zh-CN" dirty="0"/>
              <a:t>这些策略的共同点是实验参与与显式推理支架结合。然而第一篇没有学习结果测量，第二篇只有前测和实施文本，第三篇是因果归因受限的历史比较，第四篇提出建议却没有干预。因此可以把共同方向作为合理的教学假设，却不能称为四项一致的效果验证。高中课堂的评价还应检查解释深度和新情境迁移，而不只看参与、操作完成或最终判断是否正确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提出汇报者整理的“诊断、支架、重建、复核”工作模型。诊断借鉴高中质性研究，让教师听见解释中的资源，定位模型和推理缺口。任务支架借鉴孙可、陈刚，将中间子结论、归纳和方向反推显性化。探究重建借鉴罗成等，用历史问题和反例重建感应条件。证据复核借鉴Zuza等，让解释目标与测量对齐，同时检查进展和残余困难。</a:t>
            </a:r>
          </a:p>
          <a:p>
            <a:pPr/>
            <a:endParaRPr lang="zh-CN" dirty="0"/>
          </a:p>
          <a:p>
            <a:pPr/>
            <a:r>
              <a:rPr lang="zh-CN" dirty="0"/>
              <a:t>四个步骤连接起来，目的是使教学从看见现象走向组织机制解释，再走向能够检验的学习结果。它把不同研究的贡献组合为可操作的工作假设，但不是已经验证的教学模型。尤其不能说四篇文献共同证明了这一流程有效，也不能忽略大学GPS向高中转化的课程差异。下一页将把模型转换成课堂动作，随后再提出怎样验证这些动作及其机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面向高中，可以把综合模型落实为六个动作。先收集学生的预测和理由，而不仅是答案；再让学生描述电流计读数，区分观察与解释。第三步比较磁场、面积和方向，通过不切割也发生感应等反例建立磁通量模型。第四步区分静止回路时变场和运动导体静场，帮助学生明确机制与受力。第五步按照磁通量增减、感应场方向和右手螺旋的顺序推理电流，并明确观察侧。第六步用双线圈、不切割和磁通量不变等新情境检查原解释。</a:t>
            </a:r>
          </a:p>
          <a:p>
            <a:pPr/>
            <a:endParaRPr lang="zh-CN" dirty="0"/>
          </a:p>
          <a:p>
            <a:pPr/>
            <a:r>
              <a:rPr lang="zh-CN" dirty="0"/>
              <a:t>这些动作是据四篇研究提出的高中课堂建议，尚未作为完整干预接受验证。大学论文中的微积分与复杂场论不能原样搬到高中，应以可理解的有限变化、实验比较和量的关系建模。教师要先让学生说出中间推理，再用反例和新情境检验；评价既关注结论，也关注理由、系统边界与解释是否跨情境保持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续研究可以检验三个问题：任务支架是否改善机制解释，模型讨论是否提高跨情境一致性，学习进展能否保持并迁移。结果测量和过程测量应同步设计。可以使用同期同课程比较，在条件允许时随机分配，同时记录教师和实施过程，报告样本流失；统一前后测，并加入延迟和新情境迁移任务，避免只测刚刚练习过的情境。</a:t>
            </a:r>
          </a:p>
          <a:p>
            <a:pPr/>
            <a:endParaRPr lang="zh-CN" dirty="0"/>
          </a:p>
          <a:p>
            <a:pPr/>
            <a:r>
              <a:rPr lang="zh-CN" dirty="0"/>
              <a:t>过程资料可包括学生解释、图示和课堂讨论，并报告编码一致性，使我们不仅知道有没有差异，也知道差异可能怎样产生。量化报告应给出效应量和区间，而不只强调p值；不同资料应相互核对，保留负向结果和残余困难，避免只寻找支持方案有效的片段。这是后续研究提案，没有已完成样本、统计或效果数字。具体人数与分析方案需要根据研究问题、实施条件和事前设计确定，不能从本次评述虚构出来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精读留下三项判断。第一，概念困难不等于一套单一而稳定的迷思，要观察资源如何被情境激活，帮助学生组织解释。第二，设计合理不等于效果已经验证，教学方案论证、物理验证、实施观察与学习结果必须区分，结论不能超过证据范围。第三，模型一致性和迁移应进入教学与研究评价，不能满足于某一道题的方向判断正确。</a:t>
            </a:r>
          </a:p>
          <a:p>
            <a:pPr/>
            <a:endParaRPr lang="zh-CN" dirty="0"/>
          </a:p>
          <a:p>
            <a:pPr/>
            <a:r>
              <a:rPr lang="zh-CN" dirty="0"/>
              <a:t>四篇研究互补而非互相替代。教学任务分析帮助我们解构学习过程，HPS为概念重建提供问题情境，GPS展示如何评价解释表现，质性研究揭示现场推理的复杂性。它们共同提醒我们把实验、推理与证据组成可检验的教学链。最终，教学创新的价值需要在机制解释与迁移证据中接受检验，而不是只由活动的新颖和课堂的热闹来判定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列出实际完成全文精读的四篇论文。两篇中文研究分别发表于二〇二三年《物理教学》第四期，孙可、陈刚的文章为第二十至二十四页，罗成、朱行建、文金宝的文章为第二十五至二十八页。两篇英文论文分别是Zuza、Almudí、Leniz与Guisasola在二〇一四年发表的法拉第定律指导性解题研究，以及Jelicic、Planinic与Planinsic在二〇一七年发表的高中生电磁感应推理研究。页面保留完整英文题名、期刊名、文章编号与数字对象标识，便于检索。</a:t>
            </a:r>
          </a:p>
          <a:p>
            <a:pPr/>
            <a:endParaRPr lang="zh-CN" dirty="0"/>
          </a:p>
          <a:p>
            <a:pPr/>
            <a:r>
              <a:rPr lang="zh-CN" dirty="0"/>
              <a:t>各页使用同一编号并标注涉及的原文页码或表号。统计与样本依据原文，图表的重新组合及综合启示明确标为汇报者整理。没有从论文的二手参考文献扩充成未精读的引用，也没有将课堂示例改写为学生访谈引语。欢迎围绕证据与推论是否匹配，以及高中课堂怎样验证所提模型，继续讨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ics_literature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ics_literature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201.xml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4350" y="787400"/>
            <a:ext cx="6134100" cy="2378075"/>
            <a:chOff x="514350" y="787400"/>
            <a:chExt cx="6134100" cy="2378075"/>
          </a:xfrm>
        </p:grpSpPr>
        <p:sp>
          <p:nvSpPr>
            <p:cNvPr id="2" name="TextBox 2"/>
            <p:cNvSpPr txBox="1"/>
            <p:nvPr/>
          </p:nvSpPr>
          <p:spPr>
            <a:xfrm>
              <a:off x="525018" y="787400"/>
              <a:ext cx="4675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基础物理专题研究 · 文献精读与综合评述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4350" y="1441450"/>
              <a:ext cx="7307579" cy="1724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6225"/>
                </a:lnSpc>
              </a:pPr>
              <a: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电磁感应</a:t>
              </a:r>
              <a:b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从学习困难到教学证据</a:t>
              </a:r>
            </a:p>
          </p:txBody>
        </p:sp>
      </p:grpSp>
      <p:grpSp>
        <p:nvGrpSpPr>
          <p:cNvPr id="7" name="research-question"/>
          <p:cNvGrpSpPr/>
          <p:nvPr/>
        </p:nvGrpSpPr>
        <p:grpSpPr>
          <a:xfrm>
            <a:off x="521208" y="3495675"/>
            <a:ext cx="5162721" cy="1272032"/>
            <a:chOff x="521208" y="3495675"/>
            <a:chExt cx="5162721" cy="127203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3495675"/>
              <a:ext cx="443026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看见实验现象，</a:t>
              </a:r>
              <a:br>
                <a:rPr lang="zh-CN" sz="24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4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是否真正理解了</a:t>
              </a:r>
              <a:r>
                <a:rPr lang="zh-CN" sz="240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解释机制</a:t>
              </a:r>
              <a:r>
                <a:rPr lang="zh-CN" sz="24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5018" y="4445000"/>
              <a:ext cx="5912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学科教学（物理）专业研究生 · 四篇中英文全文精读</a:t>
              </a:r>
            </a:p>
          </p:txBody>
        </p:sp>
      </p:grpSp>
      <p:grpSp>
        <p:nvGrpSpPr>
          <p:cNvPr id="18" name="argument-path"/>
          <p:cNvGrpSpPr/>
          <p:nvPr/>
        </p:nvGrpSpPr>
        <p:grpSpPr>
          <a:xfrm>
            <a:off x="533400" y="5219700"/>
            <a:ext cx="11125200" cy="866775"/>
            <a:chOff x="533400" y="5219700"/>
            <a:chExt cx="11125200" cy="866775"/>
          </a:xfrm>
        </p:grpSpPr>
        <p:sp>
          <p:nvSpPr>
            <p:cNvPr id="8" name="Rectangle 8"/>
            <p:cNvSpPr/>
            <p:nvPr/>
          </p:nvSpPr>
          <p:spPr>
            <a:xfrm>
              <a:off x="533400" y="5219700"/>
              <a:ext cx="11125200" cy="866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27532" y="5489575"/>
              <a:ext cx="9381744" cy="410718"/>
              <a:chOff x="827532" y="5489575"/>
              <a:chExt cx="9381744" cy="41071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27532" y="5489575"/>
                <a:ext cx="13731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理论基础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570732" y="5489575"/>
                <a:ext cx="13731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研究设计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13932" y="5489575"/>
                <a:ext cx="13731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证据分析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057132" y="5489575"/>
                <a:ext cx="13731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教学实践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419350" y="5648325"/>
              <a:ext cx="6305550" cy="1"/>
              <a:chOff x="2419350" y="5648325"/>
              <a:chExt cx="6305550" cy="1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419350" y="5648325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162550" y="5648325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7905750" y="5648325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21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527304" y="6419850"/>
              <a:ext cx="3710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研究主线：从现象辨识到模型解释与证据边界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01 / 24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392799" cy="920877"/>
            <a:chOff x="517398" y="438150"/>
            <a:chExt cx="6392799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1972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01 研究背景与文献概览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1951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四篇文献回答的是不同层级的问题</a:t>
              </a:r>
            </a:p>
          </p:txBody>
        </p:sp>
      </p:grpSp>
      <p:grpSp>
        <p:nvGrpSpPr>
          <p:cNvPr id="9" name="diagnosis"/>
          <p:cNvGrpSpPr/>
          <p:nvPr/>
        </p:nvGrpSpPr>
        <p:grpSpPr>
          <a:xfrm>
            <a:off x="533400" y="1733550"/>
            <a:ext cx="5238750" cy="1714500"/>
            <a:chOff x="533400" y="1733550"/>
            <a:chExt cx="5238750" cy="1714500"/>
          </a:xfrm>
        </p:grpSpPr>
        <p:sp>
          <p:nvSpPr>
            <p:cNvPr id="5" name="Rectangle 5"/>
            <p:cNvSpPr/>
            <p:nvPr/>
          </p:nvSpPr>
          <p:spPr>
            <a:xfrm>
              <a:off x="533400" y="1733550"/>
              <a:ext cx="52387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3618" y="1920875"/>
              <a:ext cx="433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[4] Jelicic等（2017） · 高中质性诊断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9808" y="2317750"/>
              <a:ext cx="40706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学生如何现场组织解释？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1332" y="2822575"/>
              <a:ext cx="42054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心理模型、认知与认识论资源</a:t>
              </a:r>
            </a:p>
          </p:txBody>
        </p:sp>
      </p:grpSp>
      <p:grpSp>
        <p:nvGrpSpPr>
          <p:cNvPr id="14" name="task-analysis"/>
          <p:cNvGrpSpPr/>
          <p:nvPr/>
        </p:nvGrpSpPr>
        <p:grpSpPr>
          <a:xfrm>
            <a:off x="6115050" y="1733550"/>
            <a:ext cx="5543550" cy="1714500"/>
            <a:chOff x="6115050" y="1733550"/>
            <a:chExt cx="5543550" cy="1714500"/>
          </a:xfrm>
        </p:grpSpPr>
        <p:sp>
          <p:nvSpPr>
            <p:cNvPr id="10" name="Rectangle 10"/>
            <p:cNvSpPr/>
            <p:nvPr/>
          </p:nvSpPr>
          <p:spPr>
            <a:xfrm>
              <a:off x="6115050" y="1733550"/>
              <a:ext cx="55435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35268" y="1920875"/>
              <a:ext cx="4594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[1] 孙可、陈刚（2023） · 教学任务分析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1458" y="2317750"/>
              <a:ext cx="44302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学生如何从信息获得规律？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2982" y="2822575"/>
              <a:ext cx="42054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解构子结论，明确归纳与推理</a:t>
              </a:r>
            </a:p>
          </p:txBody>
        </p:sp>
      </p:grpSp>
      <p:grpSp>
        <p:nvGrpSpPr>
          <p:cNvPr id="19" name="hps-design"/>
          <p:cNvGrpSpPr/>
          <p:nvPr/>
        </p:nvGrpSpPr>
        <p:grpSpPr>
          <a:xfrm>
            <a:off x="533400" y="3714750"/>
            <a:ext cx="5238750" cy="1714500"/>
            <a:chOff x="533400" y="3714750"/>
            <a:chExt cx="5238750" cy="1714500"/>
          </a:xfrm>
        </p:grpSpPr>
        <p:sp>
          <p:nvSpPr>
            <p:cNvPr id="15" name="Rectangle 15"/>
            <p:cNvSpPr/>
            <p:nvPr/>
          </p:nvSpPr>
          <p:spPr>
            <a:xfrm>
              <a:off x="533400" y="3714750"/>
              <a:ext cx="52387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902075"/>
              <a:ext cx="4087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[2] 罗成等（2023） · HPS设计实践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808" y="4298950"/>
              <a:ext cx="44302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科学史怎样参与概念重建？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4803775"/>
              <a:ext cx="38907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未果实验、反例与科学本质</a:t>
              </a:r>
            </a:p>
          </p:txBody>
        </p:sp>
      </p:grpSp>
      <p:grpSp>
        <p:nvGrpSpPr>
          <p:cNvPr id="24" name="gps-evaluation"/>
          <p:cNvGrpSpPr/>
          <p:nvPr/>
        </p:nvGrpSpPr>
        <p:grpSpPr>
          <a:xfrm>
            <a:off x="6115050" y="3714750"/>
            <a:ext cx="5543550" cy="1714500"/>
            <a:chOff x="6115050" y="3714750"/>
            <a:chExt cx="5543550" cy="1714500"/>
          </a:xfrm>
        </p:grpSpPr>
        <p:sp>
          <p:nvSpPr>
            <p:cNvPr id="20" name="Rectangle 20"/>
            <p:cNvSpPr/>
            <p:nvPr/>
          </p:nvSpPr>
          <p:spPr>
            <a:xfrm>
              <a:off x="6115050" y="3714750"/>
              <a:ext cx="55435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5268" y="3902075"/>
              <a:ext cx="4643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[3] Zuza等（2014） · 大学教学序列评价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1458" y="4298950"/>
              <a:ext cx="44302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指导性解题能改善解释吗？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32982" y="4803775"/>
              <a:ext cx="38614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GPS、问卷编码与历史比较</a:t>
              </a:r>
            </a:p>
          </p:txBody>
        </p:sp>
      </p:grpSp>
      <p:grpSp>
        <p:nvGrpSpPr>
          <p:cNvPr id="26" name="boundary"/>
          <p:cNvGrpSpPr/>
          <p:nvPr/>
        </p:nvGrpSpPr>
        <p:grpSpPr>
          <a:xfrm>
            <a:off x="521208" y="5727700"/>
            <a:ext cx="6163056" cy="469392"/>
            <a:chOff x="521208" y="5727700"/>
            <a:chExt cx="6163056" cy="469392"/>
          </a:xfrm>
        </p:grpSpPr>
        <p:sp>
          <p:nvSpPr>
            <p:cNvPr id="25" name="TextBox 25"/>
            <p:cNvSpPr txBox="1"/>
            <p:nvPr/>
          </p:nvSpPr>
          <p:spPr>
            <a:xfrm>
              <a:off x="521208" y="5727700"/>
              <a:ext cx="69479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定位互补，不能混成同一种</a:t>
              </a:r>
              <a:r>
                <a:rPr lang="zh-CN" sz="240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教学效果证据</a:t>
              </a:r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527304" y="6419850"/>
              <a:ext cx="5508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汇报者据[1]–[4]整理；关联表示研究互补，不表示共同干预或因果链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02 / 24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816852" cy="920877"/>
            <a:chOff x="517398" y="438150"/>
            <a:chExt cx="681685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1972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01 研究背景与文献概览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物理参照：分清量、条件与解释机制</a:t>
              </a:r>
            </a:p>
          </p:txBody>
        </p:sp>
      </p:grpSp>
      <p:grpSp>
        <p:nvGrpSpPr>
          <p:cNvPr id="8" name="flux-definition"/>
          <p:cNvGrpSpPr/>
          <p:nvPr/>
        </p:nvGrpSpPr>
        <p:grpSpPr>
          <a:xfrm>
            <a:off x="521208" y="1746250"/>
            <a:ext cx="4680397" cy="1145032"/>
            <a:chOff x="521208" y="1746250"/>
            <a:chExt cx="4680397" cy="114503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746250"/>
              <a:ext cx="31496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磁场 B ≠ 磁通量 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5018" y="2235200"/>
              <a:ext cx="50596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磁通量针对给定的面，而非“流动的磁场”。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018" y="2568575"/>
              <a:ext cx="5305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匀强场、平面面积：Φ = BS cosθ，θ相对法线。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lux-integral"/>
              <p:cNvSpPr txBox="1">
                <a:spLocks noGrp="1"/>
              </p:cNvSpPr>
              <p:nvPr/>
            </p:nvSpPr>
            <p:spPr>
              <a:xfrm>
                <a:off x="533400" y="3067050"/>
                <a:ext cx="52197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12355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r>
                            <m:rPr>
                              <m:sty m:val="b"/>
                            </m:rP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12355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2400" dirty="0">
                          <a:solidFill>
                            <a:srgbClr val="12355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b"/>
                        </m:rPr>
                        <a:rPr lang="zh-CN" sz="2400" dirty="0">
                          <a:solidFill>
                            <a:srgbClr val="12355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araday-law"/>
              <p:cNvSpPr txBox="1">
                <a:spLocks noGrp="1"/>
              </p:cNvSpPr>
              <p:nvPr/>
            </p:nvSpPr>
            <p:spPr>
              <a:xfrm>
                <a:off x="533400" y="4114800"/>
                <a:ext cx="5219700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a:rPr lang="zh-CN" sz="2400" dirty="0">
                          <a:solidFill>
                            <a:srgbClr val="12355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123552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2400" dirty="0">
                                  <a:solidFill>
                                    <a:srgbClr val="12355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2400" dirty="0">
                                  <a:solidFill>
                                    <a:srgbClr val="12355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r>
                            <a:rPr lang="zh-CN" sz="2400" dirty="0">
                              <a:solidFill>
                                <a:srgbClr val="12355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3" name="emf-current"/>
          <p:cNvGrpSpPr/>
          <p:nvPr/>
        </p:nvGrpSpPr>
        <p:grpSpPr>
          <a:xfrm>
            <a:off x="6102858" y="1746250"/>
            <a:ext cx="5111496" cy="886968"/>
            <a:chOff x="6102858" y="1746250"/>
            <a:chExt cx="5111496" cy="886968"/>
          </a:xfrm>
        </p:grpSpPr>
        <p:sp>
          <p:nvSpPr>
            <p:cNvPr id="11" name="TextBox 11"/>
            <p:cNvSpPr txBox="1"/>
            <p:nvPr/>
          </p:nvSpPr>
          <p:spPr>
            <a:xfrm>
              <a:off x="6102858" y="1746250"/>
              <a:ext cx="43461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感应电动势 ε ≠ 感应电流 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04382" y="2222500"/>
              <a:ext cx="5554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无闭合电流路径，也可存在感应电动势。</a:t>
              </a:r>
            </a:p>
          </p:txBody>
        </p:sp>
      </p:grpSp>
      <p:grpSp>
        <p:nvGrpSpPr>
          <p:cNvPr id="18" name="mechanism-models"/>
          <p:cNvGrpSpPr/>
          <p:nvPr/>
        </p:nvGrpSpPr>
        <p:grpSpPr>
          <a:xfrm>
            <a:off x="6115050" y="3067050"/>
            <a:ext cx="5543550" cy="2000250"/>
            <a:chOff x="6115050" y="3067050"/>
            <a:chExt cx="5543550" cy="2000250"/>
          </a:xfrm>
        </p:grpSpPr>
        <p:sp>
          <p:nvSpPr>
            <p:cNvPr id="14" name="Rectangle 14"/>
            <p:cNvSpPr/>
            <p:nvPr/>
          </p:nvSpPr>
          <p:spPr>
            <a:xfrm>
              <a:off x="6115050" y="3067050"/>
              <a:ext cx="554355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31458" y="3175000"/>
              <a:ext cx="33512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机制解释要明确系统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2982" y="3600450"/>
              <a:ext cx="5325618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静止回路、时变 B → 非保守感应电场。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运动导体、静磁场 → 磁力 q(v×B)。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5268" y="4645025"/>
              <a:ext cx="5306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复杂运动接触回路不能机械套用整个圆盘面积。</a:t>
              </a:r>
            </a:p>
          </p:txBody>
        </p:sp>
      </p:grpSp>
      <p:grpSp>
        <p:nvGrpSpPr>
          <p:cNvPr id="21" name="lenz-boundary"/>
          <p:cNvGrpSpPr/>
          <p:nvPr/>
        </p:nvGrpSpPr>
        <p:grpSpPr>
          <a:xfrm>
            <a:off x="521208" y="5461000"/>
            <a:ext cx="7794879" cy="764032"/>
            <a:chOff x="521208" y="5461000"/>
            <a:chExt cx="7794879" cy="764032"/>
          </a:xfrm>
        </p:grpSpPr>
        <p:sp>
          <p:nvSpPr>
            <p:cNvPr id="19" name="TextBox 19"/>
            <p:cNvSpPr txBox="1"/>
            <p:nvPr/>
          </p:nvSpPr>
          <p:spPr>
            <a:xfrm>
              <a:off x="521208" y="5461000"/>
              <a:ext cx="65882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楞次定律：阻碍</a:t>
              </a:r>
              <a:r>
                <a:rPr lang="zh-CN" sz="240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引起感应的磁通量变化</a:t>
              </a:r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5018" y="5902325"/>
              <a:ext cx="8768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不等于感应磁场总与原磁场反向；磁通量规则也不能代替电荷受力的机制解释。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19850"/>
              <a:ext cx="5394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参照：[1]pp.21–24；[2]pp.27–28；[3]pp.1–4及附录A；[4]pp.2–3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03 / 24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544693" cy="920877"/>
            <a:chOff x="517398" y="438150"/>
            <a:chExt cx="5544693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612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文献[1] 孙可、陈刚（2023）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62510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把结论学习拆成可加工的任务</a:t>
              </a:r>
            </a:p>
          </p:txBody>
        </p:sp>
      </p:grpSp>
      <p:grpSp>
        <p:nvGrpSpPr>
          <p:cNvPr id="7" name="research-problem"/>
          <p:cNvGrpSpPr/>
          <p:nvPr/>
        </p:nvGrpSpPr>
        <p:grpSpPr>
          <a:xfrm>
            <a:off x="521208" y="1793875"/>
            <a:ext cx="4547616" cy="1721993"/>
            <a:chOff x="521208" y="1793875"/>
            <a:chExt cx="4547616" cy="1721993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793875"/>
              <a:ext cx="5149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问题：直观现象如何成为规律？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305050"/>
              <a:ext cx="4834890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传统四组方向实验信息较多，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学生难在信息选择、组合与概括，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不只是记不住“来拒去留”。</a:t>
              </a:r>
            </a:p>
          </p:txBody>
        </p:sp>
      </p:grpSp>
      <p:grpSp>
        <p:nvGrpSpPr>
          <p:cNvPr id="11" name="study-position"/>
          <p:cNvGrpSpPr/>
          <p:nvPr/>
        </p:nvGrpSpPr>
        <p:grpSpPr>
          <a:xfrm>
            <a:off x="6115050" y="1695450"/>
            <a:ext cx="5543550" cy="1962150"/>
            <a:chOff x="6115050" y="1695450"/>
            <a:chExt cx="5543550" cy="1962150"/>
          </a:xfrm>
        </p:grpSpPr>
        <p:sp>
          <p:nvSpPr>
            <p:cNvPr id="8" name="Rectangle 8"/>
            <p:cNvSpPr/>
            <p:nvPr/>
          </p:nvSpPr>
          <p:spPr>
            <a:xfrm>
              <a:off x="6115050" y="1695450"/>
              <a:ext cx="5543550" cy="1962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31458" y="1793875"/>
              <a:ext cx="5149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研究定位：理论驱动的方案论证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2982" y="2305050"/>
              <a:ext cx="5325618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资料：实验方案、逻辑表、教学片段。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方法：学习心理学视角的教学任务分析。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学生样本与学习效果测量：未报告。</a:t>
              </a:r>
            </a:p>
          </p:txBody>
        </p:sp>
      </p:grpSp>
      <p:grpSp>
        <p:nvGrpSpPr>
          <p:cNvPr id="26" name="task-sequence"/>
          <p:cNvGrpSpPr/>
          <p:nvPr/>
        </p:nvGrpSpPr>
        <p:grpSpPr>
          <a:xfrm>
            <a:off x="521208" y="4089400"/>
            <a:ext cx="10147935" cy="859282"/>
            <a:chOff x="521208" y="4089400"/>
            <a:chExt cx="10147935" cy="859282"/>
          </a:xfrm>
        </p:grpSpPr>
        <p:grpSp>
          <p:nvGrpSpPr>
            <p:cNvPr id="16" name="Group 16"/>
            <p:cNvGrpSpPr/>
            <p:nvPr/>
          </p:nvGrpSpPr>
          <p:grpSpPr>
            <a:xfrm>
              <a:off x="521208" y="4089400"/>
              <a:ext cx="9566148" cy="469392"/>
              <a:chOff x="521208" y="4089400"/>
              <a:chExt cx="9566148" cy="46939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21208" y="4089400"/>
                <a:ext cx="119329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写图式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78708" y="4089400"/>
                <a:ext cx="119329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定内容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36208" y="4089400"/>
                <a:ext cx="119329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析途径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093708" y="4089400"/>
                <a:ext cx="119329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清序列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25018" y="4625975"/>
              <a:ext cx="10144125" cy="322707"/>
              <a:chOff x="525018" y="4625975"/>
              <a:chExt cx="10144125" cy="322707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25018" y="4625975"/>
                <a:ext cx="18451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概念与规律结构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82518" y="4625975"/>
                <a:ext cx="18451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结论及学习类型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40018" y="4625975"/>
                <a:ext cx="18451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获得结论的途径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97518" y="4625975"/>
                <a:ext cx="18451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子环节策略方法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952625" y="4276725"/>
              <a:ext cx="6772275" cy="1"/>
              <a:chOff x="1952625" y="4276725"/>
              <a:chExt cx="6772275" cy="1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1952625" y="4276725"/>
                <a:ext cx="1057275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810125" y="4276725"/>
                <a:ext cx="1057275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667625" y="4276725"/>
                <a:ext cx="1057275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29" name="strategy-bridge"/>
          <p:cNvGrpSpPr/>
          <p:nvPr/>
        </p:nvGrpSpPr>
        <p:grpSpPr>
          <a:xfrm>
            <a:off x="521208" y="5480050"/>
            <a:ext cx="7552334" cy="764032"/>
            <a:chOff x="521208" y="5480050"/>
            <a:chExt cx="7552334" cy="764032"/>
          </a:xfrm>
        </p:grpSpPr>
        <p:sp>
          <p:nvSpPr>
            <p:cNvPr id="27" name="TextBox 27"/>
            <p:cNvSpPr txBox="1"/>
            <p:nvPr/>
          </p:nvSpPr>
          <p:spPr>
            <a:xfrm>
              <a:off x="521208" y="5480050"/>
              <a:ext cx="87090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向前推理提出问题 → 穷举规划情境 → 求同形成子结论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018" y="5921375"/>
              <a:ext cx="80269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理论联系的是信息加工与规律获得，不是未经测量的“学习提升幅度”。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6419850"/>
              <a:ext cx="3799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依据：[1]pp.20–21；教学步骤关系据原文整理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04 / 24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458527" cy="920877"/>
            <a:chOff x="517398" y="438150"/>
            <a:chExt cx="6458527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612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文献[1] 孙可、陈刚（2023）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“来拒去留”必须桥接到磁通量变化</a:t>
              </a:r>
            </a:p>
          </p:txBody>
        </p:sp>
      </p:grpSp>
      <p:graphicFrame>
        <p:nvGraphicFramePr>
          <p:cNvPr id="5" name="four-case-table"/>
          <p:cNvGraphicFramePr>
            <a:graphicFrameLocks noGrp="1"/>
          </p:cNvGraphicFramePr>
          <p:nvPr/>
        </p:nvGraphicFramePr>
        <p:xfrm>
          <a:off x="533400" y="1695450"/>
          <a:ext cx="11125200" cy="2667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76500"/>
                <a:gridCol w="1714500"/>
                <a:gridCol w="2476500"/>
                <a:gridCol w="4457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磁极与相对运动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吸引或排斥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原场通量大小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感应磁场与原磁场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N极靠近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排斥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增大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反向，阻碍增大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S极靠近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排斥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增大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反向，阻碍增大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N极远离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吸引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同向，阻碍减小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S极远离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吸引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同向，阻碍减小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" name="direction-example"/>
          <p:cNvGrpSpPr/>
          <p:nvPr/>
        </p:nvGrpSpPr>
        <p:grpSpPr>
          <a:xfrm>
            <a:off x="525018" y="4679950"/>
            <a:ext cx="3875532" cy="1554607"/>
            <a:chOff x="525018" y="4679950"/>
            <a:chExt cx="3875532" cy="1554607"/>
          </a:xfrm>
        </p:grpSpPr>
        <p:sp>
          <p:nvSpPr>
            <p:cNvPr id="6" name="TextBox 6"/>
            <p:cNvSpPr txBox="1"/>
            <p:nvPr/>
          </p:nvSpPr>
          <p:spPr>
            <a:xfrm>
              <a:off x="525780" y="4679950"/>
              <a:ext cx="4322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N极靠近；从磁铁一侧看线圈（重绘示意）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66750" y="5095875"/>
              <a:ext cx="781050" cy="55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5428" y="5184775"/>
              <a:ext cx="3836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666875" y="5372100"/>
              <a:ext cx="14192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3600450" y="4991100"/>
              <a:ext cx="800100" cy="8001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 flipH="1">
              <a:off x="3810000" y="4991100"/>
              <a:ext cx="3810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29550" y="5232400"/>
              <a:ext cx="3418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018" y="5911850"/>
              <a:ext cx="37548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线圈近端为N极，电流为逆时针。</a:t>
              </a:r>
            </a:p>
          </p:txBody>
        </p:sp>
      </p:grpSp>
      <p:grpSp>
        <p:nvGrpSpPr>
          <p:cNvPr id="18" name="inductive-bridge"/>
          <p:cNvGrpSpPr/>
          <p:nvPr/>
        </p:nvGrpSpPr>
        <p:grpSpPr>
          <a:xfrm>
            <a:off x="5531358" y="4708525"/>
            <a:ext cx="4573334" cy="1512570"/>
            <a:chOff x="5531358" y="4708525"/>
            <a:chExt cx="4573334" cy="1512570"/>
          </a:xfrm>
        </p:grpSpPr>
        <p:sp>
          <p:nvSpPr>
            <p:cNvPr id="15" name="TextBox 15"/>
            <p:cNvSpPr txBox="1"/>
            <p:nvPr/>
          </p:nvSpPr>
          <p:spPr>
            <a:xfrm>
              <a:off x="5531358" y="4708525"/>
              <a:ext cx="5116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四种情境 → 两个子结论 → 规律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2882" y="5133975"/>
              <a:ext cx="4520184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求同归纳的是“阻碍变化”，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仍须由磁场方向反推电流方向。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5930" y="5927725"/>
              <a:ext cx="5260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表中关系限于论文的磁铁—闭合线圈相对运动情境。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527304" y="6419850"/>
              <a:ext cx="5838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依据：[1]p.22表5、6；[1]pp.23–24；图表据原文整理，非学习效果数据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05 / 24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816852" cy="920877"/>
            <a:chOff x="517398" y="438150"/>
            <a:chExt cx="681685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612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文献[1] 孙可、陈刚（2023）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装置验证规律，不等于验证教学效果</a:t>
              </a:r>
            </a:p>
          </p:txBody>
        </p:sp>
      </p:grpSp>
      <p:grpSp>
        <p:nvGrpSpPr>
          <p:cNvPr id="8" name="design-evidence"/>
          <p:cNvGrpSpPr/>
          <p:nvPr/>
        </p:nvGrpSpPr>
        <p:grpSpPr>
          <a:xfrm>
            <a:off x="533400" y="1695450"/>
            <a:ext cx="11125200" cy="1143000"/>
            <a:chOff x="533400" y="1695450"/>
            <a:chExt cx="11125200" cy="1143000"/>
          </a:xfrm>
        </p:grpSpPr>
        <p:sp>
          <p:nvSpPr>
            <p:cNvPr id="5" name="Rectangle 5"/>
            <p:cNvSpPr/>
            <p:nvPr/>
          </p:nvSpPr>
          <p:spPr>
            <a:xfrm>
              <a:off x="533400" y="1695450"/>
              <a:ext cx="111252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808" y="1908175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设计逻辑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61182" y="1809750"/>
              <a:ext cx="561217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问题—猜测—方案—实验—归纳—验证。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说明教学环节怎样支持结论获得。</a:t>
              </a:r>
            </a:p>
          </p:txBody>
        </p:sp>
      </p:grpSp>
      <p:grpSp>
        <p:nvGrpSpPr>
          <p:cNvPr id="12" name="physics-evidence"/>
          <p:cNvGrpSpPr/>
          <p:nvPr/>
        </p:nvGrpSpPr>
        <p:grpSpPr>
          <a:xfrm>
            <a:off x="533400" y="3105150"/>
            <a:ext cx="11125200" cy="1143000"/>
            <a:chOff x="533400" y="3105150"/>
            <a:chExt cx="11125200" cy="1143000"/>
          </a:xfrm>
        </p:grpSpPr>
        <p:sp>
          <p:nvSpPr>
            <p:cNvPr id="9" name="Rectangle 9"/>
            <p:cNvSpPr/>
            <p:nvPr/>
          </p:nvSpPr>
          <p:spPr>
            <a:xfrm>
              <a:off x="533400" y="3105150"/>
              <a:ext cx="111252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9808" y="3317875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物理验证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61182" y="3219450"/>
              <a:ext cx="7037832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楞次环验证吸引／排斥及“来拒去留”。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说明实验现象与规律相符，不直接测量学生学习。</a:t>
              </a:r>
            </a:p>
          </p:txBody>
        </p:sp>
      </p:grpSp>
      <p:grpSp>
        <p:nvGrpSpPr>
          <p:cNvPr id="16" name="learning-evidence"/>
          <p:cNvGrpSpPr/>
          <p:nvPr/>
        </p:nvGrpSpPr>
        <p:grpSpPr>
          <a:xfrm>
            <a:off x="533400" y="4514850"/>
            <a:ext cx="11125200" cy="990600"/>
            <a:chOff x="533400" y="4514850"/>
            <a:chExt cx="11125200" cy="990600"/>
          </a:xfrm>
        </p:grpSpPr>
        <p:sp>
          <p:nvSpPr>
            <p:cNvPr id="13" name="Rectangle 13"/>
            <p:cNvSpPr/>
            <p:nvPr/>
          </p:nvSpPr>
          <p:spPr>
            <a:xfrm>
              <a:off x="533400" y="4514850"/>
              <a:ext cx="111252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9808" y="4727575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学习结果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61182" y="4629150"/>
              <a:ext cx="6723125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样本、前后测、对照与效果量：未报告。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呈现的师生片段不能当作系统编码的访谈资料。</a:t>
              </a:r>
            </a:p>
          </p:txBody>
        </p:sp>
      </p:grpSp>
      <p:grpSp>
        <p:nvGrpSpPr>
          <p:cNvPr id="18" name="critical-takeaway"/>
          <p:cNvGrpSpPr/>
          <p:nvPr/>
        </p:nvGrpSpPr>
        <p:grpSpPr>
          <a:xfrm>
            <a:off x="525018" y="5892800"/>
            <a:ext cx="8546287" cy="322707"/>
            <a:chOff x="525018" y="5892800"/>
            <a:chExt cx="8546287" cy="322707"/>
          </a:xfrm>
        </p:grpSpPr>
        <p:sp>
          <p:nvSpPr>
            <p:cNvPr id="17" name="TextBox 17"/>
            <p:cNvSpPr txBox="1"/>
            <p:nvPr/>
          </p:nvSpPr>
          <p:spPr>
            <a:xfrm>
              <a:off x="525018" y="5892800"/>
              <a:ext cx="99790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作者亦指出：方向学习目标不够突出。教学应补上“感应场 → 电流方向 → 新情境检验”。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527304" y="6419850"/>
              <a:ext cx="4518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依据：[1]pp.22–24；证据区分及迁移建议为汇报者评述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06 / 24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7240905" cy="920877"/>
            <a:chOff x="517398" y="438150"/>
            <a:chExt cx="7240905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4511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文献[2] 罗成、朱行建、文金宝（2023）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81393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把科学史嵌入概念建构，而非附加故事</a:t>
              </a:r>
            </a:p>
          </p:txBody>
        </p:sp>
      </p:grpSp>
      <p:grpSp>
        <p:nvGrpSpPr>
          <p:cNvPr id="6" name="theory"/>
          <p:cNvGrpSpPr/>
          <p:nvPr/>
        </p:nvGrpSpPr>
        <p:grpSpPr>
          <a:xfrm>
            <a:off x="521208" y="1689100"/>
            <a:ext cx="7455408" cy="469392"/>
            <a:chOff x="521208" y="1689100"/>
            <a:chExt cx="7455408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689100"/>
              <a:ext cx="83865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建构论视域：科学史、科学哲学与概念学习相融合。</a:t>
              </a:r>
            </a:p>
          </p:txBody>
        </p:sp>
      </p:grpSp>
      <p:grpSp>
        <p:nvGrpSpPr>
          <p:cNvPr id="34" name="six-stage-hps"/>
          <p:cNvGrpSpPr/>
          <p:nvPr/>
        </p:nvGrpSpPr>
        <p:grpSpPr>
          <a:xfrm>
            <a:off x="533400" y="2514600"/>
            <a:ext cx="11125200" cy="2733675"/>
            <a:chOff x="533400" y="2514600"/>
            <a:chExt cx="11125200" cy="2733675"/>
          </a:xfrm>
        </p:grpSpPr>
        <p:grpSp>
          <p:nvGrpSpPr>
            <p:cNvPr id="13" name="Group 13"/>
            <p:cNvGrpSpPr/>
            <p:nvPr/>
          </p:nvGrpSpPr>
          <p:grpSpPr>
            <a:xfrm>
              <a:off x="533400" y="2514600"/>
              <a:ext cx="11125200" cy="2733675"/>
              <a:chOff x="533400" y="2514600"/>
              <a:chExt cx="11125200" cy="27336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2514600"/>
                <a:ext cx="3162300" cy="10572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4514850" y="2514600"/>
                <a:ext cx="3162300" cy="10572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496300" y="2514600"/>
                <a:ext cx="3162300" cy="10572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496300" y="4191000"/>
                <a:ext cx="3162300" cy="10572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4514850" y="4191000"/>
                <a:ext cx="3162300" cy="10572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4191000"/>
                <a:ext cx="3162300" cy="10572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751332" y="2660650"/>
              <a:ext cx="9561006" cy="2087118"/>
              <a:chOff x="751332" y="2660650"/>
              <a:chExt cx="9561006" cy="208711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51332" y="266065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1　演示现象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732782" y="266065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2　引出观念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14232" y="266065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3　学习历史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14232" y="433705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4　动手实验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32782" y="433705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5　实践检验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1332" y="433705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6　总结评价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53618" y="3130550"/>
              <a:ext cx="10234212" cy="1999107"/>
              <a:chOff x="753618" y="3130550"/>
              <a:chExt cx="10234212" cy="1999107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53618" y="3130550"/>
                <a:ext cx="25869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“隔空生电”提出问题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35068" y="3130550"/>
                <a:ext cx="23397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对称性猜想与磁生电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16518" y="3130550"/>
                <a:ext cx="26976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未果实验：稳恒 → 暂态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716518" y="4806950"/>
                <a:ext cx="23397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控制变量与感应条件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735068" y="4806950"/>
                <a:ext cx="23397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反例检验磁通量变化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3618" y="4806950"/>
                <a:ext cx="30815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解释魔术、联系能量与应用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819525" y="3048000"/>
              <a:ext cx="6257926" cy="1676401"/>
              <a:chOff x="3819525" y="3048000"/>
              <a:chExt cx="6257926" cy="1676401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3819525" y="3048000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800975" y="3048000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0077450" y="3695700"/>
                <a:ext cx="1" cy="37147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1" name="Line 31"/>
              <p:cNvSpPr/>
              <p:nvPr/>
            </p:nvSpPr>
            <p:spPr>
              <a:xfrm flipH="1">
                <a:off x="7800975" y="4724400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2" name="Line 32"/>
              <p:cNvSpPr/>
              <p:nvPr/>
            </p:nvSpPr>
            <p:spPr>
              <a:xfrm flipH="1">
                <a:off x="3819525" y="4724400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36" name="adaptation-boundary"/>
          <p:cNvGrpSpPr/>
          <p:nvPr/>
        </p:nvGrpSpPr>
        <p:grpSpPr>
          <a:xfrm>
            <a:off x="522732" y="5670550"/>
            <a:ext cx="8884044" cy="410718"/>
            <a:chOff x="522732" y="5670550"/>
            <a:chExt cx="8884044" cy="410718"/>
          </a:xfrm>
        </p:grpSpPr>
        <p:sp>
          <p:nvSpPr>
            <p:cNvPr id="35" name="TextBox 35"/>
            <p:cNvSpPr txBox="1"/>
            <p:nvPr/>
          </p:nvSpPr>
          <p:spPr>
            <a:xfrm>
              <a:off x="522732" y="5670550"/>
              <a:ext cx="10640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“设计实验”改为“动手实验”：增强参与，但参与操作 ≠ 独立设计能力。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419850"/>
              <a:ext cx="7448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依据：[2]p.25图1及pp.26–28；HPS = History and Philosophy of Science；能力边界为评述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07 / 24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100202" cy="920877"/>
            <a:chOff x="517398" y="438150"/>
            <a:chExt cx="610020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252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文献[2] 罗成等（2023）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2801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24人前测揭示“切割”概念的局限</a:t>
              </a:r>
            </a:p>
          </p:txBody>
        </p:sp>
      </p:grpSp>
      <p:graphicFrame>
        <p:nvGraphicFramePr>
          <p:cNvPr id="5" name="pretest-record"/>
          <p:cNvGraphicFramePr>
            <a:graphicFrameLocks noGrp="1"/>
          </p:cNvGraphicFramePr>
          <p:nvPr/>
        </p:nvGraphicFramePr>
        <p:xfrm>
          <a:off x="533400" y="1771650"/>
          <a:ext cx="7181850" cy="33337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714999"/>
                <a:gridCol w="1466851"/>
              </a:tblGrid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前测条目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原文人数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准确答出磁通量意义、概念及表达式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磁通量表述不清楚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认为只有“切割”才能产生感应电流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指出磁通量改变是产生感应电流的条件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sample-and-measurement"/>
          <p:cNvGrpSpPr/>
          <p:nvPr/>
        </p:nvGrpSpPr>
        <p:grpSpPr>
          <a:xfrm>
            <a:off x="8229600" y="1854200"/>
            <a:ext cx="2961132" cy="3186557"/>
            <a:chOff x="8229600" y="1854200"/>
            <a:chExt cx="2961132" cy="3186557"/>
          </a:xfrm>
        </p:grpSpPr>
        <p:sp>
          <p:nvSpPr>
            <p:cNvPr id="6" name="TextBox 6"/>
            <p:cNvSpPr txBox="1"/>
            <p:nvPr/>
          </p:nvSpPr>
          <p:spPr>
            <a:xfrm>
              <a:off x="8240268" y="1854200"/>
              <a:ext cx="15979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本班前测样本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29600" y="2203450"/>
              <a:ext cx="9632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24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28582" y="2546350"/>
              <a:ext cx="10584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名学生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0268" y="3070225"/>
              <a:ext cx="3081528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问题覆盖概念、感应条件、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电流磁效应和生活应用。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37982" y="3956050"/>
              <a:ext cx="2317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不是效果前后测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40268" y="4394200"/>
              <a:ext cx="341833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评分标准、信效度及匹配后测：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原文未报告。</a:t>
              </a:r>
            </a:p>
          </p:txBody>
        </p:sp>
      </p:grpSp>
      <p:grpSp>
        <p:nvGrpSpPr>
          <p:cNvPr id="15" name="counting-boundary"/>
          <p:cNvGrpSpPr/>
          <p:nvPr/>
        </p:nvGrpSpPr>
        <p:grpSpPr>
          <a:xfrm>
            <a:off x="521208" y="5565775"/>
            <a:ext cx="7915275" cy="712470"/>
            <a:chOff x="521208" y="5565775"/>
            <a:chExt cx="7915275" cy="712470"/>
          </a:xfrm>
        </p:grpSpPr>
        <p:sp>
          <p:nvSpPr>
            <p:cNvPr id="13" name="TextBox 13"/>
            <p:cNvSpPr txBox="1"/>
            <p:nvPr/>
          </p:nvSpPr>
          <p:spPr>
            <a:xfrm>
              <a:off x="521208" y="5565775"/>
              <a:ext cx="76672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报告的条目计数不构成穷尽、互斥的统一分类。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780" y="5984875"/>
              <a:ext cx="9105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不补齐未报告人数，不跨题求和；“一半认为仅切割”是该班前测结果，不是普遍发生率。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419850"/>
              <a:ext cx="5266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依据：[2]p.25样本说明、p.26表1；计数已对照原始PDF页面核验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08 / 24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524255" cy="920877"/>
            <a:chOff x="517398" y="438150"/>
            <a:chExt cx="6524255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252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文献[2] 罗成等（2023）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81393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反例促成从“切割”到“变化”的重建</a:t>
              </a:r>
            </a:p>
          </p:txBody>
        </p:sp>
      </p:grpSp>
      <p:grpSp>
        <p:nvGrpSpPr>
          <p:cNvPr id="9" name="concept-reconstruction"/>
          <p:cNvGrpSpPr/>
          <p:nvPr/>
        </p:nvGrpSpPr>
        <p:grpSpPr>
          <a:xfrm>
            <a:off x="521208" y="1784350"/>
            <a:ext cx="4463034" cy="3288157"/>
            <a:chOff x="521208" y="1784350"/>
            <a:chExt cx="4463034" cy="3288157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784350"/>
              <a:ext cx="3644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理论—环节—认识目标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305050"/>
              <a:ext cx="514959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未果实验：稳恒场不产生持续电流。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开关瞬态：不切割也可发生感应。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转动线圈：投影面积变化也重要。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018" y="3841750"/>
              <a:ext cx="456514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历史问题与反例制造认知冲突，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实验归纳推动“磁通量变化”概念表达。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5018" y="4749800"/>
              <a:ext cx="50596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魔术解释、圆盘发电机再连接应用与能量观。</a:t>
              </a:r>
            </a:p>
          </p:txBody>
        </p:sp>
      </p:grpSp>
      <p:grpSp>
        <p:nvGrpSpPr>
          <p:cNvPr id="17" name="constant-flux-counterexample"/>
          <p:cNvGrpSpPr/>
          <p:nvPr/>
        </p:nvGrpSpPr>
        <p:grpSpPr>
          <a:xfrm>
            <a:off x="6115050" y="1695450"/>
            <a:ext cx="5543550" cy="3324225"/>
            <a:chOff x="6115050" y="1695450"/>
            <a:chExt cx="5543550" cy="3324225"/>
          </a:xfrm>
        </p:grpSpPr>
        <p:sp>
          <p:nvSpPr>
            <p:cNvPr id="10" name="Rectangle 10"/>
            <p:cNvSpPr/>
            <p:nvPr/>
          </p:nvSpPr>
          <p:spPr>
            <a:xfrm>
              <a:off x="6115050" y="1695450"/>
              <a:ext cx="5543550" cy="33242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31458" y="1784350"/>
              <a:ext cx="5149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反例：两个量都变，仍可无感应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2982" y="2355850"/>
              <a:ext cx="44121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B改变，线圈投影面积也改变。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1458" y="2898775"/>
              <a:ext cx="4142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Φ = B·S投影　保持不变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886825" y="3409950"/>
              <a:ext cx="1" cy="3905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30516" y="4022725"/>
              <a:ext cx="19126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无感应电流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6030" y="4651375"/>
              <a:ext cx="483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示意仅表达物理量关系，不复制原文创新装置。</a:t>
              </a:r>
            </a:p>
          </p:txBody>
        </p:sp>
      </p:grpSp>
      <p:grpSp>
        <p:nvGrpSpPr>
          <p:cNvPr id="20" name="effect-limit"/>
          <p:cNvGrpSpPr/>
          <p:nvPr/>
        </p:nvGrpSpPr>
        <p:grpSpPr>
          <a:xfrm>
            <a:off x="521208" y="5413375"/>
            <a:ext cx="8039214" cy="821182"/>
            <a:chOff x="521208" y="5413375"/>
            <a:chExt cx="8039214" cy="821182"/>
          </a:xfrm>
        </p:grpSpPr>
        <p:sp>
          <p:nvSpPr>
            <p:cNvPr id="18" name="TextBox 18"/>
            <p:cNvSpPr txBox="1"/>
            <p:nvPr/>
          </p:nvSpPr>
          <p:spPr>
            <a:xfrm>
              <a:off x="521208" y="5413375"/>
              <a:ext cx="83865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实施片段提供设计可行性线索，不能替代效果检验。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018" y="5911850"/>
              <a:ext cx="92632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无匹配后测、对照或统计；“科学本质理解／创新能力提升”仍是目标及作者主张。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527304" y="6419850"/>
              <a:ext cx="5274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依据：[2]pp.27–28，图9–11及总结；效果证据边界为汇报者评述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09 / 24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896897" cy="920877"/>
            <a:chOff x="517398" y="438150"/>
            <a:chExt cx="5896897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288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文献[3] Zuza等（2014）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67211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GPS把宏观观察连接到机制解释</a:t>
              </a:r>
            </a:p>
          </p:txBody>
        </p:sp>
      </p:grpSp>
      <p:grpSp>
        <p:nvGrpSpPr>
          <p:cNvPr id="6" name="gps-principle"/>
          <p:cNvGrpSpPr/>
          <p:nvPr/>
        </p:nvGrpSpPr>
        <p:grpSpPr>
          <a:xfrm>
            <a:off x="521208" y="1612900"/>
            <a:ext cx="8115056" cy="469392"/>
            <a:chOff x="521208" y="1612900"/>
            <a:chExt cx="8115056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612900"/>
              <a:ext cx="92033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Guided Problem Solving：问题导向学习 + 显式解题指导</a:t>
              </a:r>
            </a:p>
          </p:txBody>
        </p:sp>
      </p:grpSp>
      <p:grpSp>
        <p:nvGrpSpPr>
          <p:cNvPr id="11" name="sequence-cohort"/>
          <p:cNvGrpSpPr/>
          <p:nvPr/>
        </p:nvGrpSpPr>
        <p:grpSpPr>
          <a:xfrm>
            <a:off x="533400" y="2343150"/>
            <a:ext cx="5238750" cy="1828800"/>
            <a:chOff x="533400" y="2343150"/>
            <a:chExt cx="5238750" cy="1828800"/>
          </a:xfrm>
        </p:grpSpPr>
        <p:sp>
          <p:nvSpPr>
            <p:cNvPr id="7" name="Rectangle 7"/>
            <p:cNvSpPr/>
            <p:nvPr/>
          </p:nvSpPr>
          <p:spPr>
            <a:xfrm>
              <a:off x="533400" y="2343150"/>
              <a:ext cx="5238750" cy="182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618" y="2482850"/>
              <a:ext cx="3439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最终教学序列组 · 工程一年级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2851150"/>
              <a:ext cx="13877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148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618" y="3711575"/>
              <a:ext cx="3810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2010–11：75人；2011–12：73人</a:t>
              </a:r>
            </a:p>
          </p:txBody>
        </p:sp>
      </p:grpSp>
      <p:grpSp>
        <p:nvGrpSpPr>
          <p:cNvPr id="16" name="historical-cohort"/>
          <p:cNvGrpSpPr/>
          <p:nvPr/>
        </p:nvGrpSpPr>
        <p:grpSpPr>
          <a:xfrm>
            <a:off x="6115050" y="2343150"/>
            <a:ext cx="5543550" cy="1828800"/>
            <a:chOff x="6115050" y="2343150"/>
            <a:chExt cx="5543550" cy="1828800"/>
          </a:xfrm>
        </p:grpSpPr>
        <p:sp>
          <p:nvSpPr>
            <p:cNvPr id="12" name="Rectangle 12"/>
            <p:cNvSpPr/>
            <p:nvPr/>
          </p:nvSpPr>
          <p:spPr>
            <a:xfrm>
              <a:off x="6115050" y="2343150"/>
              <a:ext cx="5543550" cy="182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35268" y="2482850"/>
              <a:ext cx="31921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传统教学历史比较组 · 同校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4600" y="2851150"/>
              <a:ext cx="13877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147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5268" y="3711575"/>
              <a:ext cx="425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2007–08及2008–09；非同期随机对照</a:t>
              </a:r>
            </a:p>
          </p:txBody>
        </p:sp>
      </p:grpSp>
      <p:grpSp>
        <p:nvGrpSpPr>
          <p:cNvPr id="19" name="implementation-and-measures"/>
          <p:cNvGrpSpPr/>
          <p:nvPr/>
        </p:nvGrpSpPr>
        <p:grpSpPr>
          <a:xfrm>
            <a:off x="521208" y="4546600"/>
            <a:ext cx="4201096" cy="1427607"/>
            <a:chOff x="521208" y="4546600"/>
            <a:chExt cx="4201096" cy="1427607"/>
          </a:xfrm>
        </p:grpSpPr>
        <p:sp>
          <p:nvSpPr>
            <p:cNvPr id="17" name="TextBox 17"/>
            <p:cNvSpPr txBox="1"/>
            <p:nvPr/>
          </p:nvSpPr>
          <p:spPr>
            <a:xfrm>
              <a:off x="521208" y="4546600"/>
              <a:ext cx="19126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实施与测量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018" y="5003800"/>
              <a:ext cx="5114121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两周7小时；3–4人合作；首轮试用后修订。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5题前／后测；历史组仅同题后测。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BEMA背景比较；5位教师审查及小样本试测。</a:t>
              </a:r>
            </a:p>
          </p:txBody>
        </p:sp>
      </p:grpSp>
      <p:grpSp>
        <p:nvGrpSpPr>
          <p:cNvPr id="22" name="coding-and-interviews"/>
          <p:cNvGrpSpPr/>
          <p:nvPr/>
        </p:nvGrpSpPr>
        <p:grpSpPr>
          <a:xfrm>
            <a:off x="6102858" y="4546600"/>
            <a:ext cx="3802952" cy="1427607"/>
            <a:chOff x="6102858" y="4546600"/>
            <a:chExt cx="3802952" cy="1427607"/>
          </a:xfrm>
        </p:grpSpPr>
        <p:sp>
          <p:nvSpPr>
            <p:cNvPr id="20" name="TextBox 20"/>
            <p:cNvSpPr txBox="1"/>
            <p:nvPr/>
          </p:nvSpPr>
          <p:spPr>
            <a:xfrm>
              <a:off x="6102858" y="4546600"/>
              <a:ext cx="26319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编码与补充访谈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06668" y="5003800"/>
              <a:ext cx="445151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组内复评κ平均0.88；研究者间κ=0.85。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15人组成5个3人组，课后约1月访谈。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约40分钟；追问Q2、Q3、Q5的解释。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419850"/>
              <a:ext cx="5038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依据：[3]pp.3–6；大学微积分课程；随机分班≠随机分配干预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10 / 24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100202" cy="920877"/>
            <a:chOff x="517398" y="438150"/>
            <a:chExt cx="610020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288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文献[3] Zuza等（2014）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五道任务区分“会算”与“能解释”</a:t>
              </a:r>
            </a:p>
          </p:txBody>
        </p:sp>
      </p:grpSp>
      <p:grpSp>
        <p:nvGrpSpPr>
          <p:cNvPr id="8" name="field-model-tasks"/>
          <p:cNvGrpSpPr/>
          <p:nvPr/>
        </p:nvGrpSpPr>
        <p:grpSpPr>
          <a:xfrm>
            <a:off x="521208" y="1784350"/>
            <a:ext cx="4370070" cy="2097532"/>
            <a:chOff x="521208" y="1784350"/>
            <a:chExt cx="4370070" cy="209753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784350"/>
              <a:ext cx="30864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Q1–Q2：时变磁场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305050"/>
              <a:ext cx="5243199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Q1　双回路开关：为什么出现电流？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Q2　磁铁靠近静止线圈：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 xml:space="preserve">　　 感应电场从何而来、性质如何？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018" y="3559175"/>
              <a:ext cx="4291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经验读数 → 磁通量变化 → 非保守电场</a:t>
              </a:r>
            </a:p>
          </p:txBody>
        </p:sp>
      </p:grpSp>
      <p:grpSp>
        <p:nvGrpSpPr>
          <p:cNvPr id="12" name="motion-model-tasks"/>
          <p:cNvGrpSpPr/>
          <p:nvPr/>
        </p:nvGrpSpPr>
        <p:grpSpPr>
          <a:xfrm>
            <a:off x="6102858" y="1784350"/>
            <a:ext cx="4636770" cy="2097532"/>
            <a:chOff x="6102858" y="1784350"/>
            <a:chExt cx="4636770" cy="2097532"/>
          </a:xfrm>
        </p:grpSpPr>
        <p:sp>
          <p:nvSpPr>
            <p:cNvPr id="9" name="TextBox 9"/>
            <p:cNvSpPr txBox="1"/>
            <p:nvPr/>
          </p:nvSpPr>
          <p:spPr>
            <a:xfrm>
              <a:off x="6102858" y="1784350"/>
              <a:ext cx="48847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Q3–Q5：运动导体／模型关联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04382" y="2305050"/>
              <a:ext cx="5554218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Q3　线圈转动：电荷受什么力？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Q4　线圈移出静磁场：怎样解释？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Q5　旋转铜盘：为什么可能发生感应？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06668" y="3559175"/>
              <a:ext cx="4565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场模型与力模型比较，明确所选积分面。</a:t>
              </a:r>
            </a:p>
          </p:txBody>
        </p:sp>
      </p:grpSp>
      <p:grpSp>
        <p:nvGrpSpPr>
          <p:cNvPr id="17" name="coding-model"/>
          <p:cNvGrpSpPr/>
          <p:nvPr/>
        </p:nvGrpSpPr>
        <p:grpSpPr>
          <a:xfrm>
            <a:off x="533400" y="4171950"/>
            <a:ext cx="11125200" cy="1581150"/>
            <a:chOff x="533400" y="4171950"/>
            <a:chExt cx="11125200" cy="1581150"/>
          </a:xfrm>
        </p:grpSpPr>
        <p:sp>
          <p:nvSpPr>
            <p:cNvPr id="13" name="Rectangle 13"/>
            <p:cNvSpPr/>
            <p:nvPr/>
          </p:nvSpPr>
          <p:spPr>
            <a:xfrm>
              <a:off x="533400" y="4171950"/>
              <a:ext cx="11125200" cy="1581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9808" y="4260850"/>
              <a:ext cx="8026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整体编码：不仅看结论对不对，还看解释是否充分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618" y="4787900"/>
              <a:ext cx="3904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正确类：A.1 场模型；A.2 力模型。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5187950"/>
              <a:ext cx="10463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错误／不足类：B.1 磁场存在即感应；B.2 面积混淆；B.3 缺论证；B.4 缺电场性质或受力解释。</a:t>
              </a:r>
            </a:p>
          </p:txBody>
        </p:sp>
      </p:grpSp>
      <p:grpSp>
        <p:nvGrpSpPr>
          <p:cNvPr id="19" name="measurement-limit"/>
          <p:cNvGrpSpPr/>
          <p:nvPr/>
        </p:nvGrpSpPr>
        <p:grpSpPr>
          <a:xfrm>
            <a:off x="525018" y="5940425"/>
            <a:ext cx="7124700" cy="322707"/>
            <a:chOff x="525018" y="5940425"/>
            <a:chExt cx="7124700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525018" y="5940425"/>
              <a:ext cx="80269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前后测情境相似但不完全相同；研究者独立分类后以答案证据解决分歧。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419850"/>
              <a:ext cx="652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依据：[3]pp.5–6表II与分类说明、p.14附录B；示例为任务转述，非虚构学生访谈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11 / 24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816852" cy="920877"/>
            <a:chOff x="517398" y="438150"/>
            <a:chExt cx="681685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288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文献[3] Zuza等（2014）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后测优势存在，但复杂情境仍未稳固</a:t>
              </a:r>
            </a:p>
          </p:txBody>
        </p:sp>
      </p:grpSp>
      <p:grpSp>
        <p:nvGrpSpPr>
          <p:cNvPr id="10" name="chart-legend"/>
          <p:cNvGrpSpPr/>
          <p:nvPr/>
        </p:nvGrpSpPr>
        <p:grpSpPr>
          <a:xfrm>
            <a:off x="533400" y="1666875"/>
            <a:ext cx="7189470" cy="296545"/>
            <a:chOff x="533400" y="1666875"/>
            <a:chExt cx="7189470" cy="296545"/>
          </a:xfrm>
        </p:grpSpPr>
        <p:sp>
          <p:nvSpPr>
            <p:cNvPr id="5" name="Rectangle 5"/>
            <p:cNvSpPr/>
            <p:nvPr/>
          </p:nvSpPr>
          <p:spPr>
            <a:xfrm>
              <a:off x="533400" y="1666875"/>
              <a:ext cx="19050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1055" y="1670050"/>
              <a:ext cx="1687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教学序列组后测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714625" y="1666875"/>
              <a:ext cx="19050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02280" y="1670050"/>
              <a:ext cx="1687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历史比较组后测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63814" y="1670050"/>
              <a:ext cx="1859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正确回答比例 / %</a:t>
              </a:r>
            </a:p>
          </p:txBody>
        </p:sp>
      </p:grpSp>
      <p:graphicFrame>
        <p:nvGraphicFramePr>
          <p:cNvPr id="11" name="posttest-comparison"/>
          <p:cNvGraphicFramePr>
            <a:graphicFrameLocks noGrp="1"/>
          </p:cNvGraphicFramePr>
          <p:nvPr/>
        </p:nvGraphicFramePr>
        <p:xfrm>
          <a:off x="533400" y="2000250"/>
          <a:ext cx="7181850" cy="3905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7" name="statistics-and-limit"/>
          <p:cNvGrpSpPr/>
          <p:nvPr/>
        </p:nvGrpSpPr>
        <p:grpSpPr>
          <a:xfrm>
            <a:off x="8237982" y="1631950"/>
            <a:ext cx="2624315" cy="4036695"/>
            <a:chOff x="8237982" y="1631950"/>
            <a:chExt cx="2624315" cy="4036695"/>
          </a:xfrm>
        </p:grpSpPr>
        <p:sp>
          <p:nvSpPr>
            <p:cNvPr id="12" name="TextBox 12"/>
            <p:cNvSpPr txBox="1"/>
            <p:nvPr/>
          </p:nvSpPr>
          <p:spPr>
            <a:xfrm>
              <a:off x="8237982" y="1631950"/>
              <a:ext cx="29775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组间 p 值：作者报告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0268" y="2051050"/>
              <a:ext cx="2398728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Q1：0.38（不显著）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Q2：远小于0.0001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Q3／Q4：0.045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Q5：0.042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0268" y="3797300"/>
              <a:ext cx="26760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Q5仍暴露面积选择困难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0268" y="4127500"/>
              <a:ext cx="2849362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误选面积：前测11.5%，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后测30%；历史组58%。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不答减少不等于掌握。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1030" y="5089525"/>
              <a:ext cx="293927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原文χ²与p数值一致性存疑；</a:t>
              </a:r>
              <a:b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不复制χ²，不复算检验。</a:t>
              </a:r>
            </a:p>
          </p:txBody>
        </p:sp>
      </p:grpSp>
      <p:grpSp>
        <p:nvGrpSpPr>
          <p:cNvPr id="19" name="causal-limit"/>
          <p:cNvGrpSpPr/>
          <p:nvPr/>
        </p:nvGrpSpPr>
        <p:grpSpPr>
          <a:xfrm>
            <a:off x="525780" y="6022975"/>
            <a:ext cx="7688580" cy="293370"/>
            <a:chOff x="525780" y="6022975"/>
            <a:chExt cx="7688580" cy="293370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6022975"/>
              <a:ext cx="8656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年度／实施差异、题目不完全相同及无延迟迁移证据，限制因果归因与高中直接迁用。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419850"/>
              <a:ext cx="64628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[3]pp.7–8表III/IV；Q3–Q5=A.1+A.2，汇报者整理；序列组n=148，历史组n=147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12 / 24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968746" cy="920877"/>
            <a:chOff x="517398" y="438150"/>
            <a:chExt cx="5968746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5039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文献[4] Jelicic、Planinic、Planinsic（2017）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67231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用六个实验追踪学生的现场推理</a:t>
              </a:r>
            </a:p>
          </p:txBody>
        </p:sp>
      </p:grpSp>
      <p:grpSp>
        <p:nvGrpSpPr>
          <p:cNvPr id="9" name="sample"/>
          <p:cNvGrpSpPr/>
          <p:nvPr/>
        </p:nvGrpSpPr>
        <p:grpSpPr>
          <a:xfrm>
            <a:off x="514350" y="1825625"/>
            <a:ext cx="3097340" cy="2205482"/>
            <a:chOff x="514350" y="1825625"/>
            <a:chExt cx="3097340" cy="2205482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825625"/>
              <a:ext cx="33293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萨格勒布3所学校 · 便利抽样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4350" y="2184400"/>
              <a:ext cx="5387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3757" y="2527300"/>
              <a:ext cx="26319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名高中三年级学生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5018" y="3060700"/>
              <a:ext cx="3740268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16–17岁；每校3人。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物理成绩3–5级；4女5男。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评价后不超过1月；平均45分钟。</a:t>
              </a:r>
            </a:p>
          </p:txBody>
        </p:sp>
      </p:grpSp>
      <p:grpSp>
        <p:nvGrpSpPr>
          <p:cNvPr id="15" name="experiments"/>
          <p:cNvGrpSpPr/>
          <p:nvPr/>
        </p:nvGrpSpPr>
        <p:grpSpPr>
          <a:xfrm>
            <a:off x="4514850" y="1695450"/>
            <a:ext cx="7143750" cy="2495550"/>
            <a:chOff x="4514850" y="1695450"/>
            <a:chExt cx="7143750" cy="2495550"/>
          </a:xfrm>
        </p:grpSpPr>
        <p:sp>
          <p:nvSpPr>
            <p:cNvPr id="10" name="Rectangle 10"/>
            <p:cNvSpPr/>
            <p:nvPr/>
          </p:nvSpPr>
          <p:spPr>
            <a:xfrm>
              <a:off x="4514850" y="1695450"/>
              <a:ext cx="7143750" cy="2495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31258" y="1765300"/>
              <a:ext cx="47899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基础实验为感应推理提供参照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2782" y="2346325"/>
              <a:ext cx="5982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1–3：奥斯特实验、线圈磁场、导线受力。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32782" y="2936875"/>
              <a:ext cx="56678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4–6：磁铁与线圈、双线圈、楞次定律。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35068" y="3616325"/>
              <a:ext cx="60487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后三个为主要研究对象；学生可以操作、观察并解释。</a:t>
              </a:r>
            </a:p>
          </p:txBody>
        </p:sp>
      </p:grpSp>
      <p:grpSp>
        <p:nvGrpSpPr>
          <p:cNvPr id="28" name="qualitative-pipeline"/>
          <p:cNvGrpSpPr/>
          <p:nvPr/>
        </p:nvGrpSpPr>
        <p:grpSpPr>
          <a:xfrm>
            <a:off x="522732" y="4689475"/>
            <a:ext cx="9654540" cy="735457"/>
            <a:chOff x="522732" y="4689475"/>
            <a:chExt cx="9654540" cy="735457"/>
          </a:xfrm>
        </p:grpSpPr>
        <p:grpSp>
          <p:nvGrpSpPr>
            <p:cNvPr id="21" name="Group 21"/>
            <p:cNvGrpSpPr/>
            <p:nvPr/>
          </p:nvGrpSpPr>
          <p:grpSpPr>
            <a:xfrm>
              <a:off x="522732" y="4689475"/>
              <a:ext cx="9654540" cy="410718"/>
              <a:chOff x="522732" y="4689475"/>
              <a:chExt cx="9654540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22732" y="4689475"/>
                <a:ext cx="74371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观察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89682" y="4689475"/>
                <a:ext cx="74371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描述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56632" y="4689475"/>
                <a:ext cx="74371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解释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323582" y="4689475"/>
                <a:ext cx="74371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追问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590532" y="4689475"/>
                <a:ext cx="74371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编码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352550" y="4848225"/>
              <a:ext cx="7867650" cy="1"/>
              <a:chOff x="1352550" y="4848225"/>
              <a:chExt cx="7867650" cy="1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1352550" y="4848225"/>
                <a:ext cx="10668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3619500" y="4848225"/>
                <a:ext cx="10668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5886450" y="4848225"/>
                <a:ext cx="10668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8153400" y="4848225"/>
                <a:ext cx="10668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25018" y="5102225"/>
              <a:ext cx="79333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Think-aloud录像转录；同时分析语言、手势与图示，而非只统计选项。</a:t>
              </a:r>
            </a:p>
          </p:txBody>
        </p:sp>
      </p:grpSp>
      <p:grpSp>
        <p:nvGrpSpPr>
          <p:cNvPr id="30" name="analysis-quality"/>
          <p:cNvGrpSpPr/>
          <p:nvPr/>
        </p:nvGrpSpPr>
        <p:grpSpPr>
          <a:xfrm>
            <a:off x="522732" y="5680075"/>
            <a:ext cx="8813368" cy="410718"/>
            <a:chOff x="522732" y="5680075"/>
            <a:chExt cx="8813368" cy="410718"/>
          </a:xfrm>
        </p:grpSpPr>
        <p:sp>
          <p:nvSpPr>
            <p:cNvPr id="29" name="TextBox 29"/>
            <p:cNvSpPr txBox="1"/>
            <p:nvPr/>
          </p:nvSpPr>
          <p:spPr>
            <a:xfrm>
              <a:off x="522732" y="5680075"/>
              <a:ext cx="99035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2名研究者独立分析，第三人处理歧义；讨论形成共识，未报告数值κ。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527304" y="6419850"/>
              <a:ext cx="5038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依据：[4]pp.3–6；质性资料用于机制诊断，不是干预效果实验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13 / 24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8089011" cy="920877"/>
            <a:chOff x="517398" y="438150"/>
            <a:chExt cx="8089011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422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文献[4] Jelicic等（2017）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90834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三种模型是临时解释工具，不都是稳定迷思</a:t>
              </a:r>
            </a:p>
          </p:txBody>
        </p:sp>
      </p:grpSp>
      <p:grpSp>
        <p:nvGrpSpPr>
          <p:cNvPr id="6" name="knowledge-framework"/>
          <p:cNvGrpSpPr/>
          <p:nvPr/>
        </p:nvGrpSpPr>
        <p:grpSpPr>
          <a:xfrm>
            <a:off x="522732" y="1717675"/>
            <a:ext cx="10773331" cy="410718"/>
            <a:chOff x="522732" y="1717675"/>
            <a:chExt cx="10773331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717675"/>
              <a:ext cx="111358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Knowledge-in-pieces：关注资源如何被情境激活并组织，而非一律清除“错误知识”。</a:t>
              </a:r>
            </a:p>
          </p:txBody>
        </p:sp>
      </p:grpSp>
      <p:grpSp>
        <p:nvGrpSpPr>
          <p:cNvPr id="11" name="overlap-model"/>
          <p:cNvGrpSpPr/>
          <p:nvPr/>
        </p:nvGrpSpPr>
        <p:grpSpPr>
          <a:xfrm>
            <a:off x="521208" y="2603500"/>
            <a:ext cx="3517392" cy="2354707"/>
            <a:chOff x="521208" y="2603500"/>
            <a:chExt cx="3517392" cy="2354707"/>
          </a:xfrm>
        </p:grpSpPr>
        <p:sp>
          <p:nvSpPr>
            <p:cNvPr id="7" name="TextBox 7"/>
            <p:cNvSpPr txBox="1"/>
            <p:nvPr/>
          </p:nvSpPr>
          <p:spPr>
            <a:xfrm>
              <a:off x="521208" y="2603500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磁场叠合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31051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2732" y="3257550"/>
              <a:ext cx="3261360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设想线圈原本有磁场，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与磁铁场合并或分离，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于是出现电流。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4635500"/>
              <a:ext cx="2586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资源线索：平衡、扰动</a:t>
              </a:r>
            </a:p>
          </p:txBody>
        </p:sp>
      </p:grpSp>
      <p:grpSp>
        <p:nvGrpSpPr>
          <p:cNvPr id="16" name="charge-model"/>
          <p:cNvGrpSpPr/>
          <p:nvPr/>
        </p:nvGrpSpPr>
        <p:grpSpPr>
          <a:xfrm>
            <a:off x="4331208" y="2603500"/>
            <a:ext cx="3517392" cy="2354707"/>
            <a:chOff x="4331208" y="2603500"/>
            <a:chExt cx="3517392" cy="2354707"/>
          </a:xfrm>
        </p:grpSpPr>
        <p:sp>
          <p:nvSpPr>
            <p:cNvPr id="12" name="TextBox 12"/>
            <p:cNvSpPr txBox="1"/>
            <p:nvPr/>
          </p:nvSpPr>
          <p:spPr>
            <a:xfrm>
              <a:off x="4331208" y="2603500"/>
              <a:ext cx="22722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磁铁吸斥电荷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343400" y="31051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32732" y="3257550"/>
              <a:ext cx="3261360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把磁极当成正负电荷，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由磁铁直接“推动”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静止电子解释电流。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5018" y="4635500"/>
              <a:ext cx="32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资源线索：force as a mover</a:t>
              </a:r>
            </a:p>
          </p:txBody>
        </p:sp>
      </p:grpSp>
      <p:grpSp>
        <p:nvGrpSpPr>
          <p:cNvPr id="21" name="pole-model"/>
          <p:cNvGrpSpPr/>
          <p:nvPr/>
        </p:nvGrpSpPr>
        <p:grpSpPr>
          <a:xfrm>
            <a:off x="8141208" y="2603500"/>
            <a:ext cx="3517392" cy="2354707"/>
            <a:chOff x="8141208" y="2603500"/>
            <a:chExt cx="3517392" cy="2354707"/>
          </a:xfrm>
        </p:grpSpPr>
        <p:sp>
          <p:nvSpPr>
            <p:cNvPr id="17" name="TextBox 17"/>
            <p:cNvSpPr txBox="1"/>
            <p:nvPr/>
          </p:nvSpPr>
          <p:spPr>
            <a:xfrm>
              <a:off x="8141208" y="2603500"/>
              <a:ext cx="22722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磁极相互作用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53400" y="31051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42732" y="3257550"/>
              <a:ext cx="3261360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用磁铁与线圈磁极的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吸引／排斥解释电流，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但缺少生成机制。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5018" y="4635500"/>
              <a:ext cx="2586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资源线索：受力与磁极</a:t>
              </a:r>
            </a:p>
          </p:txBody>
        </p:sp>
      </p:grpSp>
      <p:grpSp>
        <p:nvGrpSpPr>
          <p:cNvPr id="25" name="provisional-model-limit"/>
          <p:cNvGrpSpPr/>
          <p:nvPr/>
        </p:nvGrpSpPr>
        <p:grpSpPr>
          <a:xfrm>
            <a:off x="533400" y="5267325"/>
            <a:ext cx="11125200" cy="962025"/>
            <a:chOff x="533400" y="5267325"/>
            <a:chExt cx="11125200" cy="962025"/>
          </a:xfrm>
        </p:grpSpPr>
        <p:sp>
          <p:nvSpPr>
            <p:cNvPr id="22" name="Rectangle 22"/>
            <p:cNvSpPr/>
            <p:nvPr/>
          </p:nvSpPr>
          <p:spPr>
            <a:xfrm>
              <a:off x="533400" y="5267325"/>
              <a:ext cx="11125200" cy="9620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1332" y="5403850"/>
              <a:ext cx="76672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作者认为模型多在访谈现场形成，跨情境一致性有限。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618" y="5845175"/>
              <a:ext cx="9400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这9名学生均未主动提及磁通量：仅指本研究任务中的观察，不代表高中总体发生率。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27304" y="6419850"/>
              <a:ext cx="6317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依据：[4]pp.11–16；三种模型为原文分析，资源归属为作者解释而非因果测量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14 / 24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4535447" cy="920877"/>
            <a:chOff x="517398" y="438150"/>
            <a:chExt cx="4535447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422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02 逐篇精读 · 文献[4] Jelicic等（2017）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59490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“12次”不是“12名学生”</a:t>
              </a:r>
            </a:p>
          </p:txBody>
        </p:sp>
      </p:grpSp>
      <p:graphicFrame>
        <p:nvGraphicFramePr>
          <p:cNvPr id="5" name="frequency-record"/>
          <p:cNvGraphicFramePr>
            <a:graphicFrameLocks noGrp="1"/>
          </p:cNvGraphicFramePr>
          <p:nvPr/>
        </p:nvGraphicFramePr>
        <p:xfrm>
          <a:off x="533400" y="1771650"/>
          <a:ext cx="7181850" cy="2857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705349"/>
                <a:gridCol w="1238251"/>
                <a:gridCol w="1238250"/>
              </a:tblGrid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困难类别（原文标签）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使用次数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学生人数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　磁极与正负电荷混淆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　磁极能吸斥静止电荷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　无电流的线圈也有磁场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9" name="interpretation"/>
          <p:cNvGrpSpPr/>
          <p:nvPr/>
        </p:nvGrpSpPr>
        <p:grpSpPr>
          <a:xfrm>
            <a:off x="8236458" y="1841500"/>
            <a:ext cx="2325624" cy="2380107"/>
            <a:chOff x="8236458" y="1841500"/>
            <a:chExt cx="2325624" cy="2380107"/>
          </a:xfrm>
        </p:grpSpPr>
        <p:sp>
          <p:nvSpPr>
            <p:cNvPr id="6" name="TextBox 6"/>
            <p:cNvSpPr txBox="1"/>
            <p:nvPr/>
          </p:nvSpPr>
          <p:spPr>
            <a:xfrm>
              <a:off x="8236458" y="1841500"/>
              <a:ext cx="19126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认识论资源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40268" y="2413000"/>
              <a:ext cx="283425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知识来自权威的回忆，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还是由观察构建解释？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成绩高不保证模型一致。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40268" y="3575050"/>
              <a:ext cx="283425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这是作者对推理的解释，</a:t>
              </a:r>
              <a:b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不是已识别的因果效应。</a:t>
              </a:r>
            </a:p>
          </p:txBody>
        </p:sp>
      </p:grpSp>
      <p:grpSp>
        <p:nvGrpSpPr>
          <p:cNvPr id="13" name="generalization-boundary"/>
          <p:cNvGrpSpPr/>
          <p:nvPr/>
        </p:nvGrpSpPr>
        <p:grpSpPr>
          <a:xfrm>
            <a:off x="521208" y="5146675"/>
            <a:ext cx="7794879" cy="1131570"/>
            <a:chOff x="521208" y="5146675"/>
            <a:chExt cx="7794879" cy="1131570"/>
          </a:xfrm>
        </p:grpSpPr>
        <p:sp>
          <p:nvSpPr>
            <p:cNvPr id="10" name="TextBox 10"/>
            <p:cNvSpPr txBox="1"/>
            <p:nvPr/>
          </p:nvSpPr>
          <p:spPr>
            <a:xfrm>
              <a:off x="521208" y="5146675"/>
              <a:ext cx="43972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次数 ≠ 人数 ≠ 总体发生率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018" y="5654675"/>
              <a:ext cx="8768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便利小样本、访谈诱发与教学经历自述限制泛化；原文明确不能推广质性频率。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780" y="5984875"/>
              <a:ext cx="7757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教学价值在于发现解释模式并生成后续假设；本研究没有验证教学干预有效。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6419850"/>
              <a:ext cx="5343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依据：[4]p.10表II、pp.14–17；仅选三类展示，表中标签原样保留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15 / 24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120640" cy="920877"/>
            <a:chOff x="517398" y="438150"/>
            <a:chExt cx="5120640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2952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03 横向比较 · 理论基础与研究操作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57790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理论视角决定研究看见什么</a:t>
              </a:r>
            </a:p>
          </p:txBody>
        </p:sp>
      </p:grpSp>
      <p:graphicFrame>
        <p:nvGraphicFramePr>
          <p:cNvPr id="5" name="theory-matrix"/>
          <p:cNvGraphicFramePr>
            <a:graphicFrameLocks noGrp="1"/>
          </p:cNvGraphicFramePr>
          <p:nvPr/>
        </p:nvGraphicFramePr>
        <p:xfrm>
          <a:off x="533400" y="1695450"/>
          <a:ext cx="11125200" cy="3962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14500"/>
                <a:gridCol w="2667000"/>
                <a:gridCol w="3048000"/>
                <a:gridCol w="3695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文献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理论基础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核心问题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研究操作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[1] 孙可、陈刚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学习心理学／任务分析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规律结论怎样获得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实验逻辑表与教学片段分析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[2] 罗成等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HPS／建构论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科学史如何支持概念重建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六环节设计与前测／实践呈现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[3] Zuza等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学习需求分析／GPS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怎样连接宏观与微观解释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问卷编码、历史比较与访谈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[4] Jelicic等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心理模型／知识片段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模型如何形成与保持一致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实验访谈、手势与图示编码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" name="theory-takeaway"/>
          <p:cNvGrpSpPr/>
          <p:nvPr/>
        </p:nvGrpSpPr>
        <p:grpSpPr>
          <a:xfrm>
            <a:off x="522732" y="5918200"/>
            <a:ext cx="9350502" cy="410718"/>
            <a:chOff x="522732" y="5918200"/>
            <a:chExt cx="935050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5918200"/>
              <a:ext cx="104995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同一实验现象，在不同理论中成为不同的研究对象；互补不等于重复验证。</a:t>
              </a:r>
            </a:p>
          </p:txBody>
        </p:sp>
      </p:grpSp>
      <p:grpSp>
        <p:nvGrpSpPr>
          <p:cNvPr id="10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6419850"/>
              <a:ext cx="5508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汇报者据[1]–[4]理论与方法部分整理；框架不是原文联合提出的模型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16 / 24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544693" cy="920877"/>
            <a:chOff x="517398" y="438150"/>
            <a:chExt cx="5544693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491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03 横向比较 · 研究设计、资料与结论范围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62510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证据类型决定结论可以走多远</a:t>
              </a:r>
            </a:p>
          </p:txBody>
        </p:sp>
      </p:grpSp>
      <p:graphicFrame>
        <p:nvGraphicFramePr>
          <p:cNvPr id="5" name="evidence-matrix"/>
          <p:cNvGraphicFramePr>
            <a:graphicFrameLocks noGrp="1"/>
          </p:cNvGraphicFramePr>
          <p:nvPr/>
        </p:nvGraphicFramePr>
        <p:xfrm>
          <a:off x="533400" y="1695450"/>
          <a:ext cx="11125200" cy="381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14500"/>
                <a:gridCol w="2952750"/>
                <a:gridCol w="3219450"/>
                <a:gridCol w="32385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文献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对象与设计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资料与分析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可支持的结论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[1] 孙可、陈刚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未报告学生样本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逻辑表／实验方案／教学片段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方案合理性；非教学效果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[2] 罗成等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24人前测，设计实践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条目计数、课堂过程文本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学情与可行性；无后测效应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[3] Zuza等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148人序列／147人历史组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5题分类；κ；15人访谈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改善线索；因果归因受限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[4] Jelicic等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9人便利抽样，质性研究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录像、言语手势图示编码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机制诊断；不能泛化频率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" name="evidence-question"/>
          <p:cNvGrpSpPr/>
          <p:nvPr/>
        </p:nvGrpSpPr>
        <p:grpSpPr>
          <a:xfrm>
            <a:off x="522732" y="5861050"/>
            <a:ext cx="9378772" cy="410718"/>
            <a:chOff x="522732" y="5861050"/>
            <a:chExt cx="937877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5861050"/>
              <a:ext cx="108143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不能把“有效教学”的题名、合理的流程或生动片段，当成已经证实的效果。</a:t>
              </a:r>
            </a:p>
          </p:txBody>
        </p:sp>
      </p:grpSp>
      <p:grpSp>
        <p:nvGrpSpPr>
          <p:cNvPr id="10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6419850"/>
              <a:ext cx="6947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汇报者据[1]–[4]方法与结果整理；“未报告”仅指所提供原文，不推断研究完全未开展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17 / 24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816852" cy="920877"/>
            <a:chOff x="517398" y="438150"/>
            <a:chExt cx="681685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131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03 横向比较 · 学生概念理解困难分类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学习困难跨越概念、机制与知识组织</a:t>
              </a:r>
            </a:p>
          </p:txBody>
        </p:sp>
      </p:grpSp>
      <p:grpSp>
        <p:nvGrpSpPr>
          <p:cNvPr id="10" name="concept-level"/>
          <p:cNvGrpSpPr/>
          <p:nvPr/>
        </p:nvGrpSpPr>
        <p:grpSpPr>
          <a:xfrm>
            <a:off x="533400" y="1733550"/>
            <a:ext cx="3505200" cy="3133725"/>
            <a:chOff x="533400" y="1733550"/>
            <a:chExt cx="3505200" cy="3133725"/>
          </a:xfrm>
        </p:grpSpPr>
        <p:sp>
          <p:nvSpPr>
            <p:cNvPr id="5" name="Rectangle 5"/>
            <p:cNvSpPr/>
            <p:nvPr/>
          </p:nvSpPr>
          <p:spPr>
            <a:xfrm>
              <a:off x="533400" y="1733550"/>
              <a:ext cx="3505200" cy="31337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808" y="1870075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概念区分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2419350"/>
              <a:ext cx="2673218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磁场 B 与磁通量 Φ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电荷与磁极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电动势与电流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3618" y="4140200"/>
              <a:ext cx="3328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会说概念，未必会用来解释。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527550"/>
              <a:ext cx="20165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主要依据：[3]、[4]</a:t>
              </a:r>
            </a:p>
          </p:txBody>
        </p:sp>
      </p:grpSp>
      <p:grpSp>
        <p:nvGrpSpPr>
          <p:cNvPr id="16" name="mechanism-level"/>
          <p:cNvGrpSpPr/>
          <p:nvPr/>
        </p:nvGrpSpPr>
        <p:grpSpPr>
          <a:xfrm>
            <a:off x="4343400" y="1733550"/>
            <a:ext cx="3505200" cy="3133725"/>
            <a:chOff x="4343400" y="1733550"/>
            <a:chExt cx="3505200" cy="3133725"/>
          </a:xfrm>
        </p:grpSpPr>
        <p:sp>
          <p:nvSpPr>
            <p:cNvPr id="11" name="Rectangle 11"/>
            <p:cNvSpPr/>
            <p:nvPr/>
          </p:nvSpPr>
          <p:spPr>
            <a:xfrm>
              <a:off x="4343400" y="1733550"/>
              <a:ext cx="3505200" cy="31337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59808" y="1870075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机制链条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1332" y="2419350"/>
              <a:ext cx="3890771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磁场存在还是发生变化？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“切割”是不是唯一条件？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“阻碍”到底阻碍什么？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3618" y="4140200"/>
              <a:ext cx="32764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补足现象—物理量—受力链。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4380" y="4527550"/>
              <a:ext cx="2518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主要依据：[1]、[2]、[3]</a:t>
              </a:r>
            </a:p>
          </p:txBody>
        </p:sp>
      </p:grpSp>
      <p:grpSp>
        <p:nvGrpSpPr>
          <p:cNvPr id="22" name="organization-level"/>
          <p:cNvGrpSpPr/>
          <p:nvPr/>
        </p:nvGrpSpPr>
        <p:grpSpPr>
          <a:xfrm>
            <a:off x="8153400" y="1733550"/>
            <a:ext cx="3505200" cy="3133725"/>
            <a:chOff x="8153400" y="1733550"/>
            <a:chExt cx="3505200" cy="3133725"/>
          </a:xfrm>
        </p:grpSpPr>
        <p:sp>
          <p:nvSpPr>
            <p:cNvPr id="17" name="Rectangle 17"/>
            <p:cNvSpPr/>
            <p:nvPr/>
          </p:nvSpPr>
          <p:spPr>
            <a:xfrm>
              <a:off x="8153400" y="1733550"/>
              <a:ext cx="3505200" cy="31337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69808" y="1870075"/>
              <a:ext cx="15529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知识组织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1332" y="2419350"/>
              <a:ext cx="3287268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公式算法缺少解释意义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临时模型跨情境不一致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依赖权威答案而停止推理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3618" y="4140200"/>
              <a:ext cx="32849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需要支持“构建并检验解释”。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4380" y="4527550"/>
              <a:ext cx="20165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主要依据：[3]、[4]</a:t>
              </a:r>
            </a:p>
          </p:txBody>
        </p:sp>
      </p:grpSp>
      <p:grpSp>
        <p:nvGrpSpPr>
          <p:cNvPr id="25" name="diagnostic-implication"/>
          <p:cNvGrpSpPr/>
          <p:nvPr/>
        </p:nvGrpSpPr>
        <p:grpSpPr>
          <a:xfrm>
            <a:off x="521208" y="5327650"/>
            <a:ext cx="8747760" cy="887857"/>
            <a:chOff x="521208" y="5327650"/>
            <a:chExt cx="8747760" cy="887857"/>
          </a:xfrm>
        </p:grpSpPr>
        <p:sp>
          <p:nvSpPr>
            <p:cNvPr id="23" name="TextBox 23"/>
            <p:cNvSpPr txBox="1"/>
            <p:nvPr/>
          </p:nvSpPr>
          <p:spPr>
            <a:xfrm>
              <a:off x="521208" y="5327650"/>
              <a:ext cx="98252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同一个错答可能来自不同缺口：先追问理由，再用反例定位。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5018" y="5892800"/>
              <a:ext cx="100050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诊断例：磁铁静止为何无电流？不“切割”时怎样感应？换情境后，原来的解释还成立吗？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27304" y="6419850"/>
              <a:ext cx="6407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三层分类与诊断问题为汇报者据[1]–[4]整理；不声称三层之间已被测得因果关系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18 / 24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816852" cy="920877"/>
            <a:chOff x="517398" y="438150"/>
            <a:chExt cx="6816852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2952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03 横向比较 · 教学策略与效果证据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667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教学策略有共识，效果证据并不等强</a:t>
              </a:r>
            </a:p>
          </p:txBody>
        </p:sp>
      </p:grpSp>
      <p:graphicFrame>
        <p:nvGraphicFramePr>
          <p:cNvPr id="5" name="intervention-matrix"/>
          <p:cNvGraphicFramePr>
            <a:graphicFrameLocks noGrp="1"/>
          </p:cNvGraphicFramePr>
          <p:nvPr/>
        </p:nvGraphicFramePr>
        <p:xfrm>
          <a:off x="533400" y="1695450"/>
          <a:ext cx="11125200" cy="3962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14500"/>
                <a:gridCol w="3619500"/>
                <a:gridCol w="2857500"/>
                <a:gridCol w="2933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文献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主要策略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机制目标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效果证据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[1] 孙可、陈刚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任务解构、穷举与求同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降低信息加工负担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学习结果未测量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[2] 罗成等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HPS、未果实验与反例探究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从稳恒到变化观念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前测＋实施文本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[3] Zuza等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GPS、合作讨论、模型比较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宏观—微观连接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历史比较；归因受限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[4] Jelicic等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表达模型、检验与一致性讨论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支持认知资源组织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chemeClr val="dk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教学建议；未实施干预</a:t>
                      </a:r>
                    </a:p>
                  </a:txBody>
                  <a:tcPr anchor="ctr" marL="1524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" name="strategy-takeaway"/>
          <p:cNvGrpSpPr/>
          <p:nvPr/>
        </p:nvGrpSpPr>
        <p:grpSpPr>
          <a:xfrm>
            <a:off x="522732" y="5918200"/>
            <a:ext cx="10241013" cy="410718"/>
            <a:chOff x="522732" y="5918200"/>
            <a:chExt cx="1024101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522732" y="5918200"/>
              <a:ext cx="111358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共同方向：实验参与 + 显式推理支架；还须检验解释深度与迁移，而非只看参与。</a:t>
              </a:r>
            </a:p>
          </p:txBody>
        </p:sp>
      </p:grpSp>
      <p:grpSp>
        <p:nvGrpSpPr>
          <p:cNvPr id="10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6419850"/>
              <a:ext cx="6587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汇报者据[1]–[4]设计／讨论／结果整理；表中“机制目标”不是已测得的中介效应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19 / 24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279365" cy="920877"/>
            <a:chOff x="517398" y="438150"/>
            <a:chExt cx="6279365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4210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04 批判性反思与教学启示 · 汇报者据四篇文献整理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75371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综合启示：诊断—支架—重建—复核</a:t>
              </a:r>
            </a:p>
          </p:txBody>
        </p:sp>
      </p:grpSp>
      <p:grpSp>
        <p:nvGrpSpPr>
          <p:cNvPr id="6" name="model-framing"/>
          <p:cNvGrpSpPr/>
          <p:nvPr/>
        </p:nvGrpSpPr>
        <p:grpSpPr>
          <a:xfrm>
            <a:off x="521208" y="1746250"/>
            <a:ext cx="7132320" cy="469392"/>
            <a:chOff x="521208" y="1746250"/>
            <a:chExt cx="7132320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746250"/>
              <a:ext cx="8026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把互补研究转化为一套</a:t>
              </a:r>
              <a:r>
                <a:rPr lang="zh-CN" sz="240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有待验证</a:t>
              </a:r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的教学工作模型。</a:t>
              </a:r>
            </a:p>
          </p:txBody>
        </p:sp>
      </p:grpSp>
      <p:grpSp>
        <p:nvGrpSpPr>
          <p:cNvPr id="26" name="model-stages"/>
          <p:cNvGrpSpPr/>
          <p:nvPr/>
        </p:nvGrpSpPr>
        <p:grpSpPr>
          <a:xfrm>
            <a:off x="533400" y="2781300"/>
            <a:ext cx="10847832" cy="2402332"/>
            <a:chOff x="533400" y="2781300"/>
            <a:chExt cx="10847832" cy="2402332"/>
          </a:xfrm>
        </p:grpSpPr>
        <p:sp>
          <p:nvSpPr>
            <p:cNvPr id="7" name="Freeform 7"/>
            <p:cNvSpPr/>
            <p:nvPr/>
          </p:nvSpPr>
          <p:spPr>
            <a:xfrm>
              <a:off x="533400" y="2781300"/>
              <a:ext cx="2476500" cy="112395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3314700" y="2781300"/>
              <a:ext cx="2476500" cy="112395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6096000" y="2781300"/>
              <a:ext cx="2476500" cy="112395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877300" y="2781300"/>
              <a:ext cx="2476500" cy="112395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13282" y="3165475"/>
              <a:ext cx="9660636" cy="469392"/>
              <a:chOff x="1113282" y="3165475"/>
              <a:chExt cx="9660636" cy="46939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995172" y="3165475"/>
                <a:ext cx="15529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Noto Sans CJK SC"/>
                    <a:ea typeface="Noto Sans CJK SC"/>
                    <a:cs typeface="Noto Sans CJK SC"/>
                  </a:rPr>
                  <a:t>认知诊断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776472" y="3165475"/>
                <a:ext cx="15529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Noto Sans CJK SC"/>
                    <a:ea typeface="Noto Sans CJK SC"/>
                    <a:cs typeface="Noto Sans CJK SC"/>
                  </a:rPr>
                  <a:t>任务支架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57772" y="3165475"/>
                <a:ext cx="15529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Noto Sans CJK SC"/>
                    <a:ea typeface="Noto Sans CJK SC"/>
                    <a:cs typeface="Noto Sans CJK SC"/>
                  </a:rPr>
                  <a:t>探究重建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39072" y="3165475"/>
                <a:ext cx="15529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Noto Sans CJK SC"/>
                    <a:ea typeface="Noto Sans CJK SC"/>
                    <a:cs typeface="Noto Sans CJK SC"/>
                  </a:rPr>
                  <a:t>证据复核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15518" y="4130675"/>
              <a:ext cx="9511513" cy="322707"/>
              <a:chOff x="715518" y="4130675"/>
              <a:chExt cx="9511513" cy="322707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15518" y="4130675"/>
                <a:ext cx="14488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Jelicic等 [4]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496818" y="4130675"/>
                <a:ext cx="17103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孙可、陈刚 [1]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78118" y="4130675"/>
                <a:ext cx="12157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罗成等 [2]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59418" y="4130675"/>
                <a:ext cx="126424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Zuza等 [3]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15518" y="4537075"/>
              <a:ext cx="10665714" cy="646557"/>
              <a:chOff x="715518" y="4537075"/>
              <a:chExt cx="10665714" cy="646557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15518" y="4537075"/>
                <a:ext cx="2339721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听见解释中的资源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定位模型和推理缺口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96818" y="4537075"/>
                <a:ext cx="2339721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明确中间子结论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显式支持归纳与反推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78118" y="4537075"/>
                <a:ext cx="2339721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历史问题与反例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重建感应条件的表达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59418" y="4537075"/>
                <a:ext cx="2599182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对齐解释与测量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检视学习进展及残余困难</a:t>
                </a:r>
              </a:p>
            </p:txBody>
          </p:sp>
        </p:grpSp>
      </p:grpSp>
      <p:grpSp>
        <p:nvGrpSpPr>
          <p:cNvPr id="28" name="model-boundary"/>
          <p:cNvGrpSpPr/>
          <p:nvPr/>
        </p:nvGrpSpPr>
        <p:grpSpPr>
          <a:xfrm>
            <a:off x="521208" y="5708650"/>
            <a:ext cx="5583921" cy="469392"/>
            <a:chOff x="521208" y="5708650"/>
            <a:chExt cx="5583921" cy="469392"/>
          </a:xfrm>
        </p:grpSpPr>
        <p:sp>
          <p:nvSpPr>
            <p:cNvPr id="27" name="TextBox 27"/>
            <p:cNvSpPr txBox="1"/>
            <p:nvPr/>
          </p:nvSpPr>
          <p:spPr>
            <a:xfrm>
              <a:off x="521208" y="5708650"/>
              <a:ext cx="63919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互补 ≠ 四篇研究共同验证了这套模型。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527304" y="6419850"/>
              <a:ext cx="6228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箭头表示汇报者建议的工作顺序，不表示四篇研究之间的因果或时间先后关系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20 / 24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968746" cy="920877"/>
            <a:chOff x="517398" y="438150"/>
            <a:chExt cx="5968746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4750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04 批判性反思与教学启示 · 高中课堂建议，非已验证干预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67231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把综合模型转化为六个课堂动作</a:t>
              </a:r>
            </a:p>
          </p:txBody>
        </p:sp>
      </p:grpSp>
      <p:grpSp>
        <p:nvGrpSpPr>
          <p:cNvPr id="6" name="classroom-principle"/>
          <p:cNvGrpSpPr/>
          <p:nvPr/>
        </p:nvGrpSpPr>
        <p:grpSpPr>
          <a:xfrm>
            <a:off x="522732" y="1651000"/>
            <a:ext cx="7371588" cy="410718"/>
            <a:chOff x="522732" y="1651000"/>
            <a:chExt cx="7371588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22732" y="1651000"/>
              <a:ext cx="82966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先让学生说出推理中间环节，再用反例与新情境检验解释。</a:t>
              </a:r>
            </a:p>
          </p:txBody>
        </p:sp>
      </p:grpSp>
      <p:grpSp>
        <p:nvGrpSpPr>
          <p:cNvPr id="34" name="classroom-sequence"/>
          <p:cNvGrpSpPr/>
          <p:nvPr/>
        </p:nvGrpSpPr>
        <p:grpSpPr>
          <a:xfrm>
            <a:off x="533400" y="2362200"/>
            <a:ext cx="11125200" cy="3000375"/>
            <a:chOff x="533400" y="2362200"/>
            <a:chExt cx="11125200" cy="3000375"/>
          </a:xfrm>
        </p:grpSpPr>
        <p:grpSp>
          <p:nvGrpSpPr>
            <p:cNvPr id="13" name="Group 13"/>
            <p:cNvGrpSpPr/>
            <p:nvPr/>
          </p:nvGrpSpPr>
          <p:grpSpPr>
            <a:xfrm>
              <a:off x="533400" y="2362200"/>
              <a:ext cx="11125200" cy="3000375"/>
              <a:chOff x="533400" y="2362200"/>
              <a:chExt cx="11125200" cy="3000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2362200"/>
                <a:ext cx="3162300" cy="12477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4514850" y="2362200"/>
                <a:ext cx="3162300" cy="12477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496300" y="2362200"/>
                <a:ext cx="3162300" cy="12477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496300" y="4114800"/>
                <a:ext cx="3162300" cy="12477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4514850" y="4114800"/>
                <a:ext cx="3162300" cy="12477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4114800"/>
                <a:ext cx="3162300" cy="124777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751332" y="2489200"/>
              <a:ext cx="9843708" cy="2163318"/>
              <a:chOff x="751332" y="2489200"/>
              <a:chExt cx="9843708" cy="216331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51332" y="2489200"/>
                <a:ext cx="218816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1　前概念诊断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732782" y="2489200"/>
                <a:ext cx="218816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2　观察与描述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14232" y="2489200"/>
                <a:ext cx="218816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3　磁通量建模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14232" y="424180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4　机制解释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32782" y="424180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5　方向推理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1332" y="4241800"/>
                <a:ext cx="18734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Noto Sans CJK SC"/>
                    <a:ea typeface="Noto Sans CJK SC"/>
                    <a:cs typeface="Noto Sans CJK SC"/>
                  </a:rPr>
                  <a:t>6　迁移检验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53618" y="2924175"/>
              <a:ext cx="10494264" cy="2380107"/>
              <a:chOff x="753618" y="2924175"/>
              <a:chExt cx="10494264" cy="2380107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53618" y="2924175"/>
                <a:ext cx="2339721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收集预测与理由，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避免只问最终答案。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35068" y="2924175"/>
                <a:ext cx="2339721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先描述电流计读数，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再区分现象与解释。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16518" y="2924175"/>
                <a:ext cx="2942082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比较B、面积和方向，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用反例检验“切割”说法。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716518" y="4676775"/>
                <a:ext cx="2942082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静止回路时变场／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运动导体静场，分清受力。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735068" y="4676775"/>
                <a:ext cx="28342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磁通量增减 → 感应场；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右手螺旋，注明观察侧。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3618" y="4676775"/>
                <a:ext cx="28342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双线圈、不切割、</a:t>
                </a:r>
                <a:b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</a:br>
                <a:r>
                  <a:rPr lang="zh-CN" sz="1650" dirty="0">
                    <a:solidFill>
                      <a:schemeClr val="accent5"/>
                    </a:solidFill>
                    <a:latin typeface="Noto Sans CJK SC"/>
                    <a:ea typeface="Noto Sans CJK SC"/>
                    <a:cs typeface="Noto Sans CJK SC"/>
                  </a:rPr>
                  <a:t>磁通量不变情境再解释。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819525" y="2981325"/>
              <a:ext cx="6257926" cy="1752601"/>
              <a:chOff x="3819525" y="2981325"/>
              <a:chExt cx="6257926" cy="1752601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3819525" y="2981325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800975" y="2981325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0077450" y="3724275"/>
                <a:ext cx="1" cy="27622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1" name="Line 31"/>
              <p:cNvSpPr/>
              <p:nvPr/>
            </p:nvSpPr>
            <p:spPr>
              <a:xfrm flipH="1">
                <a:off x="7800975" y="4733925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2" name="Line 32"/>
              <p:cNvSpPr/>
              <p:nvPr/>
            </p:nvSpPr>
            <p:spPr>
              <a:xfrm flipH="1">
                <a:off x="3819525" y="4733925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36" name="high-school-adaptation"/>
          <p:cNvGrpSpPr/>
          <p:nvPr/>
        </p:nvGrpSpPr>
        <p:grpSpPr>
          <a:xfrm>
            <a:off x="521208" y="5708650"/>
            <a:ext cx="8747760" cy="469392"/>
            <a:chOff x="521208" y="5708650"/>
            <a:chExt cx="8747760" cy="469392"/>
          </a:xfrm>
        </p:grpSpPr>
        <p:sp>
          <p:nvSpPr>
            <p:cNvPr id="35" name="TextBox 35"/>
            <p:cNvSpPr txBox="1"/>
            <p:nvPr/>
          </p:nvSpPr>
          <p:spPr>
            <a:xfrm>
              <a:off x="521208" y="5708650"/>
              <a:ext cx="98252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以高中可理解的有限变化建模，不原样照搬大学微积分序列。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419850"/>
              <a:ext cx="586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汇报者据[1]–[4]提出的课堂转化建议；六步流程及其效果需后续研究检验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21 / 24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524255" cy="920877"/>
            <a:chOff x="517398" y="438150"/>
            <a:chExt cx="6524255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3491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04 批判性反思与教学启示 · 后续研究提案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81393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后续研究要同时测“结果”与“过程”</a:t>
              </a:r>
            </a:p>
          </p:txBody>
        </p:sp>
      </p:grpSp>
      <p:grpSp>
        <p:nvGrpSpPr>
          <p:cNvPr id="7" name="research-questions"/>
          <p:cNvGrpSpPr/>
          <p:nvPr/>
        </p:nvGrpSpPr>
        <p:grpSpPr>
          <a:xfrm>
            <a:off x="521208" y="1841500"/>
            <a:ext cx="4023360" cy="2118868"/>
            <a:chOff x="521208" y="1841500"/>
            <a:chExt cx="4023360" cy="2118868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841500"/>
              <a:ext cx="26319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值得检验的问题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216150"/>
              <a:ext cx="4834890" cy="1744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52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任务支架是否改善机制解释？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模型讨论是否提高跨情境一致性？</a:t>
              </a:r>
              <a:b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学习进展能否保持并迁移？</a:t>
              </a:r>
            </a:p>
          </p:txBody>
        </p:sp>
      </p:grpSp>
      <p:grpSp>
        <p:nvGrpSpPr>
          <p:cNvPr id="12" name="research-design"/>
          <p:cNvGrpSpPr/>
          <p:nvPr/>
        </p:nvGrpSpPr>
        <p:grpSpPr>
          <a:xfrm>
            <a:off x="6115050" y="1743075"/>
            <a:ext cx="5543550" cy="3371850"/>
            <a:chOff x="6115050" y="1743075"/>
            <a:chExt cx="5543550" cy="3371850"/>
          </a:xfrm>
        </p:grpSpPr>
        <p:sp>
          <p:nvSpPr>
            <p:cNvPr id="8" name="Rectangle 8"/>
            <p:cNvSpPr/>
            <p:nvPr/>
          </p:nvSpPr>
          <p:spPr>
            <a:xfrm>
              <a:off x="6115050" y="1743075"/>
              <a:ext cx="5543550" cy="3371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31458" y="1841500"/>
              <a:ext cx="371093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结果与过程的双重测量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5268" y="2403475"/>
              <a:ext cx="4318399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同期、同课程比较；可行时随机分配。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记录教师及实施过程，报告样本流失。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统一前后测 + 延迟、新情境迁移测验。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解释、图示与课堂讨论的编码一致性。</a:t>
              </a:r>
              <a:b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65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报告效应量及区间，不只报告 p 值。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6030" y="4737100"/>
              <a:ext cx="50596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用不同资料核对解释过程，而非只寻找正向结果。</a:t>
              </a:r>
            </a:p>
          </p:txBody>
        </p:sp>
      </p:grpSp>
      <p:grpSp>
        <p:nvGrpSpPr>
          <p:cNvPr id="15" name="proposal-boundary"/>
          <p:cNvGrpSpPr/>
          <p:nvPr/>
        </p:nvGrpSpPr>
        <p:grpSpPr>
          <a:xfrm>
            <a:off x="521208" y="5527675"/>
            <a:ext cx="7491222" cy="760095"/>
            <a:chOff x="521208" y="5527675"/>
            <a:chExt cx="7491222" cy="760095"/>
          </a:xfrm>
        </p:grpSpPr>
        <p:sp>
          <p:nvSpPr>
            <p:cNvPr id="13" name="TextBox 13"/>
            <p:cNvSpPr txBox="1"/>
            <p:nvPr/>
          </p:nvSpPr>
          <p:spPr>
            <a:xfrm>
              <a:off x="521208" y="5527675"/>
              <a:ext cx="8026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本页是研究提案，不是已完成研究或已获得数据。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780" y="5994400"/>
              <a:ext cx="8431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不预设或虚构样本量、显著性和效果数字；研究问题来自四篇证据缺口的综合评述。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419850"/>
              <a:ext cx="4609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汇报者建议；依据[1]–[4]的样本、测量、归因与泛化限制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22 / 24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6524255" cy="920877"/>
            <a:chOff x="517398" y="438150"/>
            <a:chExt cx="6524255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2172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总结 · 三项应带走的判断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81393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从“会判断”走向“能解释、能迁移”</a:t>
              </a:r>
            </a:p>
          </p:txBody>
        </p:sp>
      </p:grpSp>
      <p:grpSp>
        <p:nvGrpSpPr>
          <p:cNvPr id="7" name="conceptual-conclusion"/>
          <p:cNvGrpSpPr/>
          <p:nvPr/>
        </p:nvGrpSpPr>
        <p:grpSpPr>
          <a:xfrm>
            <a:off x="521208" y="1908175"/>
            <a:ext cx="7655814" cy="915543"/>
            <a:chOff x="521208" y="1908175"/>
            <a:chExt cx="7655814" cy="915543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1908175"/>
              <a:ext cx="62932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01　概念困难，不等于单一稳定迷思。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2732" y="2413000"/>
              <a:ext cx="86113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要观察资源怎样被情境激活，帮助学生组织而非仅替换答案。</a:t>
              </a:r>
            </a:p>
          </p:txBody>
        </p:sp>
      </p:grpSp>
      <p:grpSp>
        <p:nvGrpSpPr>
          <p:cNvPr id="10" name="evidence-conclusion"/>
          <p:cNvGrpSpPr/>
          <p:nvPr/>
        </p:nvGrpSpPr>
        <p:grpSpPr>
          <a:xfrm>
            <a:off x="521208" y="3222625"/>
            <a:ext cx="8786622" cy="915543"/>
            <a:chOff x="521208" y="3222625"/>
            <a:chExt cx="8786622" cy="915543"/>
          </a:xfrm>
        </p:grpSpPr>
        <p:sp>
          <p:nvSpPr>
            <p:cNvPr id="8" name="TextBox 8"/>
            <p:cNvSpPr txBox="1"/>
            <p:nvPr/>
          </p:nvSpPr>
          <p:spPr>
            <a:xfrm>
              <a:off x="521208" y="3222625"/>
              <a:ext cx="62932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02　设计合理，不等于效果已经验证。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2732" y="3727450"/>
              <a:ext cx="9870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区分设计论证、物理验证、课堂观察和学习结果，按证据范围下结论。</a:t>
              </a:r>
            </a:p>
          </p:txBody>
        </p:sp>
      </p:grpSp>
      <p:grpSp>
        <p:nvGrpSpPr>
          <p:cNvPr id="13" name="transfer-conclusion"/>
          <p:cNvGrpSpPr/>
          <p:nvPr/>
        </p:nvGrpSpPr>
        <p:grpSpPr>
          <a:xfrm>
            <a:off x="521208" y="4537075"/>
            <a:ext cx="9069324" cy="915543"/>
            <a:chOff x="521208" y="4537075"/>
            <a:chExt cx="9069324" cy="915543"/>
          </a:xfrm>
        </p:grpSpPr>
        <p:sp>
          <p:nvSpPr>
            <p:cNvPr id="11" name="TextBox 11"/>
            <p:cNvSpPr txBox="1"/>
            <p:nvPr/>
          </p:nvSpPr>
          <p:spPr>
            <a:xfrm>
              <a:off x="521208" y="4537075"/>
              <a:ext cx="8091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03　模型一致性与迁移，应进入教学和研究评价。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732" y="5041900"/>
              <a:ext cx="101848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四篇文献互补而非互相替代：实验、推理与证据要组成可检验的教学链。</a:t>
              </a:r>
            </a:p>
          </p:txBody>
        </p:sp>
      </p:grpSp>
      <p:grpSp>
        <p:nvGrpSpPr>
          <p:cNvPr id="16" name="closing-message"/>
          <p:cNvGrpSpPr/>
          <p:nvPr/>
        </p:nvGrpSpPr>
        <p:grpSpPr>
          <a:xfrm>
            <a:off x="533400" y="5781675"/>
            <a:ext cx="11125200" cy="447675"/>
            <a:chOff x="533400" y="5781675"/>
            <a:chExt cx="11125200" cy="447675"/>
          </a:xfrm>
        </p:grpSpPr>
        <p:sp>
          <p:nvSpPr>
            <p:cNvPr id="14" name="Rectangle 14"/>
            <p:cNvSpPr/>
            <p:nvPr/>
          </p:nvSpPr>
          <p:spPr>
            <a:xfrm>
              <a:off x="533400" y="5781675"/>
              <a:ext cx="11125200" cy="4476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3618" y="5883275"/>
              <a:ext cx="62960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教学创新的价值，要在机制解释与迁移证据中接受检验。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6419850"/>
              <a:ext cx="5328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综合判断为汇报者据[1]–[4]整理；保留研究贡献，也保留推论边界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23 / 24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7398" y="438150"/>
            <a:ext cx="5544693" cy="920877"/>
            <a:chOff x="517398" y="438150"/>
            <a:chExt cx="5544693" cy="92087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38150"/>
              <a:ext cx="2712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Noto Sans CJK SC"/>
                  <a:ea typeface="Noto Sans CJK SC"/>
                  <a:cs typeface="Noto Sans CJK SC"/>
                </a:rPr>
                <a:t>参考文献 · 全文核对、规范著录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42950"/>
              <a:ext cx="62510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Noto Sans CJK SC"/>
                  <a:ea typeface="Noto Sans CJK SC"/>
                  <a:cs typeface="Noto Sans CJK SC"/>
                </a:rPr>
                <a:t>本次汇报实际精读的四篇文献</a:t>
              </a:r>
            </a:p>
          </p:txBody>
        </p:sp>
      </p:grpSp>
      <p:grpSp>
        <p:nvGrpSpPr>
          <p:cNvPr id="6" name="reference-1"/>
          <p:cNvGrpSpPr/>
          <p:nvPr/>
        </p:nvGrpSpPr>
        <p:grpSpPr>
          <a:xfrm>
            <a:off x="525780" y="1555750"/>
            <a:ext cx="5511165" cy="617220"/>
            <a:chOff x="525780" y="1555750"/>
            <a:chExt cx="5511165" cy="617220"/>
          </a:xfrm>
        </p:grpSpPr>
        <p:sp>
          <p:nvSpPr>
            <p:cNvPr id="5" name="TextBox 5"/>
            <p:cNvSpPr txBox="1"/>
            <p:nvPr/>
          </p:nvSpPr>
          <p:spPr>
            <a:xfrm>
              <a:off x="525780" y="1555750"/>
              <a:ext cx="6663767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[1] 孙可, 陈刚. 基于“来拒去留”实验的楞次定律有效教学探析——</a:t>
              </a:r>
              <a:br>
                <a:rPr lang="zh-CN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学习心理学视角[J]. 物理教学, 2023, 45(4):20–24.</a:t>
              </a:r>
            </a:p>
          </p:txBody>
        </p:sp>
      </p:grpSp>
      <p:grpSp>
        <p:nvGrpSpPr>
          <p:cNvPr id="8" name="reference-2"/>
          <p:cNvGrpSpPr/>
          <p:nvPr/>
        </p:nvGrpSpPr>
        <p:grpSpPr>
          <a:xfrm>
            <a:off x="525780" y="2527300"/>
            <a:ext cx="6539865" cy="617220"/>
            <a:chOff x="525780" y="2527300"/>
            <a:chExt cx="6539865" cy="6172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2527300"/>
              <a:ext cx="7753823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[2] 罗成, 朱行建, 文金宝. 基于孟克-奥斯本“融合模式”的教学设计与实践——</a:t>
              </a:r>
              <a:br>
                <a:rPr lang="zh-CN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zh-CN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以“电磁感应现象及应用”教学设计为例[J]. 物理教学, 2023, 45(4):25–28.</a:t>
              </a:r>
            </a:p>
          </p:txBody>
        </p:sp>
      </p:grpSp>
      <p:grpSp>
        <p:nvGrpSpPr>
          <p:cNvPr id="10" name="reference-3"/>
          <p:cNvGrpSpPr/>
          <p:nvPr/>
        </p:nvGrpSpPr>
        <p:grpSpPr>
          <a:xfrm>
            <a:off x="525780" y="3460750"/>
            <a:ext cx="8663940" cy="1264920"/>
            <a:chOff x="525780" y="3460750"/>
            <a:chExt cx="8663940" cy="126492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3460750"/>
              <a:ext cx="9913563" cy="1264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[3] ZUZA K, ALMUDÍ J-M, LENIZ A, GUISASOLA J.</a:t>
              </a:r>
              <a:b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Addressing students’ difficulties with Faraday’s law: A guided problem solving approach[J].</a:t>
              </a:r>
              <a:b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Physical Review Special Topics - Physics Education Research, 2014, 10(1):010122.</a:t>
              </a:r>
              <a:b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DOI:10.1103/PhysRevSTPER.10.010122.</a:t>
              </a:r>
            </a:p>
          </p:txBody>
        </p:sp>
      </p:grpSp>
      <p:grpSp>
        <p:nvGrpSpPr>
          <p:cNvPr id="12" name="reference-4"/>
          <p:cNvGrpSpPr/>
          <p:nvPr/>
        </p:nvGrpSpPr>
        <p:grpSpPr>
          <a:xfrm>
            <a:off x="525780" y="4984750"/>
            <a:ext cx="7359015" cy="1264920"/>
            <a:chOff x="525780" y="4984750"/>
            <a:chExt cx="7359015" cy="1264920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4984750"/>
              <a:ext cx="8474556" cy="1264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[4] JELICIC K, PLANINIC M, PLANINSIC G.</a:t>
              </a:r>
              <a:b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Analyzing high school students’ reasoning about electromagnetic induction[J].</a:t>
              </a:r>
              <a:b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Physical Review Physics Education Research, 2017, 13(1):010112.</a:t>
              </a:r>
              <a:b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</a:br>
              <a:r>
                <a:rPr lang="en-US" sz="1500" dirty="0">
                  <a:solidFill>
                    <a:schemeClr val="dk1"/>
                  </a:solidFill>
                  <a:latin typeface="Noto Sans CJK SC"/>
                  <a:ea typeface="Noto Sans CJK SC"/>
                  <a:cs typeface="Noto Sans CJK SC"/>
                </a:rPr>
                <a:t>DOI:10.1103/PhysRevPhysEducRes.13.010112.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27304" y="6419850"/>
            <a:ext cx="11137392" cy="234696"/>
            <a:chOff x="527304" y="6419850"/>
            <a:chExt cx="111373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6419850"/>
              <a:ext cx="4380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引用编号与正文统一；原文未提供的DOI等信息不补造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1332" y="64198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Noto Sans CJK SC"/>
                  <a:ea typeface="Noto Sans CJK SC"/>
                  <a:cs typeface="Noto Sans CJK SC"/>
                </a:rPr>
                <a:t>24 / 24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hysics_literature_review">
  <a:themeElements>
    <a:clrScheme name="physics_literature_review">
      <a:dk1>
        <a:srgbClr val="243746"/>
      </a:dk1>
      <a:lt1>
        <a:srgbClr val="FFFFFF"/>
      </a:lt1>
      <a:dk2>
        <a:srgbClr val="1F497D"/>
      </a:dk2>
      <a:lt2>
        <a:srgbClr val="EDF2F6"/>
      </a:lt2>
      <a:accent1>
        <a:srgbClr val="123552"/>
      </a:accent1>
      <a:accent2>
        <a:srgbClr val="076F87"/>
      </a:accent2>
      <a:accent3>
        <a:srgbClr val="7998AE"/>
      </a:accent3>
      <a:accent4>
        <a:srgbClr val="123552"/>
      </a:accent4>
      <a:accent5>
        <a:srgbClr val="526577"/>
      </a:accent5>
      <a:accent6>
        <a:srgbClr val="CFD9E2"/>
      </a:accent6>
      <a:hlink>
        <a:srgbClr val="076F87"/>
      </a:hlink>
      <a:folHlink>
        <a:srgbClr val="7998AE"/>
      </a:folHlink>
    </a:clrScheme>
    <a:fontScheme name="physics_literature_review">
      <a:maj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ics_literature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hysics_literature_review">
  <a:themeElements>
    <a:clrScheme name="physics_literature_review">
      <a:dk1>
        <a:srgbClr val="243746"/>
      </a:dk1>
      <a:lt1>
        <a:srgbClr val="FFFFFF"/>
      </a:lt1>
      <a:dk2>
        <a:srgbClr val="1F497D"/>
      </a:dk2>
      <a:lt2>
        <a:srgbClr val="EDF2F6"/>
      </a:lt2>
      <a:accent1>
        <a:srgbClr val="123552"/>
      </a:accent1>
      <a:accent2>
        <a:srgbClr val="076F87"/>
      </a:accent2>
      <a:accent3>
        <a:srgbClr val="7998AE"/>
      </a:accent3>
      <a:accent4>
        <a:srgbClr val="123552"/>
      </a:accent4>
      <a:accent5>
        <a:srgbClr val="526577"/>
      </a:accent5>
      <a:accent6>
        <a:srgbClr val="CFD9E2"/>
      </a:accent6>
      <a:hlink>
        <a:srgbClr val="076F87"/>
      </a:hlink>
      <a:folHlink>
        <a:srgbClr val="7998AE"/>
      </a:folHlink>
    </a:clrScheme>
    <a:fontScheme name="physics_literature_review">
      <a:maj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Noto Sans CJK SC"/>
        <a:font script="Jpan" typeface="Noto Sans CJK SC"/>
        <a:font script="Hang" typeface="Noto Sans CJK SC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ics_literature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2026-10-13T10:59:58Z</dcterms:created>
  <dcterms:modified xsi:type="dcterms:W3CDTF">2026-10-13T10:59:58Z</dcterms:modified>
  <cp:category/>
  <cp:contentStatus/>
</cp:coreProperties>
</file>
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用一个简单实验认识电磁感应。大家已经学过磁场，现在请看右侧的示意：条形磁铁的北极正在靠近闭合导电线圈。先想一想，线圈里为什么会产生电流？这节课的关键词是变化。磁铁靠近时，穿过线圈的磁通量发生变化，这才是理解感应现象的起点；仅仅说线圈附近有磁场，还不足以解释电流为什么出现。</a:t>
            </a:r>
          </a:p>
          <a:p>
            <a:pPr/>
            <a:endParaRPr lang="zh-CN" dirty="0"/>
          </a:p>
          <a:p>
            <a:pPr/>
            <a:r>
              <a:rPr lang="zh-CN" dirty="0"/>
              <a:t>我们把需要掌握的内容整理成三个问题：什么时候产生感应，感应电动势有多大，感应电流沿哪个方向。右侧磁铁和线圈只是实验关系的示意，不用于读取距离、磁场大小或线圈匝数。下面按照条件、大小、方向的顺序学习，再回到同一实验进行判断。本课的基础知识依据是开放教材 OpenStax 对感应电动势、磁通量及相关定律的说明。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磁通量。在匀强磁场中，穿过平面面积的磁通量等于磁感应强度乘以面积，再乘以夹角的余弦。这里的夹角是磁场方向与平面法线的夹角，不是磁场与平面本身的夹角。磁通量的单位是韦伯。改变磁场、面积或方向，都可能使磁通量发生变化，所以不能把电磁感应只理解为磁铁运动这一种情境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看产生条件。穿过回路的磁通量发生变化时，会产生感应电动势。若还希望出现回路中的感应电流，就需要导电回路闭合。请特别区分这两层条件：没有闭合电流路径，也可以存在感应电动势；回路闭合本身并不够，还要有引起感应的磁通量变化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看大小。法拉第电磁感应定律告诉我们，平均感应电动势的大小等于匝数乘以磁通量变化量的绝对值，再除以所用时间。页面上的公式适用于各匝磁通量相同的线圈，得到的是这一时间段的平均值。应关注磁通量的变化率，而不只是变化量：相同变化量若用时更短，变化率就更大，感应电动势也就更大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看方向。楞次定律说，感应电流产生的磁场阻碍引起感应的磁通量变化。原磁通量增大时，感应磁场抵抗增大；原磁通量减小时，感应磁场抵抗减小。不要把“阻碍变化”误记成“总与原磁场反向”。大小判断和方向判断承担不同任务：前者用变化率，后者用楞次定律。这里的条件、大小、方向是本课为了帮助理解所作的教学整理；定律与公式依据 OpenStax 大学物理第二卷的法拉第定律和楞次定律章节。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刚才的规律变成判断方法。第一步，确定原磁场方向；第二步，判断穿过线圈的磁通量是在增大还是减小；第三步，用楞次定律确定感应磁场的方向；第四步，再用右手螺旋定则把感应磁场方向转化为电流方向。不能跳过中间两步，只凭磁铁在运动就猜电流方向。</a:t>
            </a:r>
          </a:p>
          <a:p>
            <a:pPr/>
            <a:endParaRPr lang="zh-CN" dirty="0"/>
          </a:p>
          <a:p>
            <a:pPr/>
            <a:r>
              <a:rPr lang="zh-CN" dirty="0"/>
              <a:t>现在做自测：磁铁的北极靠近闭合线圈，从磁铁一侧观察，感应电流的方向如何？先让学生沿四步方法独立思考，再查看页面的核对答案。因为靠近使原磁通量增大，线圈的感应磁场要阻碍这种增大，所以线圈靠近磁铁的一端相当于北极，阻碍磁铁靠近。用右手螺旋定则判断，从指定的磁铁一侧看，电流为逆时针。右侧圆圈和箭头就是这个观察侧的方向示意，中心的北极标记表示线圈近端的等效磁极，而不是另放了一块磁铁。换到另一侧观察时，视觉上的顺逆时针会互换，因此解题必须交代观察方向。</a:t>
            </a:r>
          </a:p>
          <a:p>
            <a:pPr/>
            <a:endParaRPr lang="zh-CN" dirty="0"/>
          </a:p>
          <a:p>
            <a:pPr/>
            <a:r>
              <a:rPr lang="zh-CN" dirty="0"/>
              <a:t>最后记住一句话：判大小看变化率，判方向用楞次定律。能够说清磁通量怎样变化、感应磁场怎样阻碍变化，再判断电流方向，才算掌握了这个实验。本页的判断依据仍是 OpenStax 的楞次定律说明。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lectromagnetic_induc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lectromagnetic_induc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title"/>
          <p:cNvGrpSpPr/>
          <p:nvPr/>
        </p:nvGrpSpPr>
        <p:grpSpPr>
          <a:xfrm>
            <a:off x="514350" y="1203325"/>
            <a:ext cx="3592068" cy="1882775"/>
            <a:chOff x="514350" y="1203325"/>
            <a:chExt cx="3592068" cy="1882775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1203325"/>
              <a:ext cx="2491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高中物理 · 概念与实验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4350" y="1809750"/>
              <a:ext cx="35920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电磁感应</a:t>
              </a:r>
            </a:p>
          </p:txBody>
        </p:sp>
      </p:grpSp>
      <p:grpSp>
        <p:nvGrpSpPr>
          <p:cNvPr id="6" name="opening-question"/>
          <p:cNvGrpSpPr/>
          <p:nvPr/>
        </p:nvGrpSpPr>
        <p:grpSpPr>
          <a:xfrm>
            <a:off x="521208" y="3308350"/>
            <a:ext cx="2767584" cy="907542"/>
            <a:chOff x="521208" y="3308350"/>
            <a:chExt cx="2767584" cy="907542"/>
          </a:xfrm>
        </p:grpSpPr>
        <p:sp>
          <p:nvSpPr>
            <p:cNvPr id="5" name="TextBox 5"/>
            <p:cNvSpPr txBox="1"/>
            <p:nvPr/>
          </p:nvSpPr>
          <p:spPr>
            <a:xfrm>
              <a:off x="521208" y="3308350"/>
              <a:ext cx="2767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磁铁靠近线圈，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为什么会产生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电流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？</a:t>
              </a:r>
            </a:p>
          </p:txBody>
        </p:sp>
      </p:grpSp>
      <p:grpSp>
        <p:nvGrpSpPr>
          <p:cNvPr id="10" name="learning-route"/>
          <p:cNvGrpSpPr/>
          <p:nvPr/>
        </p:nvGrpSpPr>
        <p:grpSpPr>
          <a:xfrm>
            <a:off x="524256" y="4895850"/>
            <a:ext cx="4885944" cy="926719"/>
            <a:chOff x="524256" y="4895850"/>
            <a:chExt cx="4885944" cy="926719"/>
          </a:xfrm>
        </p:grpSpPr>
        <p:sp>
          <p:nvSpPr>
            <p:cNvPr id="7" name="Line 7"/>
            <p:cNvSpPr/>
            <p:nvPr/>
          </p:nvSpPr>
          <p:spPr>
            <a:xfrm>
              <a:off x="533400" y="48958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4256" y="5118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从磁通量的变化理解感应现象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54705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　／　大小　／　方向</a:t>
              </a:r>
            </a:p>
          </p:txBody>
        </p:sp>
      </p:grpSp>
      <p:grpSp>
        <p:nvGrpSpPr>
          <p:cNvPr id="26" name="magnet-coil-experiment"/>
          <p:cNvGrpSpPr/>
          <p:nvPr/>
        </p:nvGrpSpPr>
        <p:grpSpPr>
          <a:xfrm>
            <a:off x="6477000" y="1066800"/>
            <a:ext cx="5181600" cy="4705350"/>
            <a:chOff x="6477000" y="1066800"/>
            <a:chExt cx="5181600" cy="4705350"/>
          </a:xfrm>
        </p:grpSpPr>
        <p:sp>
          <p:nvSpPr>
            <p:cNvPr id="11" name="Rectangle 11"/>
            <p:cNvSpPr/>
            <p:nvPr/>
          </p:nvSpPr>
          <p:spPr>
            <a:xfrm>
              <a:off x="6477000" y="1066800"/>
              <a:ext cx="5181600" cy="470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72656" y="127952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实验情境 · 示意</a:t>
              </a:r>
            </a:p>
          </p:txBody>
        </p:sp>
        <p:grpSp>
          <p:nvGrpSpPr>
            <p:cNvPr id="17" name="bar-magnet"/>
            <p:cNvGrpSpPr/>
            <p:nvPr/>
          </p:nvGrpSpPr>
          <p:grpSpPr>
            <a:xfrm>
              <a:off x="6896100" y="3124200"/>
              <a:ext cx="1676400" cy="685800"/>
              <a:chOff x="6896100" y="3124200"/>
              <a:chExt cx="1676400" cy="6858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96100" y="3124200"/>
                <a:ext cx="838200" cy="68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734300" y="3124200"/>
                <a:ext cx="838200" cy="68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190590" y="3260725"/>
                <a:ext cx="24922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28790" y="3260725"/>
                <a:ext cx="24922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</a:t>
                </a:r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8801100" y="3324225"/>
              <a:ext cx="1047750" cy="2857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73515" y="27749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靠近</a:t>
              </a:r>
            </a:p>
          </p:txBody>
        </p:sp>
        <p:grpSp>
          <p:nvGrpSpPr>
            <p:cNvPr id="23" name="closed-coil"/>
            <p:cNvGrpSpPr/>
            <p:nvPr/>
          </p:nvGrpSpPr>
          <p:grpSpPr>
            <a:xfrm>
              <a:off x="9963150" y="2628900"/>
              <a:ext cx="1028700" cy="1676400"/>
              <a:chOff x="9963150" y="2628900"/>
              <a:chExt cx="1028700" cy="16764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963150" y="2628900"/>
                <a:ext cx="571500" cy="16764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10191750" y="2628900"/>
                <a:ext cx="571500" cy="16764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10420350" y="2628900"/>
                <a:ext cx="571500" cy="16764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741408" y="45466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闭合导电线圈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8084" y="504190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关键：磁通量在变化</a:t>
              </a:r>
            </a:p>
          </p:txBody>
        </p:sp>
      </p:grpSp>
      <p:grpSp>
        <p:nvGrpSpPr>
          <p:cNvPr id="29" name="page-footer"/>
          <p:cNvGrpSpPr/>
          <p:nvPr/>
        </p:nvGrpSpPr>
        <p:grpSpPr>
          <a:xfrm>
            <a:off x="526542" y="6369050"/>
            <a:ext cx="11138916" cy="264033"/>
            <a:chOff x="526542" y="6369050"/>
            <a:chExt cx="111389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369050"/>
              <a:ext cx="3180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知识依据：OpenStax · openstax.org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2923" y="6369050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5112" y="336550"/>
            <a:ext cx="6211062" cy="1118616"/>
            <a:chOff x="515112" y="336550"/>
            <a:chExt cx="6211062" cy="1118616"/>
          </a:xfrm>
        </p:grpSpPr>
        <p:sp>
          <p:nvSpPr>
            <p:cNvPr id="2" name="TextBox 2"/>
            <p:cNvSpPr txBox="1"/>
            <p:nvPr/>
          </p:nvSpPr>
          <p:spPr>
            <a:xfrm>
              <a:off x="515112" y="33655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条件、大小与方向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9684" y="927100"/>
              <a:ext cx="62064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关键是</a:t>
              </a:r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磁通量变化</a:t>
              </a:r>
              <a:r>
                <a:rPr lang="zh-CN" sz="27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，不是单纯有磁场。</a:t>
              </a:r>
            </a:p>
          </p:txBody>
        </p:sp>
      </p:grpSp>
      <p:grpSp>
        <p:nvGrpSpPr>
          <p:cNvPr id="10" name="magnetic-flux-premise"/>
          <p:cNvGrpSpPr/>
          <p:nvPr/>
        </p:nvGrpSpPr>
        <p:grpSpPr>
          <a:xfrm>
            <a:off x="533400" y="1562100"/>
            <a:ext cx="11125200" cy="1066800"/>
            <a:chOff x="533400" y="1562100"/>
            <a:chExt cx="11125200" cy="1066800"/>
          </a:xfrm>
        </p:grpSpPr>
        <p:sp>
          <p:nvSpPr>
            <p:cNvPr id="5" name="Rectangle 5"/>
            <p:cNvSpPr/>
            <p:nvPr/>
          </p:nvSpPr>
          <p:spPr>
            <a:xfrm>
              <a:off x="533400" y="1562100"/>
              <a:ext cx="111252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856" y="16795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先认识磁通量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2003425"/>
              <a:ext cx="23324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Φ = BS cosθ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74058" y="1708150"/>
              <a:ext cx="47877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B、S或方向变化，都可能改变Φ。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7106" y="2193925"/>
              <a:ext cx="61235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匀强磁场、平面面积；θ为磁场与平面法线夹角；单位 Wb</a:t>
              </a:r>
            </a:p>
          </p:txBody>
        </p:sp>
      </p:grpSp>
      <p:grpSp>
        <p:nvGrpSpPr>
          <p:cNvPr id="20" name="induction-conditions"/>
          <p:cNvGrpSpPr/>
          <p:nvPr/>
        </p:nvGrpSpPr>
        <p:grpSpPr>
          <a:xfrm>
            <a:off x="519684" y="3003550"/>
            <a:ext cx="3518916" cy="3095244"/>
            <a:chOff x="519684" y="3003550"/>
            <a:chExt cx="3518916" cy="3095244"/>
          </a:xfrm>
        </p:grpSpPr>
        <p:sp>
          <p:nvSpPr>
            <p:cNvPr id="11" name="TextBox 11"/>
            <p:cNvSpPr txBox="1"/>
            <p:nvPr/>
          </p:nvSpPr>
          <p:spPr>
            <a:xfrm>
              <a:off x="519684" y="3003550"/>
              <a:ext cx="15376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条件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33400" y="3524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7908" y="3594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磁通量变化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905250"/>
              <a:ext cx="1" cy="276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908" y="40322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产生感应电动势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908" y="46418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还需回路闭合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953000"/>
              <a:ext cx="1" cy="276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7908" y="50800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才有回路感应电流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4256" y="57467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电动势存在不要求回路闭合</a:t>
              </a:r>
            </a:p>
          </p:txBody>
        </p:sp>
      </p:grpSp>
      <p:grpSp>
        <p:nvGrpSpPr>
          <p:cNvPr id="27" name="faraday-magnitude"/>
          <p:cNvGrpSpPr/>
          <p:nvPr/>
        </p:nvGrpSpPr>
        <p:grpSpPr>
          <a:xfrm>
            <a:off x="4329684" y="3003550"/>
            <a:ext cx="3518916" cy="3279267"/>
            <a:chOff x="4329684" y="3003550"/>
            <a:chExt cx="3518916" cy="3279267"/>
          </a:xfrm>
        </p:grpSpPr>
        <p:sp>
          <p:nvSpPr>
            <p:cNvPr id="21" name="TextBox 21"/>
            <p:cNvSpPr txBox="1"/>
            <p:nvPr/>
          </p:nvSpPr>
          <p:spPr>
            <a:xfrm>
              <a:off x="4329684" y="3003550"/>
              <a:ext cx="15376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大小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343400" y="3524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31208" y="3594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法拉第定律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araday-formula"/>
                <p:cNvSpPr txBox="1">
                  <a:spLocks noGrp="1"/>
                </p:cNvSpPr>
                <p:nvPr/>
              </p:nvSpPr>
              <p:spPr>
                <a:xfrm>
                  <a:off x="4343400" y="4095750"/>
                  <a:ext cx="3505200" cy="857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3000" dirty="0">
                            <a:solidFill>
                              <a:srgbClr val="143A5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3000" dirty="0">
                            <a:solidFill>
                              <a:srgbClr val="143A5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3000" dirty="0">
                            <a:solidFill>
                              <a:srgbClr val="143A56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>
                          <m:fPr>
                            <m:type m:val="bar"/>
                            <m:ctrlPr>
                              <a:rPr lang="zh-CN" sz="3000" dirty="0">
                                <a:solidFill>
                                  <a:srgbClr val="143A56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3000" dirty="0">
                                    <a:solidFill>
                                      <a:srgbClr val="143A56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3000" dirty="0">
                                    <a:solidFill>
                                      <a:srgbClr val="143A56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ΔΦ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3000" dirty="0">
                                <a:solidFill>
                                  <a:srgbClr val="143A56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3000" dirty="0">
                                <a:solidFill>
                                  <a:srgbClr val="143A56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4334256" y="5022850"/>
              <a:ext cx="3301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平均值；n匝的每匝磁通量相同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31208" y="5375275"/>
              <a:ext cx="18531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变化率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越大，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电动势越大。</a:t>
              </a:r>
            </a:p>
          </p:txBody>
        </p:sp>
      </p:grpSp>
      <p:grpSp>
        <p:nvGrpSpPr>
          <p:cNvPr id="34" name="lenz-direction"/>
          <p:cNvGrpSpPr/>
          <p:nvPr/>
        </p:nvGrpSpPr>
        <p:grpSpPr>
          <a:xfrm>
            <a:off x="8139684" y="3003550"/>
            <a:ext cx="3518916" cy="3276219"/>
            <a:chOff x="8139684" y="3003550"/>
            <a:chExt cx="3518916" cy="3276219"/>
          </a:xfrm>
        </p:grpSpPr>
        <p:sp>
          <p:nvSpPr>
            <p:cNvPr id="28" name="TextBox 28"/>
            <p:cNvSpPr txBox="1"/>
            <p:nvPr/>
          </p:nvSpPr>
          <p:spPr>
            <a:xfrm>
              <a:off x="8139684" y="3003550"/>
              <a:ext cx="15376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方向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153400" y="3524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41208" y="35941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楞次定律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1208" y="4089400"/>
              <a:ext cx="24627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感应电流的磁场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阻碍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磁通量变化。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4256" y="5051425"/>
              <a:ext cx="20756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增大时，阻碍增大；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减小时，阻碍减小。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4256" y="59277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阻碍的是变化，不是磁场本身。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26542" y="6369050"/>
            <a:ext cx="11138916" cy="264033"/>
            <a:chOff x="526542" y="6369050"/>
            <a:chExt cx="11138916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526542" y="6369050"/>
              <a:ext cx="6568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知识依据：OpenStax · College Physics 23.1 / University Physics 13.1–13.2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42923" y="6369050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5112" y="336550"/>
            <a:ext cx="5517764" cy="1056894"/>
            <a:chOff x="515112" y="336550"/>
            <a:chExt cx="5517764" cy="1056894"/>
          </a:xfrm>
        </p:grpSpPr>
        <p:sp>
          <p:nvSpPr>
            <p:cNvPr id="2" name="TextBox 2"/>
            <p:cNvSpPr txBox="1"/>
            <p:nvPr/>
          </p:nvSpPr>
          <p:spPr>
            <a:xfrm>
              <a:off x="515112" y="336550"/>
              <a:ext cx="55177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抓住“变化”，判断“阻碍”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4256" y="10414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把规律变成可复用的判断方法</a:t>
              </a:r>
            </a:p>
          </p:txBody>
        </p:sp>
      </p:grpSp>
      <p:grpSp>
        <p:nvGrpSpPr>
          <p:cNvPr id="21" name="direction-judgment-sequence"/>
          <p:cNvGrpSpPr/>
          <p:nvPr/>
        </p:nvGrpSpPr>
        <p:grpSpPr>
          <a:xfrm>
            <a:off x="521208" y="1717675"/>
            <a:ext cx="10238232" cy="1085469"/>
            <a:chOff x="521208" y="1717675"/>
            <a:chExt cx="10238232" cy="1085469"/>
          </a:xfrm>
        </p:grpSpPr>
        <p:grpSp>
          <p:nvGrpSpPr>
            <p:cNvPr id="7" name="step-original-field"/>
            <p:cNvGrpSpPr/>
            <p:nvPr/>
          </p:nvGrpSpPr>
          <p:grpSpPr>
            <a:xfrm>
              <a:off x="521208" y="1717675"/>
              <a:ext cx="1639824" cy="831342"/>
              <a:chOff x="521208" y="1717675"/>
              <a:chExt cx="1639824" cy="831342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24256" y="17176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第一步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21208" y="207962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原磁场方向</a:t>
                </a: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3095625" y="2124075"/>
              <a:ext cx="342900" cy="2095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1" name="step-flux-change"/>
            <p:cNvGrpSpPr/>
            <p:nvPr/>
          </p:nvGrpSpPr>
          <p:grpSpPr>
            <a:xfrm>
              <a:off x="3569208" y="1717675"/>
              <a:ext cx="1639824" cy="831342"/>
              <a:chOff x="3569208" y="1717675"/>
              <a:chExt cx="1639824" cy="83134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3572256" y="17176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第二步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569208" y="207962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磁通量增减</a:t>
                </a: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5953125" y="2124075"/>
              <a:ext cx="342900" cy="2095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5" name="step-induced-field"/>
            <p:cNvGrpSpPr/>
            <p:nvPr/>
          </p:nvGrpSpPr>
          <p:grpSpPr>
            <a:xfrm>
              <a:off x="6426708" y="1717675"/>
              <a:ext cx="1316736" cy="831342"/>
              <a:chOff x="6426708" y="1717675"/>
              <a:chExt cx="1316736" cy="83134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429756" y="17176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第三步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26708" y="2079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感应磁场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8810625" y="2124075"/>
              <a:ext cx="342900" cy="2095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0" name="step-current-direction"/>
            <p:cNvGrpSpPr/>
            <p:nvPr/>
          </p:nvGrpSpPr>
          <p:grpSpPr>
            <a:xfrm>
              <a:off x="9284208" y="1717675"/>
              <a:ext cx="1475232" cy="1085469"/>
              <a:chOff x="9284208" y="1717675"/>
              <a:chExt cx="1475232" cy="108546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287256" y="171767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第四步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284208" y="2079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电流方向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287256" y="245110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右手螺旋定则</a:t>
                </a:r>
              </a:p>
            </p:txBody>
          </p:sp>
        </p:grpSp>
      </p:grpSp>
      <p:grpSp>
        <p:nvGrpSpPr>
          <p:cNvPr id="26" name="classroom-self-test"/>
          <p:cNvGrpSpPr/>
          <p:nvPr/>
        </p:nvGrpSpPr>
        <p:grpSpPr>
          <a:xfrm>
            <a:off x="521208" y="3127375"/>
            <a:ext cx="4596384" cy="2266569"/>
            <a:chOff x="521208" y="3127375"/>
            <a:chExt cx="4596384" cy="2266569"/>
          </a:xfrm>
        </p:grpSpPr>
        <p:sp>
          <p:nvSpPr>
            <p:cNvPr id="22" name="TextBox 22"/>
            <p:cNvSpPr txBox="1"/>
            <p:nvPr/>
          </p:nvSpPr>
          <p:spPr>
            <a:xfrm>
              <a:off x="524256" y="3127375"/>
              <a:ext cx="2491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自测 · 先判断，再核对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208" y="3470275"/>
              <a:ext cx="45963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磁铁N极靠近闭合线圈，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磁铁一侧</a:t>
              </a: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观察，电流方向如何？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208" y="45847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核对答案：逆时针。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256" y="5041900"/>
              <a:ext cx="4036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线圈近端相当于N极，阻碍磁铁靠近。</a:t>
              </a:r>
            </a:p>
          </p:txBody>
        </p:sp>
      </p:grpSp>
      <p:grpSp>
        <p:nvGrpSpPr>
          <p:cNvPr id="33" name="current-view-diagram"/>
          <p:cNvGrpSpPr/>
          <p:nvPr/>
        </p:nvGrpSpPr>
        <p:grpSpPr>
          <a:xfrm>
            <a:off x="8248650" y="3076575"/>
            <a:ext cx="3409950" cy="2314575"/>
            <a:chOff x="8248650" y="3076575"/>
            <a:chExt cx="3409950" cy="2314575"/>
          </a:xfrm>
        </p:grpSpPr>
        <p:sp>
          <p:nvSpPr>
            <p:cNvPr id="27" name="Rectangle 27"/>
            <p:cNvSpPr/>
            <p:nvPr/>
          </p:nvSpPr>
          <p:spPr>
            <a:xfrm>
              <a:off x="8248650" y="3076575"/>
              <a:ext cx="3409950" cy="23145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75217" y="31940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从磁铁一侧看线圈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324975" y="3667125"/>
              <a:ext cx="1257300" cy="12573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0" name="Line 30"/>
            <p:cNvSpPr/>
            <p:nvPr/>
          </p:nvSpPr>
          <p:spPr>
            <a:xfrm flipH="1">
              <a:off x="9677400" y="3667125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29015" y="4089400"/>
              <a:ext cx="249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76147" y="5022850"/>
              <a:ext cx="2154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逆时针 · 近端为N极</a:t>
              </a:r>
            </a:p>
          </p:txBody>
        </p:sp>
      </p:grpSp>
      <p:grpSp>
        <p:nvGrpSpPr>
          <p:cNvPr id="36" name="closing-takeaway"/>
          <p:cNvGrpSpPr/>
          <p:nvPr/>
        </p:nvGrpSpPr>
        <p:grpSpPr>
          <a:xfrm>
            <a:off x="519684" y="5686425"/>
            <a:ext cx="11138916" cy="597916"/>
            <a:chOff x="519684" y="5686425"/>
            <a:chExt cx="11138916" cy="597916"/>
          </a:xfrm>
        </p:grpSpPr>
        <p:sp>
          <p:nvSpPr>
            <p:cNvPr id="34" name="Line 34"/>
            <p:cNvSpPr/>
            <p:nvPr/>
          </p:nvSpPr>
          <p:spPr>
            <a:xfrm>
              <a:off x="533400" y="56864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19684" y="5756275"/>
              <a:ext cx="62064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判大小看</a:t>
              </a:r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变化率</a:t>
              </a:r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，判方向用</a:t>
              </a:r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楞次定律</a:t>
              </a:r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26542" y="6369050"/>
            <a:ext cx="11138916" cy="264033"/>
            <a:chOff x="526542" y="6369050"/>
            <a:chExt cx="11138916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526542" y="6369050"/>
              <a:ext cx="4571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知识依据：OpenStax · University Physics 13.1–13.2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42923" y="6369050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lectromagnetic_induction">
  <a:themeElements>
    <a:clrScheme name="electromagnetic_induction">
      <a:dk1>
        <a:srgbClr val="213547"/>
      </a:dk1>
      <a:lt1>
        <a:srgbClr val="FFFFFF"/>
      </a:lt1>
      <a:dk2>
        <a:srgbClr val="1F497D"/>
      </a:dk2>
      <a:lt2>
        <a:srgbClr val="F1F6F8"/>
      </a:lt2>
      <a:accent1>
        <a:srgbClr val="143A56"/>
      </a:accent1>
      <a:accent2>
        <a:srgbClr val="008A83"/>
      </a:accent2>
      <a:accent3>
        <a:srgbClr val="4C7EA0"/>
      </a:accent3>
      <a:accent4>
        <a:srgbClr val="143A56"/>
      </a:accent4>
      <a:accent5>
        <a:srgbClr val="526A7A"/>
      </a:accent5>
      <a:accent6>
        <a:srgbClr val="D9E4EA"/>
      </a:accent6>
      <a:hlink>
        <a:srgbClr val="008A83"/>
      </a:hlink>
      <a:folHlink>
        <a:srgbClr val="4C7EA0"/>
      </a:folHlink>
    </a:clrScheme>
    <a:fontScheme name="electromagnetic_induc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lectromagnetic_indu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lectromagnetic_induction">
  <a:themeElements>
    <a:clrScheme name="electromagnetic_induction">
      <a:dk1>
        <a:srgbClr val="213547"/>
      </a:dk1>
      <a:lt1>
        <a:srgbClr val="FFFFFF"/>
      </a:lt1>
      <a:dk2>
        <a:srgbClr val="1F497D"/>
      </a:dk2>
      <a:lt2>
        <a:srgbClr val="F1F6F8"/>
      </a:lt2>
      <a:accent1>
        <a:srgbClr val="143A56"/>
      </a:accent1>
      <a:accent2>
        <a:srgbClr val="008A83"/>
      </a:accent2>
      <a:accent3>
        <a:srgbClr val="4C7EA0"/>
      </a:accent3>
      <a:accent4>
        <a:srgbClr val="143A56"/>
      </a:accent4>
      <a:accent5>
        <a:srgbClr val="526A7A"/>
      </a:accent5>
      <a:accent6>
        <a:srgbClr val="D9E4EA"/>
      </a:accent6>
      <a:hlink>
        <a:srgbClr val="008A83"/>
      </a:hlink>
      <a:folHlink>
        <a:srgbClr val="4C7EA0"/>
      </a:folHlink>
    </a:clrScheme>
    <a:fontScheme name="electromagnetic_induc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lectromagnetic_indu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2026-10-13T09:47:55Z</dcterms:created>
  <dcterms:modified xsi:type="dcterms:W3CDTF">2026-10-13T09:47:55Z</dcterms:modified>
  <cp:category/>
  <cp:contentStatus/>
</cp:coreProperties>
</file>